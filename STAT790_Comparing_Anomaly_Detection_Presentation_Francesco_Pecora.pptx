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72" r:id="rId10"/>
    <p:sldId id="264" r:id="rId11"/>
    <p:sldId id="273" r:id="rId12"/>
    <p:sldId id="274" r:id="rId13"/>
    <p:sldId id="275" r:id="rId14"/>
    <p:sldId id="276" r:id="rId15"/>
    <p:sldId id="268" r:id="rId16"/>
    <p:sldId id="269" r:id="rId17"/>
    <p:sldId id="277" r:id="rId18"/>
    <p:sldId id="270"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2"/>
    <p:restoredTop sz="97020"/>
  </p:normalViewPr>
  <p:slideViewPr>
    <p:cSldViewPr snapToGrid="0" snapToObjects="1">
      <p:cViewPr varScale="1">
        <p:scale>
          <a:sx n="149" d="100"/>
          <a:sy n="149" d="100"/>
        </p:scale>
        <p:origin x="192"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973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research question: how should a payer rank suspicious Medicare providers when confirmed fraud labels may or may not exist? The presentation follows the final report: first the data and why it is difficult, then the unsupervised cold-start setting, then the supervised setting, then the operational tradeoffs and financial implications. The headline is not that one model is universally best. It is that model choice depends on where the fraud unit is in its lifecycle and on the cost of investigations.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the audience. I will spend the first few minutes on the dataset because the model results only make sense after understanding the data. Then I will separate the two practical scenarios: one where labels are not available, which is the unsupervised cold-start problem, and one where labels are available, which is the supervised setting. Finally, I translate performance into an investigation queue and financial impact.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state of the data. The raw data is claims, but the decision unit is the provider. There are more than half a million claims, but 5,410 providers. Only 506 are labeled potentially fraudulent, so the positive class is rare. However, the reimbursement chart shows that those fraud-labeled providers account for a very large dollar amount. This is why the problem is not just classification accuracy; it is prioritizing limited investigative capacity toward high-impact providers.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how the data becomes model-ready. I stack the inpatient and outpatient claims into a single claim table, join beneficiary information, and attach provider-level labels. Since the label is at the provider level, I aggregate from claims to providers. The final matrix has 5,410 rows and 40 features. The same stratified 70/30 split is used everywhere, so all model comparisons are apples-to-apples.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data analysis piece that motivates the methods. The primary diagnosis field alone has 10,450 unique values. If we one-hot encode all of these raw fields, the feature space becomes very sparse. At the same time, missingness in procedure fields is not just bad data; it reflects the structure of claims. The solution was to summarize behavior at the provider level rather than directly model every raw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data intuitive. The distributions are skewed, but fraudulent providers have heavier tails in claims, reimbursement, and claims per patient. The heatmap shows that fraud is correlated with total reimbursement, number of diagnosis codes, patient count, and total claims. This does not prove fraud. A large provider can be legitimate. But it provides enough ranking signal for a model to exploit.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two things. First, the feature engineering is intentionally behavioral rather than purely mechanical. The 40 features capture billing scale, diagnosis behavior, physician networks, patient mix, and temporal changes. Second, the evaluation design is disciplined. The split happens first and the test set is never touched by SMOTE or tuning. That is what makes the supervised versus unsupervised comparison meaningful.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practical situation. A payer may not have enough confirmed investigation outcomes to train a supervised model. In that case, unsupervised anomaly detection is useful because it ranks providers using their behavior only. Isolation Forest is attractive because it is fast and has an interpretable anomaly threshold. The Autoencoder is stronger when normal behavior is non-linear. LOF is included as a classical baseline, but it performs poorly because the mixed feature space does not support stable local density estimates.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simple intuition for the unsupervised results. Say: because there are no labels, the model cannot learn what fraud is directly. It can only learn what normal providers look like, then flag deviations. Autoencoder and Isolation Forest do that well. LOF fails because it needs reliable neighbors, and this data does not have clean neighborhoods.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unsupervised results clearly. The Autoencoder is the best unsupervised model with ROC-AUC around 0.812 and PR-AUC around 0.332. Isolation Forest is very close by ROC-AUC and is still a strong practical model. LOF is worse than random, which validates the concern that local-density approaches struggle on mixed healthcare claims data. The VAE underperforms because its KL regularization likely smooths away reconstruction failures that help identify fraud.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left graph: this is precision as the investigation budget increases. The Autoencoder line is highest in the low-budget region, which is the realistic place for a fraud unit. Then point to the right graph: recall rises as we allow more providers into the queue. That is the tradeoff: more investigation capacity means more fraud caught, but lower precision.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Scenario 2 counterpart to the unsupervised scenario slide. Say: once investigators have confirmed outcomes, the organization has labels. At that point the model can learn fraud patterns directly. But this does not automatically mean one model is always best. Logistic Regression is best when missing fraud is the bigger problem; XGBoost is better when the team cannot handle too many false positives.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table: all supervised models have ROC-AUC around 0.93 to 0.95, much higher than unsupervised. Logistic Regression has the highest recall and AUC; XGBoost has the highest precision and F1. Then point to the ROC/PR curves: the curves are high and close together. Finally point to the confusion matrices: Logistic Regression catches the most fraud but has more false positives, while XGBoost catches fewer but wastes less investigation effort.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fixes the comparison by showing the same metrics for both models. Point to true positives: Logistic Regression catches 131 fraud providers versus 106 for XGBoost. Then point to false positives: XGBoost has only 60 false positives versus 143 for Logistic Regression. So Logistic Regression is better if missed fraud is the main concern. XGBoost is better if the investigation team has limited capacity or false positives are expensive.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unique contribution of the project: the models are compared on the same test set. The best unsupervised model is the Autoencoder at about 0.812 ROC-AUC. The supervised models reach about 0.93 to 0.953. That means labels are worth roughly 0.12 to 0.14 AUC points. But the conclusion is not simply supervised is better. The lifecycle matters: unsupervised models help create the first investigation queue, those investigations create labels, and supervised models then take over for higher precision.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translate model results into dollars and decision rules. At the top-ten percent alert budget, the Autoencoder recovers about $68.8 million in the test set, while Logistic Regression reaches about $101.9 million. XGBoost recovers slightly less than Logistic Regression but does it with far fewer false positives. This is why the best model depends on context. If fraud misses are most costly, choose Logistic Regression. If investigation capacity or provider friction is the constraint, choose XGBoost.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lifecycle. The data is difficult because it is mixed, sparse, and imbalanced. Unsupervised models are not a substitute for labels, but they are the right starting point when labels do not exist. Once investigations create confirmed labels, supervised models improve ranking substantially. Finally, within supervised models, the choice depends on operations: Logistic Regression for recall and recovery, XGBoost for precision and capacity constraints.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592C82"/>
          </a:solidFill>
          <a:ln w="12700">
            <a:solidFill>
              <a:srgbClr val="592C82"/>
            </a:solidFill>
            <a:prstDash val="solid"/>
          </a:ln>
        </p:spPr>
        <p:txBody>
          <a:bodyPr/>
          <a:lstStyle/>
          <a:p>
            <a:endParaRPr/>
          </a:p>
        </p:txBody>
      </p:sp>
      <p:sp>
        <p:nvSpPr>
          <p:cNvPr id="3" name="Text 1"/>
          <p:cNvSpPr/>
          <p:nvPr/>
        </p:nvSpPr>
        <p:spPr>
          <a:xfrm>
            <a:off x="594360" y="457200"/>
            <a:ext cx="2926080" cy="256032"/>
          </a:xfrm>
          <a:prstGeom prst="rect">
            <a:avLst/>
          </a:prstGeom>
          <a:noFill/>
          <a:ln/>
        </p:spPr>
        <p:txBody>
          <a:bodyPr wrap="square" lIns="0" tIns="0" rIns="0" bIns="0" rtlCol="0" anchor="ctr"/>
          <a:lstStyle/>
          <a:p>
            <a:pPr marL="0" indent="0">
              <a:buNone/>
            </a:pPr>
            <a:r>
              <a:rPr lang="en-US" sz="1200" b="1" dirty="0">
                <a:solidFill>
                  <a:srgbClr val="592C82"/>
                </a:solidFill>
              </a:rPr>
              <a:t>HUNTER COLLEGE</a:t>
            </a:r>
            <a:endParaRPr lang="en-US" sz="1200" dirty="0"/>
          </a:p>
        </p:txBody>
      </p:sp>
      <p:sp>
        <p:nvSpPr>
          <p:cNvPr id="4" name="Text 2"/>
          <p:cNvSpPr/>
          <p:nvPr/>
        </p:nvSpPr>
        <p:spPr>
          <a:xfrm>
            <a:off x="594360" y="1325880"/>
            <a:ext cx="9875520" cy="1143000"/>
          </a:xfrm>
          <a:prstGeom prst="rect">
            <a:avLst/>
          </a:prstGeom>
          <a:noFill/>
          <a:ln/>
        </p:spPr>
        <p:txBody>
          <a:bodyPr wrap="square" lIns="254" tIns="254" rIns="254" bIns="254" rtlCol="0" anchor="ctr">
            <a:normAutofit/>
          </a:bodyPr>
          <a:lstStyle/>
          <a:p>
            <a:pPr marL="0" indent="0">
              <a:buNone/>
            </a:pPr>
            <a:r>
              <a:rPr lang="en-US" sz="3400" b="1" dirty="0">
                <a:solidFill>
                  <a:srgbClr val="182230"/>
                </a:solidFill>
              </a:rPr>
              <a:t>Comparing Anomaly Detection Methods</a:t>
            </a:r>
            <a:endParaRPr lang="en-US" sz="3400" dirty="0"/>
          </a:p>
          <a:p>
            <a:pPr marL="0" indent="0">
              <a:buNone/>
            </a:pPr>
            <a:r>
              <a:rPr lang="en-US" sz="3400" b="1" dirty="0">
                <a:solidFill>
                  <a:srgbClr val="182230"/>
                </a:solidFill>
              </a:rPr>
              <a:t>for Medicare Provider Fraud</a:t>
            </a:r>
            <a:endParaRPr lang="en-US" sz="3400" dirty="0"/>
          </a:p>
        </p:txBody>
      </p:sp>
      <p:sp>
        <p:nvSpPr>
          <p:cNvPr id="5" name="Shape 3"/>
          <p:cNvSpPr/>
          <p:nvPr/>
        </p:nvSpPr>
        <p:spPr>
          <a:xfrm>
            <a:off x="612648" y="2651760"/>
            <a:ext cx="1920240" cy="0"/>
          </a:xfrm>
          <a:prstGeom prst="line">
            <a:avLst/>
          </a:prstGeom>
          <a:noFill/>
          <a:ln w="50800">
            <a:solidFill>
              <a:srgbClr val="C7A252"/>
            </a:solidFill>
            <a:prstDash val="solid"/>
          </a:ln>
        </p:spPr>
        <p:txBody>
          <a:bodyPr/>
          <a:lstStyle/>
          <a:p>
            <a:endParaRPr/>
          </a:p>
        </p:txBody>
      </p:sp>
      <p:sp>
        <p:nvSpPr>
          <p:cNvPr id="6" name="Text 4"/>
          <p:cNvSpPr/>
          <p:nvPr/>
        </p:nvSpPr>
        <p:spPr>
          <a:xfrm>
            <a:off x="612648" y="3063240"/>
            <a:ext cx="6492240" cy="320040"/>
          </a:xfrm>
          <a:prstGeom prst="rect">
            <a:avLst/>
          </a:prstGeom>
          <a:noFill/>
          <a:ln/>
        </p:spPr>
        <p:txBody>
          <a:bodyPr wrap="square" lIns="0" tIns="0" rIns="0" bIns="0" rtlCol="0" anchor="ctr"/>
          <a:lstStyle/>
          <a:p>
            <a:pPr marL="0" indent="0">
              <a:buNone/>
            </a:pPr>
            <a:r>
              <a:rPr lang="en-US" sz="1700" dirty="0">
                <a:solidFill>
                  <a:srgbClr val="182230"/>
                </a:solidFill>
              </a:rPr>
              <a:t>STAT 790 — Final Project Presentation</a:t>
            </a:r>
            <a:endParaRPr lang="en-US" sz="1700" dirty="0"/>
          </a:p>
        </p:txBody>
      </p:sp>
      <p:sp>
        <p:nvSpPr>
          <p:cNvPr id="7" name="Text 5"/>
          <p:cNvSpPr/>
          <p:nvPr/>
        </p:nvSpPr>
        <p:spPr>
          <a:xfrm>
            <a:off x="612648" y="3520440"/>
            <a:ext cx="6217920" cy="750000"/>
          </a:xfrm>
          <a:prstGeom prst="rect">
            <a:avLst/>
          </a:prstGeom>
          <a:noFill/>
          <a:ln/>
        </p:spPr>
        <p:txBody>
          <a:bodyPr wrap="square" lIns="0" tIns="0" rIns="0" bIns="0" rtlCol="0" anchor="ctr"/>
          <a:lstStyle/>
          <a:p>
            <a:pPr>
              <a:spcAft>
                <a:spcPts val="200"/>
              </a:spcAft>
            </a:pPr>
            <a:r>
              <a:rPr sz="1900">
                <a:latin typeface="Arial"/>
              </a:rPr>
              <a:t>Student: Francesco Pecora</a:t>
            </a:r>
          </a:p>
          <a:p>
            <a:r>
              <a:rPr sz="1900">
                <a:latin typeface="Arial"/>
              </a:rPr>
              <a:t>Advisor: Dr. Iordan Slavov</a:t>
            </a:r>
          </a:p>
        </p:txBody>
      </p:sp>
      <p:sp>
        <p:nvSpPr>
          <p:cNvPr id="8" name="Shape 6"/>
          <p:cNvSpPr/>
          <p:nvPr/>
        </p:nvSpPr>
        <p:spPr>
          <a:xfrm>
            <a:off x="7132320" y="2971800"/>
            <a:ext cx="4297680" cy="1143000"/>
          </a:xfrm>
          <a:prstGeom prst="roundRect">
            <a:avLst>
              <a:gd name="adj" fmla="val 9600"/>
            </a:avLst>
          </a:prstGeom>
          <a:solidFill>
            <a:srgbClr val="FFFFFF"/>
          </a:solidFill>
          <a:ln w="16510">
            <a:solidFill>
              <a:srgbClr val="592C82"/>
            </a:solidFill>
            <a:prstDash val="solid"/>
          </a:ln>
        </p:spPr>
        <p:txBody>
          <a:bodyPr/>
          <a:lstStyle/>
          <a:p>
            <a:endParaRPr/>
          </a:p>
        </p:txBody>
      </p:sp>
      <p:sp>
        <p:nvSpPr>
          <p:cNvPr id="9" name="Text 7"/>
          <p:cNvSpPr/>
          <p:nvPr/>
        </p:nvSpPr>
        <p:spPr>
          <a:xfrm>
            <a:off x="7242048" y="3081528"/>
            <a:ext cx="4078224" cy="923544"/>
          </a:xfrm>
          <a:prstGeom prst="rect">
            <a:avLst/>
          </a:prstGeom>
          <a:noFill/>
          <a:ln/>
        </p:spPr>
        <p:txBody>
          <a:bodyPr wrap="square" lIns="381" tIns="381" rIns="381" bIns="381" rtlCol="0" anchor="ctr">
            <a:normAutofit/>
          </a:bodyPr>
          <a:lstStyle/>
          <a:p>
            <a:pPr marL="0" indent="0">
              <a:buNone/>
            </a:pPr>
            <a:r>
              <a:rPr lang="en-US" sz="1500" b="1" dirty="0">
                <a:solidFill>
                  <a:srgbClr val="592C82"/>
                </a:solidFill>
              </a:rPr>
              <a:t>Main thesis: use unsupervised methods to solve the cold start; use supervised models once labels accumulate.</a:t>
            </a:r>
            <a:endParaRPr lang="en-US" sz="1500" dirty="0"/>
          </a:p>
        </p:txBody>
      </p:sp>
      <p:pic>
        <p:nvPicPr>
          <p:cNvPr id="10" name="Image 0" descr="/mnt/data/STAT790_GitHub_README_Current_Bundle/images/graph17_supervised_vs_unsupervised_auc.png"/>
          <p:cNvPicPr>
            <a:picLocks noChangeAspect="1"/>
          </p:cNvPicPr>
          <p:nvPr/>
        </p:nvPicPr>
        <p:blipFill>
          <a:blip r:embed="rId3"/>
          <a:stretch>
            <a:fillRect/>
          </a:stretch>
        </p:blipFill>
        <p:spPr>
          <a:xfrm>
            <a:off x="7796840" y="4343400"/>
            <a:ext cx="2465720" cy="1417320"/>
          </a:xfrm>
          <a:prstGeom prst="rect">
            <a:avLst/>
          </a:prstGeom>
        </p:spPr>
      </p:pic>
      <p:sp>
        <p:nvSpPr>
          <p:cNvPr id="11" name="Shape 8"/>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12" name="Text 9"/>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13" name="Text 10"/>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1</a:t>
            </a:r>
            <a:endParaRPr lang="en-US" sz="850" dirty="0"/>
          </a:p>
        </p:txBody>
      </p:sp>
      <p:sp>
        <p:nvSpPr>
          <p:cNvPr id="14" name="Shape 11"/>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15-minute roadmap</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The story moves from messy claims data to deployment decisions.</a:t>
            </a:r>
            <a:endParaRPr lang="en-US" sz="1020" dirty="0"/>
          </a:p>
        </p:txBody>
      </p:sp>
      <p:sp>
        <p:nvSpPr>
          <p:cNvPr id="5" name="Shape 3"/>
          <p:cNvSpPr/>
          <p:nvPr/>
        </p:nvSpPr>
        <p:spPr>
          <a:xfrm>
            <a:off x="1371600" y="2240280"/>
            <a:ext cx="1234440" cy="0"/>
          </a:xfrm>
          <a:prstGeom prst="line">
            <a:avLst/>
          </a:prstGeom>
          <a:noFill/>
          <a:ln w="25400">
            <a:solidFill>
              <a:srgbClr val="CAD2DC"/>
            </a:solidFill>
            <a:prstDash val="solid"/>
            <a:headEnd type="none"/>
            <a:tailEnd type="triangle"/>
          </a:ln>
        </p:spPr>
        <p:txBody>
          <a:bodyPr/>
          <a:lstStyle/>
          <a:p>
            <a:endParaRPr/>
          </a:p>
        </p:txBody>
      </p:sp>
      <p:sp>
        <p:nvSpPr>
          <p:cNvPr id="6" name="Shape 4"/>
          <p:cNvSpPr/>
          <p:nvPr/>
        </p:nvSpPr>
        <p:spPr>
          <a:xfrm>
            <a:off x="685800" y="1645920"/>
            <a:ext cx="777240" cy="777240"/>
          </a:xfrm>
          <a:prstGeom prst="ellipse">
            <a:avLst/>
          </a:prstGeom>
          <a:solidFill>
            <a:srgbClr val="592C82"/>
          </a:solidFill>
          <a:ln w="12700">
            <a:solidFill>
              <a:srgbClr val="FFFFFF"/>
            </a:solidFill>
            <a:prstDash val="solid"/>
          </a:ln>
        </p:spPr>
        <p:txBody>
          <a:bodyPr/>
          <a:lstStyle/>
          <a:p>
            <a:endParaRPr/>
          </a:p>
        </p:txBody>
      </p:sp>
      <p:sp>
        <p:nvSpPr>
          <p:cNvPr id="7" name="Text 5"/>
          <p:cNvSpPr/>
          <p:nvPr/>
        </p:nvSpPr>
        <p:spPr>
          <a:xfrm>
            <a:off x="685800" y="1856232"/>
            <a:ext cx="777240" cy="27432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Text 6"/>
          <p:cNvSpPr/>
          <p:nvPr/>
        </p:nvSpPr>
        <p:spPr>
          <a:xfrm>
            <a:off x="502920" y="2651760"/>
            <a:ext cx="2103120" cy="301752"/>
          </a:xfrm>
          <a:prstGeom prst="rect">
            <a:avLst/>
          </a:prstGeom>
          <a:noFill/>
          <a:ln/>
        </p:spPr>
        <p:txBody>
          <a:bodyPr wrap="square" lIns="0" tIns="0" rIns="0" bIns="0" rtlCol="0" anchor="ctr"/>
          <a:lstStyle/>
          <a:p>
            <a:pPr marL="0" indent="0" algn="ctr">
              <a:buNone/>
            </a:pPr>
            <a:r>
              <a:rPr lang="en-US" sz="1800" b="1" dirty="0">
                <a:solidFill>
                  <a:srgbClr val="182230"/>
                </a:solidFill>
              </a:rPr>
              <a:t>Data state</a:t>
            </a:r>
            <a:endParaRPr lang="en-US" sz="1800" dirty="0"/>
          </a:p>
        </p:txBody>
      </p:sp>
      <p:sp>
        <p:nvSpPr>
          <p:cNvPr id="9" name="Text 7"/>
          <p:cNvSpPr/>
          <p:nvPr/>
        </p:nvSpPr>
        <p:spPr>
          <a:xfrm>
            <a:off x="457200" y="3063240"/>
            <a:ext cx="2194560" cy="694944"/>
          </a:xfrm>
          <a:prstGeom prst="rect">
            <a:avLst/>
          </a:prstGeom>
          <a:noFill/>
          <a:ln/>
        </p:spPr>
        <p:txBody>
          <a:bodyPr wrap="square" lIns="381" tIns="381" rIns="381" bIns="381" rtlCol="0" anchor="ctr">
            <a:normAutofit/>
          </a:bodyPr>
          <a:lstStyle/>
          <a:p>
            <a:pPr marL="0" indent="0" algn="ctr">
              <a:buNone/>
            </a:pPr>
            <a:r>
              <a:rPr lang="en-US" sz="1250" dirty="0">
                <a:solidFill>
                  <a:srgbClr val="5B6678"/>
                </a:solidFill>
              </a:rPr>
              <a:t>Claims, labels, imbalance, mixed features</a:t>
            </a:r>
            <a:endParaRPr lang="en-US" sz="1250" dirty="0"/>
          </a:p>
        </p:txBody>
      </p:sp>
      <p:sp>
        <p:nvSpPr>
          <p:cNvPr id="10" name="Shape 8"/>
          <p:cNvSpPr/>
          <p:nvPr/>
        </p:nvSpPr>
        <p:spPr>
          <a:xfrm>
            <a:off x="4160520" y="2240280"/>
            <a:ext cx="1234440" cy="0"/>
          </a:xfrm>
          <a:prstGeom prst="line">
            <a:avLst/>
          </a:prstGeom>
          <a:noFill/>
          <a:ln w="25400">
            <a:solidFill>
              <a:srgbClr val="CAD2DC"/>
            </a:solidFill>
            <a:prstDash val="solid"/>
            <a:headEnd type="none"/>
            <a:tailEnd type="triangle"/>
          </a:ln>
        </p:spPr>
        <p:txBody>
          <a:bodyPr/>
          <a:lstStyle/>
          <a:p>
            <a:endParaRPr/>
          </a:p>
        </p:txBody>
      </p:sp>
      <p:sp>
        <p:nvSpPr>
          <p:cNvPr id="11" name="Shape 9"/>
          <p:cNvSpPr/>
          <p:nvPr/>
        </p:nvSpPr>
        <p:spPr>
          <a:xfrm>
            <a:off x="3474720" y="1645920"/>
            <a:ext cx="777240" cy="777240"/>
          </a:xfrm>
          <a:prstGeom prst="ellipse">
            <a:avLst/>
          </a:prstGeom>
          <a:solidFill>
            <a:srgbClr val="1565C0"/>
          </a:solidFill>
          <a:ln w="12700">
            <a:solidFill>
              <a:srgbClr val="FFFFFF"/>
            </a:solidFill>
            <a:prstDash val="solid"/>
          </a:ln>
        </p:spPr>
        <p:txBody>
          <a:bodyPr/>
          <a:lstStyle/>
          <a:p>
            <a:endParaRPr/>
          </a:p>
        </p:txBody>
      </p:sp>
      <p:sp>
        <p:nvSpPr>
          <p:cNvPr id="12" name="Text 10"/>
          <p:cNvSpPr/>
          <p:nvPr/>
        </p:nvSpPr>
        <p:spPr>
          <a:xfrm>
            <a:off x="3474720" y="1856232"/>
            <a:ext cx="777240" cy="27432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3291840" y="2651760"/>
            <a:ext cx="2103120" cy="301752"/>
          </a:xfrm>
          <a:prstGeom prst="rect">
            <a:avLst/>
          </a:prstGeom>
          <a:noFill/>
          <a:ln/>
        </p:spPr>
        <p:txBody>
          <a:bodyPr wrap="square" lIns="0" tIns="0" rIns="0" bIns="0" rtlCol="0" anchor="ctr"/>
          <a:lstStyle/>
          <a:p>
            <a:pPr marL="0" indent="0" algn="ctr">
              <a:buNone/>
            </a:pPr>
            <a:r>
              <a:rPr lang="en-US" sz="1800" b="1" dirty="0">
                <a:solidFill>
                  <a:srgbClr val="182230"/>
                </a:solidFill>
              </a:rPr>
              <a:t>Unsupervised</a:t>
            </a:r>
            <a:endParaRPr lang="en-US" sz="1800" dirty="0"/>
          </a:p>
        </p:txBody>
      </p:sp>
      <p:sp>
        <p:nvSpPr>
          <p:cNvPr id="14" name="Text 12"/>
          <p:cNvSpPr/>
          <p:nvPr/>
        </p:nvSpPr>
        <p:spPr>
          <a:xfrm>
            <a:off x="3246120" y="3063240"/>
            <a:ext cx="2194560" cy="694944"/>
          </a:xfrm>
          <a:prstGeom prst="rect">
            <a:avLst/>
          </a:prstGeom>
          <a:noFill/>
          <a:ln/>
        </p:spPr>
        <p:txBody>
          <a:bodyPr wrap="square" lIns="381" tIns="381" rIns="381" bIns="381" rtlCol="0" anchor="ctr">
            <a:normAutofit/>
          </a:bodyPr>
          <a:lstStyle/>
          <a:p>
            <a:pPr marL="0" indent="0" algn="ctr">
              <a:buNone/>
            </a:pPr>
            <a:r>
              <a:rPr lang="en-US" sz="1250" dirty="0">
                <a:solidFill>
                  <a:srgbClr val="5B6678"/>
                </a:solidFill>
              </a:rPr>
              <a:t>Useful before confirmed fraud labels exist</a:t>
            </a:r>
            <a:endParaRPr lang="en-US" sz="1250" dirty="0"/>
          </a:p>
        </p:txBody>
      </p:sp>
      <p:sp>
        <p:nvSpPr>
          <p:cNvPr id="15" name="Shape 13"/>
          <p:cNvSpPr/>
          <p:nvPr/>
        </p:nvSpPr>
        <p:spPr>
          <a:xfrm>
            <a:off x="6949440" y="2240280"/>
            <a:ext cx="1234440" cy="0"/>
          </a:xfrm>
          <a:prstGeom prst="line">
            <a:avLst/>
          </a:prstGeom>
          <a:noFill/>
          <a:ln w="25400">
            <a:solidFill>
              <a:srgbClr val="CAD2DC"/>
            </a:solidFill>
            <a:prstDash val="solid"/>
            <a:headEnd type="none"/>
            <a:tailEnd type="triangle"/>
          </a:ln>
        </p:spPr>
        <p:txBody>
          <a:bodyPr/>
          <a:lstStyle/>
          <a:p>
            <a:endParaRPr/>
          </a:p>
        </p:txBody>
      </p:sp>
      <p:sp>
        <p:nvSpPr>
          <p:cNvPr id="16" name="Shape 14"/>
          <p:cNvSpPr/>
          <p:nvPr/>
        </p:nvSpPr>
        <p:spPr>
          <a:xfrm>
            <a:off x="6263640" y="1645920"/>
            <a:ext cx="777240" cy="777240"/>
          </a:xfrm>
          <a:prstGeom prst="ellipse">
            <a:avLst/>
          </a:prstGeom>
          <a:solidFill>
            <a:srgbClr val="2E7D32"/>
          </a:solidFill>
          <a:ln w="12700">
            <a:solidFill>
              <a:srgbClr val="FFFFFF"/>
            </a:solidFill>
            <a:prstDash val="solid"/>
          </a:ln>
        </p:spPr>
        <p:txBody>
          <a:bodyPr/>
          <a:lstStyle/>
          <a:p>
            <a:endParaRPr/>
          </a:p>
        </p:txBody>
      </p:sp>
      <p:sp>
        <p:nvSpPr>
          <p:cNvPr id="17" name="Text 15"/>
          <p:cNvSpPr/>
          <p:nvPr/>
        </p:nvSpPr>
        <p:spPr>
          <a:xfrm>
            <a:off x="6263640" y="1856232"/>
            <a:ext cx="777240" cy="27432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8" name="Text 16"/>
          <p:cNvSpPr/>
          <p:nvPr/>
        </p:nvSpPr>
        <p:spPr>
          <a:xfrm>
            <a:off x="6080760" y="2651760"/>
            <a:ext cx="2103120" cy="301752"/>
          </a:xfrm>
          <a:prstGeom prst="rect">
            <a:avLst/>
          </a:prstGeom>
          <a:noFill/>
          <a:ln/>
        </p:spPr>
        <p:txBody>
          <a:bodyPr wrap="square" lIns="0" tIns="0" rIns="0" bIns="0" rtlCol="0" anchor="ctr"/>
          <a:lstStyle/>
          <a:p>
            <a:pPr marL="0" indent="0" algn="ctr">
              <a:buNone/>
            </a:pPr>
            <a:r>
              <a:rPr lang="en-US" sz="1800" b="1" dirty="0">
                <a:solidFill>
                  <a:srgbClr val="182230"/>
                </a:solidFill>
              </a:rPr>
              <a:t>Supervised</a:t>
            </a:r>
            <a:endParaRPr lang="en-US" sz="1800" dirty="0"/>
          </a:p>
        </p:txBody>
      </p:sp>
      <p:sp>
        <p:nvSpPr>
          <p:cNvPr id="19" name="Text 17"/>
          <p:cNvSpPr/>
          <p:nvPr/>
        </p:nvSpPr>
        <p:spPr>
          <a:xfrm>
            <a:off x="6035040" y="3063240"/>
            <a:ext cx="2194560" cy="694944"/>
          </a:xfrm>
          <a:prstGeom prst="rect">
            <a:avLst/>
          </a:prstGeom>
          <a:noFill/>
          <a:ln/>
        </p:spPr>
        <p:txBody>
          <a:bodyPr wrap="square" lIns="381" tIns="381" rIns="381" bIns="381" rtlCol="0" anchor="ctr">
            <a:normAutofit/>
          </a:bodyPr>
          <a:lstStyle/>
          <a:p>
            <a:pPr marL="0" indent="0" algn="ctr">
              <a:buNone/>
            </a:pPr>
            <a:r>
              <a:rPr lang="en-US" sz="1250" dirty="0">
                <a:solidFill>
                  <a:srgbClr val="5B6678"/>
                </a:solidFill>
              </a:rPr>
              <a:t>Useful after investigations create labels</a:t>
            </a:r>
            <a:endParaRPr lang="en-US" sz="1250" dirty="0"/>
          </a:p>
        </p:txBody>
      </p:sp>
      <p:sp>
        <p:nvSpPr>
          <p:cNvPr id="20" name="Shape 18"/>
          <p:cNvSpPr/>
          <p:nvPr/>
        </p:nvSpPr>
        <p:spPr>
          <a:xfrm>
            <a:off x="9738360" y="2240280"/>
            <a:ext cx="1234440" cy="0"/>
          </a:xfrm>
          <a:prstGeom prst="line">
            <a:avLst/>
          </a:prstGeom>
          <a:noFill/>
          <a:ln w="25400">
            <a:solidFill>
              <a:srgbClr val="FFFFFF"/>
            </a:solidFill>
            <a:prstDash val="solid"/>
            <a:headEnd type="none"/>
            <a:tailEnd type="triangle"/>
          </a:ln>
        </p:spPr>
        <p:txBody>
          <a:bodyPr/>
          <a:lstStyle/>
          <a:p>
            <a:endParaRPr/>
          </a:p>
        </p:txBody>
      </p:sp>
      <p:sp>
        <p:nvSpPr>
          <p:cNvPr id="21" name="Shape 19"/>
          <p:cNvSpPr/>
          <p:nvPr/>
        </p:nvSpPr>
        <p:spPr>
          <a:xfrm>
            <a:off x="9052560" y="1645920"/>
            <a:ext cx="777240" cy="777240"/>
          </a:xfrm>
          <a:prstGeom prst="ellipse">
            <a:avLst/>
          </a:prstGeom>
          <a:solidFill>
            <a:srgbClr val="EF6C00"/>
          </a:solidFill>
          <a:ln w="12700">
            <a:solidFill>
              <a:srgbClr val="FFFFFF"/>
            </a:solidFill>
            <a:prstDash val="solid"/>
          </a:ln>
        </p:spPr>
        <p:txBody>
          <a:bodyPr/>
          <a:lstStyle/>
          <a:p>
            <a:endParaRPr/>
          </a:p>
        </p:txBody>
      </p:sp>
      <p:sp>
        <p:nvSpPr>
          <p:cNvPr id="22" name="Text 20"/>
          <p:cNvSpPr/>
          <p:nvPr/>
        </p:nvSpPr>
        <p:spPr>
          <a:xfrm>
            <a:off x="9052560" y="1856232"/>
            <a:ext cx="777240" cy="27432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3" name="Text 21"/>
          <p:cNvSpPr/>
          <p:nvPr/>
        </p:nvSpPr>
        <p:spPr>
          <a:xfrm>
            <a:off x="8869680" y="2651760"/>
            <a:ext cx="2103120" cy="301752"/>
          </a:xfrm>
          <a:prstGeom prst="rect">
            <a:avLst/>
          </a:prstGeom>
          <a:noFill/>
          <a:ln/>
        </p:spPr>
        <p:txBody>
          <a:bodyPr wrap="square" lIns="0" tIns="0" rIns="0" bIns="0" rtlCol="0" anchor="ctr"/>
          <a:lstStyle/>
          <a:p>
            <a:pPr marL="0" indent="0" algn="ctr">
              <a:buNone/>
            </a:pPr>
            <a:r>
              <a:rPr lang="en-US" sz="1800" b="1" dirty="0">
                <a:solidFill>
                  <a:srgbClr val="182230"/>
                </a:solidFill>
              </a:rPr>
              <a:t>Decision layer</a:t>
            </a:r>
            <a:endParaRPr lang="en-US" sz="1800" dirty="0"/>
          </a:p>
        </p:txBody>
      </p:sp>
      <p:sp>
        <p:nvSpPr>
          <p:cNvPr id="24" name="Text 22"/>
          <p:cNvSpPr/>
          <p:nvPr/>
        </p:nvSpPr>
        <p:spPr>
          <a:xfrm>
            <a:off x="8823960" y="3063240"/>
            <a:ext cx="2194560" cy="694944"/>
          </a:xfrm>
          <a:prstGeom prst="rect">
            <a:avLst/>
          </a:prstGeom>
          <a:noFill/>
          <a:ln/>
        </p:spPr>
        <p:txBody>
          <a:bodyPr wrap="square" lIns="381" tIns="381" rIns="381" bIns="381" rtlCol="0" anchor="ctr">
            <a:normAutofit/>
          </a:bodyPr>
          <a:lstStyle/>
          <a:p>
            <a:pPr marL="0" indent="0" algn="ctr">
              <a:buNone/>
            </a:pPr>
            <a:r>
              <a:rPr lang="en-US" sz="1250" dirty="0">
                <a:solidFill>
                  <a:srgbClr val="5B6678"/>
                </a:solidFill>
              </a:rPr>
              <a:t>Investigation budget, precision, recall, ROI</a:t>
            </a:r>
            <a:endParaRPr lang="en-US" sz="1250" dirty="0"/>
          </a:p>
        </p:txBody>
      </p:sp>
      <p:sp>
        <p:nvSpPr>
          <p:cNvPr id="25" name="Shape 23"/>
          <p:cNvSpPr/>
          <p:nvPr/>
        </p:nvSpPr>
        <p:spPr>
          <a:xfrm>
            <a:off x="1097280" y="4800600"/>
            <a:ext cx="9966960" cy="685800"/>
          </a:xfrm>
          <a:prstGeom prst="roundRect">
            <a:avLst>
              <a:gd name="adj" fmla="val 16000"/>
            </a:avLst>
          </a:prstGeom>
          <a:solidFill>
            <a:srgbClr val="FFFFFF"/>
          </a:solidFill>
          <a:ln w="16510">
            <a:solidFill>
              <a:srgbClr val="592C82"/>
            </a:solidFill>
            <a:prstDash val="solid"/>
          </a:ln>
        </p:spPr>
        <p:txBody>
          <a:bodyPr/>
          <a:lstStyle/>
          <a:p>
            <a:endParaRPr/>
          </a:p>
        </p:txBody>
      </p:sp>
      <p:sp>
        <p:nvSpPr>
          <p:cNvPr id="26" name="Text 24"/>
          <p:cNvSpPr/>
          <p:nvPr/>
        </p:nvSpPr>
        <p:spPr>
          <a:xfrm>
            <a:off x="1207008" y="4910328"/>
            <a:ext cx="9747504" cy="466344"/>
          </a:xfrm>
          <a:prstGeom prst="rect">
            <a:avLst/>
          </a:prstGeom>
          <a:noFill/>
          <a:ln/>
        </p:spPr>
        <p:txBody>
          <a:bodyPr wrap="square" lIns="381" tIns="381" rIns="381" bIns="381" rtlCol="0" anchor="ctr">
            <a:normAutofit/>
          </a:bodyPr>
          <a:lstStyle/>
          <a:p>
            <a:pPr marL="0" indent="0">
              <a:buNone/>
            </a:pPr>
            <a:r>
              <a:rPr lang="en-US" sz="1800" b="1" dirty="0">
                <a:solidFill>
                  <a:srgbClr val="592C82"/>
                </a:solidFill>
              </a:rPr>
              <a:t>Core comparison: same 30% test set, same provider-level features, same seed.</a:t>
            </a:r>
            <a:endParaRPr lang="en-US" sz="1800" dirty="0"/>
          </a:p>
        </p:txBody>
      </p:sp>
      <p:sp>
        <p:nvSpPr>
          <p:cNvPr id="27" name="Shape 25"/>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28" name="Text 26"/>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29" name="Text 27"/>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2</a:t>
            </a:r>
            <a:endParaRPr lang="en-US" sz="850" dirty="0"/>
          </a:p>
        </p:txBody>
      </p:sp>
      <p:sp>
        <p:nvSpPr>
          <p:cNvPr id="30" name="Shape 28"/>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Problem scale: rare providers, large dollars</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Fraud labels are rare at the provider level, but the dollars are concentrated.</a:t>
            </a:r>
            <a:endParaRPr lang="en-US" sz="1020" dirty="0"/>
          </a:p>
        </p:txBody>
      </p:sp>
      <p:pic>
        <p:nvPicPr>
          <p:cNvPr id="5" name="Image 0" descr="/mnt/data/STAT790_GitHub_README_Current_Bundle/images/graph01_provider_fraud_scale.png"/>
          <p:cNvPicPr>
            <a:picLocks noChangeAspect="1"/>
          </p:cNvPicPr>
          <p:nvPr/>
        </p:nvPicPr>
        <p:blipFill>
          <a:blip r:embed="rId3"/>
          <a:stretch>
            <a:fillRect/>
          </a:stretch>
        </p:blipFill>
        <p:spPr>
          <a:xfrm>
            <a:off x="820312" y="1143000"/>
            <a:ext cx="6040337" cy="2148840"/>
          </a:xfrm>
          <a:prstGeom prst="rect">
            <a:avLst/>
          </a:prstGeom>
        </p:spPr>
      </p:pic>
      <p:sp>
        <p:nvSpPr>
          <p:cNvPr id="6" name="Text 3"/>
          <p:cNvSpPr/>
          <p:nvPr/>
        </p:nvSpPr>
        <p:spPr>
          <a:xfrm>
            <a:off x="7452360" y="1143000"/>
            <a:ext cx="2011680" cy="438912"/>
          </a:xfrm>
          <a:prstGeom prst="rect">
            <a:avLst/>
          </a:prstGeom>
          <a:noFill/>
          <a:ln/>
        </p:spPr>
        <p:txBody>
          <a:bodyPr wrap="square" lIns="0" tIns="0" rIns="0" bIns="0" rtlCol="0" anchor="ctr">
            <a:normAutofit/>
          </a:bodyPr>
          <a:lstStyle/>
          <a:p>
            <a:pPr marL="0" indent="0" algn="ctr">
              <a:buNone/>
            </a:pPr>
            <a:r>
              <a:rPr lang="en-US" sz="2500" b="1" dirty="0">
                <a:solidFill>
                  <a:srgbClr val="592C82"/>
                </a:solidFill>
              </a:rPr>
              <a:t>558,211</a:t>
            </a:r>
            <a:endParaRPr lang="en-US" sz="2500" dirty="0"/>
          </a:p>
        </p:txBody>
      </p:sp>
      <p:sp>
        <p:nvSpPr>
          <p:cNvPr id="7" name="Text 4"/>
          <p:cNvSpPr/>
          <p:nvPr/>
        </p:nvSpPr>
        <p:spPr>
          <a:xfrm>
            <a:off x="7452360" y="1618488"/>
            <a:ext cx="2011680" cy="384048"/>
          </a:xfrm>
          <a:prstGeom prst="rect">
            <a:avLst/>
          </a:prstGeom>
          <a:noFill/>
          <a:ln/>
        </p:spPr>
        <p:txBody>
          <a:bodyPr wrap="square" lIns="254" tIns="254" rIns="254" bIns="254" rtlCol="0" anchor="ctr">
            <a:normAutofit/>
          </a:bodyPr>
          <a:lstStyle/>
          <a:p>
            <a:pPr marL="0" indent="0" algn="ctr">
              <a:buNone/>
            </a:pPr>
            <a:r>
              <a:rPr lang="en-US" sz="950" dirty="0">
                <a:solidFill>
                  <a:srgbClr val="5B6678"/>
                </a:solidFill>
              </a:rPr>
              <a:t>combined inpatient + outpatient claims</a:t>
            </a:r>
            <a:endParaRPr lang="en-US" sz="950" dirty="0"/>
          </a:p>
        </p:txBody>
      </p:sp>
      <p:sp>
        <p:nvSpPr>
          <p:cNvPr id="8" name="Text 5"/>
          <p:cNvSpPr/>
          <p:nvPr/>
        </p:nvSpPr>
        <p:spPr>
          <a:xfrm>
            <a:off x="9646920" y="1143000"/>
            <a:ext cx="1508760" cy="438912"/>
          </a:xfrm>
          <a:prstGeom prst="rect">
            <a:avLst/>
          </a:prstGeom>
          <a:noFill/>
          <a:ln/>
        </p:spPr>
        <p:txBody>
          <a:bodyPr wrap="square" lIns="0" tIns="0" rIns="0" bIns="0" rtlCol="0" anchor="ctr">
            <a:normAutofit/>
          </a:bodyPr>
          <a:lstStyle/>
          <a:p>
            <a:pPr marL="0" indent="0" algn="ctr">
              <a:buNone/>
            </a:pPr>
            <a:r>
              <a:rPr lang="en-US" sz="2500" b="1" dirty="0">
                <a:solidFill>
                  <a:srgbClr val="0F4C81"/>
                </a:solidFill>
              </a:rPr>
              <a:t>5,410</a:t>
            </a:r>
            <a:endParaRPr lang="en-US" sz="2500" dirty="0"/>
          </a:p>
        </p:txBody>
      </p:sp>
      <p:sp>
        <p:nvSpPr>
          <p:cNvPr id="9" name="Text 6"/>
          <p:cNvSpPr/>
          <p:nvPr/>
        </p:nvSpPr>
        <p:spPr>
          <a:xfrm>
            <a:off x="9646920" y="1618488"/>
            <a:ext cx="1508760" cy="384048"/>
          </a:xfrm>
          <a:prstGeom prst="rect">
            <a:avLst/>
          </a:prstGeom>
          <a:noFill/>
          <a:ln/>
        </p:spPr>
        <p:txBody>
          <a:bodyPr wrap="square" lIns="254" tIns="254" rIns="254" bIns="254" rtlCol="0" anchor="ctr">
            <a:normAutofit/>
          </a:bodyPr>
          <a:lstStyle/>
          <a:p>
            <a:pPr marL="0" indent="0" algn="ctr">
              <a:buNone/>
            </a:pPr>
            <a:r>
              <a:rPr lang="en-US" sz="950" dirty="0">
                <a:solidFill>
                  <a:srgbClr val="5B6678"/>
                </a:solidFill>
              </a:rPr>
              <a:t>providers modeled</a:t>
            </a:r>
            <a:endParaRPr lang="en-US" sz="950" dirty="0"/>
          </a:p>
        </p:txBody>
      </p:sp>
      <p:sp>
        <p:nvSpPr>
          <p:cNvPr id="10" name="Text 7"/>
          <p:cNvSpPr/>
          <p:nvPr/>
        </p:nvSpPr>
        <p:spPr>
          <a:xfrm>
            <a:off x="7589520" y="2423160"/>
            <a:ext cx="1645920" cy="438912"/>
          </a:xfrm>
          <a:prstGeom prst="rect">
            <a:avLst/>
          </a:prstGeom>
          <a:noFill/>
          <a:ln/>
        </p:spPr>
        <p:txBody>
          <a:bodyPr wrap="square" lIns="0" tIns="0" rIns="0" bIns="0" rtlCol="0" anchor="ctr">
            <a:normAutofit/>
          </a:bodyPr>
          <a:lstStyle/>
          <a:p>
            <a:pPr marL="0" indent="0" algn="ctr">
              <a:buNone/>
            </a:pPr>
            <a:r>
              <a:rPr lang="en-US" sz="2500" b="1" dirty="0">
                <a:solidFill>
                  <a:srgbClr val="C62828"/>
                </a:solidFill>
              </a:rPr>
              <a:t>9.4%</a:t>
            </a:r>
            <a:endParaRPr lang="en-US" sz="2500" dirty="0"/>
          </a:p>
        </p:txBody>
      </p:sp>
      <p:sp>
        <p:nvSpPr>
          <p:cNvPr id="11" name="Text 8"/>
          <p:cNvSpPr/>
          <p:nvPr/>
        </p:nvSpPr>
        <p:spPr>
          <a:xfrm>
            <a:off x="7589520" y="2898648"/>
            <a:ext cx="1645920" cy="384048"/>
          </a:xfrm>
          <a:prstGeom prst="rect">
            <a:avLst/>
          </a:prstGeom>
          <a:noFill/>
          <a:ln/>
        </p:spPr>
        <p:txBody>
          <a:bodyPr wrap="square" lIns="254" tIns="254" rIns="254" bIns="254" rtlCol="0" anchor="ctr">
            <a:normAutofit/>
          </a:bodyPr>
          <a:lstStyle/>
          <a:p>
            <a:pPr marL="0" indent="0" algn="ctr">
              <a:buNone/>
            </a:pPr>
            <a:r>
              <a:rPr lang="en-US" sz="950" dirty="0">
                <a:solidFill>
                  <a:srgbClr val="5B6678"/>
                </a:solidFill>
              </a:rPr>
              <a:t>PotentialFraud provider rate</a:t>
            </a:r>
            <a:endParaRPr lang="en-US" sz="950" dirty="0"/>
          </a:p>
        </p:txBody>
      </p:sp>
      <p:sp>
        <p:nvSpPr>
          <p:cNvPr id="12" name="Text 9"/>
          <p:cNvSpPr/>
          <p:nvPr/>
        </p:nvSpPr>
        <p:spPr>
          <a:xfrm>
            <a:off x="9372600" y="2423160"/>
            <a:ext cx="1874520" cy="438912"/>
          </a:xfrm>
          <a:prstGeom prst="rect">
            <a:avLst/>
          </a:prstGeom>
          <a:noFill/>
          <a:ln/>
        </p:spPr>
        <p:txBody>
          <a:bodyPr wrap="square" lIns="0" tIns="0" rIns="0" bIns="0" rtlCol="0" anchor="ctr">
            <a:normAutofit/>
          </a:bodyPr>
          <a:lstStyle/>
          <a:p>
            <a:pPr marL="0" indent="0" algn="ctr">
              <a:buNone/>
            </a:pPr>
            <a:r>
              <a:rPr lang="en-US" sz="2500" b="1" dirty="0">
                <a:solidFill>
                  <a:srgbClr val="C62828"/>
                </a:solidFill>
              </a:rPr>
              <a:t>$295.7M</a:t>
            </a:r>
            <a:endParaRPr lang="en-US" sz="2500" dirty="0"/>
          </a:p>
        </p:txBody>
      </p:sp>
      <p:sp>
        <p:nvSpPr>
          <p:cNvPr id="13" name="Text 10"/>
          <p:cNvSpPr/>
          <p:nvPr/>
        </p:nvSpPr>
        <p:spPr>
          <a:xfrm>
            <a:off x="9372600" y="2898648"/>
            <a:ext cx="1874520" cy="384048"/>
          </a:xfrm>
          <a:prstGeom prst="rect">
            <a:avLst/>
          </a:prstGeom>
          <a:noFill/>
          <a:ln/>
        </p:spPr>
        <p:txBody>
          <a:bodyPr wrap="square" lIns="254" tIns="254" rIns="254" bIns="254" rtlCol="0" anchor="ctr">
            <a:normAutofit/>
          </a:bodyPr>
          <a:lstStyle/>
          <a:p>
            <a:pPr marL="0" indent="0" algn="ctr">
              <a:buNone/>
            </a:pPr>
            <a:r>
              <a:rPr lang="en-US" sz="950" dirty="0">
                <a:solidFill>
                  <a:srgbClr val="5B6678"/>
                </a:solidFill>
              </a:rPr>
              <a:t>reimbursement tied to fraud-labeled providers</a:t>
            </a:r>
            <a:endParaRPr lang="en-US" sz="950" dirty="0"/>
          </a:p>
        </p:txBody>
      </p:sp>
      <p:sp>
        <p:nvSpPr>
          <p:cNvPr id="14" name="Shape 11"/>
          <p:cNvSpPr/>
          <p:nvPr/>
        </p:nvSpPr>
        <p:spPr>
          <a:xfrm>
            <a:off x="777240" y="3931920"/>
            <a:ext cx="10698480" cy="0"/>
          </a:xfrm>
          <a:prstGeom prst="line">
            <a:avLst/>
          </a:prstGeom>
          <a:noFill/>
          <a:ln w="12700">
            <a:solidFill>
              <a:srgbClr val="CAD2DC"/>
            </a:solidFill>
            <a:prstDash val="solid"/>
          </a:ln>
        </p:spPr>
        <p:txBody>
          <a:bodyPr/>
          <a:lstStyle/>
          <a:p>
            <a:endParaRPr/>
          </a:p>
        </p:txBody>
      </p:sp>
      <p:sp>
        <p:nvSpPr>
          <p:cNvPr id="15" name="Text 12"/>
          <p:cNvSpPr/>
          <p:nvPr/>
        </p:nvSpPr>
        <p:spPr>
          <a:xfrm>
            <a:off x="777240" y="4343400"/>
            <a:ext cx="11201400" cy="1325880"/>
          </a:xfrm>
          <a:prstGeom prst="rect">
            <a:avLst/>
          </a:prstGeom>
          <a:noFill/>
          <a:ln/>
        </p:spPr>
        <p:txBody>
          <a:bodyPr wrap="square" lIns="635" tIns="635" rIns="635" bIns="635" rtlCol="0" anchor="ctr">
            <a:normAutofit/>
          </a:bodyPr>
          <a:lstStyle/>
          <a:p>
            <a:pPr marL="285750" indent="-285750">
              <a:buFont typeface="Arial" panose="020B0604020202020204" pitchFamily="34" charset="0"/>
              <a:buChar char="•"/>
            </a:pPr>
            <a:r>
              <a:rPr lang="en-US" sz="1700" dirty="0">
                <a:solidFill>
                  <a:srgbClr val="182230"/>
                </a:solidFill>
              </a:rPr>
              <a:t>The label exists at the provider level, not at the individual claim level.</a:t>
            </a:r>
            <a:endParaRPr lang="en-US" sz="1700" dirty="0"/>
          </a:p>
          <a:p>
            <a:pPr marL="285750" indent="-285750">
              <a:buFont typeface="Arial" panose="020B0604020202020204" pitchFamily="34" charset="0"/>
              <a:buChar char="•"/>
            </a:pPr>
            <a:r>
              <a:rPr lang="en-US" sz="1700" dirty="0">
                <a:solidFill>
                  <a:srgbClr val="182230"/>
                </a:solidFill>
              </a:rPr>
              <a:t>A claim-level model would be dominated by high-volume providers; the operational decision is who to investigate.</a:t>
            </a:r>
            <a:endParaRPr lang="en-US" sz="1700" dirty="0"/>
          </a:p>
          <a:p>
            <a:pPr marL="285750" indent="-285750">
              <a:buFont typeface="Arial" panose="020B0604020202020204" pitchFamily="34" charset="0"/>
              <a:buChar char="•"/>
            </a:pPr>
            <a:r>
              <a:rPr lang="en-US" sz="1700" dirty="0">
                <a:solidFill>
                  <a:srgbClr val="182230"/>
                </a:solidFill>
              </a:rPr>
              <a:t>PotentialFraud is a screening label — the model ranks risk; humans still investigate.</a:t>
            </a:r>
            <a:endParaRPr lang="en-US" sz="1700" dirty="0"/>
          </a:p>
        </p:txBody>
      </p:sp>
      <p:sp>
        <p:nvSpPr>
          <p:cNvPr id="16" name="Shape 13"/>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17" name="Text 14"/>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18" name="Text 15"/>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3</a:t>
            </a:r>
            <a:endParaRPr lang="en-US" sz="850" dirty="0"/>
          </a:p>
        </p:txBody>
      </p:sp>
      <p:sp>
        <p:nvSpPr>
          <p:cNvPr id="19" name="Shape 16"/>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Data assembly: from four tables to provider-level modeling</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The raw claims data is joined and aggregated into 40 provider features.</a:t>
            </a:r>
            <a:endParaRPr lang="en-US" sz="1020" dirty="0"/>
          </a:p>
        </p:txBody>
      </p:sp>
      <p:sp>
        <p:nvSpPr>
          <p:cNvPr id="5" name="Shape 3"/>
          <p:cNvSpPr/>
          <p:nvPr/>
        </p:nvSpPr>
        <p:spPr>
          <a:xfrm>
            <a:off x="2331720" y="2313432"/>
            <a:ext cx="685800" cy="0"/>
          </a:xfrm>
          <a:prstGeom prst="line">
            <a:avLst/>
          </a:prstGeom>
          <a:noFill/>
          <a:ln w="25400">
            <a:solidFill>
              <a:srgbClr val="CAD2DC"/>
            </a:solidFill>
            <a:prstDash val="solid"/>
            <a:tailEnd type="triangle"/>
          </a:ln>
        </p:spPr>
        <p:txBody>
          <a:bodyPr/>
          <a:lstStyle/>
          <a:p>
            <a:endParaRPr/>
          </a:p>
        </p:txBody>
      </p:sp>
      <p:sp>
        <p:nvSpPr>
          <p:cNvPr id="6" name="Shape 4"/>
          <p:cNvSpPr/>
          <p:nvPr/>
        </p:nvSpPr>
        <p:spPr>
          <a:xfrm>
            <a:off x="4754880" y="2313432"/>
            <a:ext cx="685800" cy="0"/>
          </a:xfrm>
          <a:prstGeom prst="line">
            <a:avLst/>
          </a:prstGeom>
          <a:noFill/>
          <a:ln w="25400">
            <a:solidFill>
              <a:srgbClr val="CAD2DC"/>
            </a:solidFill>
            <a:prstDash val="solid"/>
            <a:tailEnd type="triangle"/>
          </a:ln>
        </p:spPr>
        <p:txBody>
          <a:bodyPr/>
          <a:lstStyle/>
          <a:p>
            <a:endParaRPr/>
          </a:p>
        </p:txBody>
      </p:sp>
      <p:sp>
        <p:nvSpPr>
          <p:cNvPr id="7" name="Shape 5"/>
          <p:cNvSpPr/>
          <p:nvPr/>
        </p:nvSpPr>
        <p:spPr>
          <a:xfrm>
            <a:off x="7178040" y="2313432"/>
            <a:ext cx="685800" cy="0"/>
          </a:xfrm>
          <a:prstGeom prst="line">
            <a:avLst/>
          </a:prstGeom>
          <a:noFill/>
          <a:ln w="25400">
            <a:solidFill>
              <a:srgbClr val="CAD2DC"/>
            </a:solidFill>
            <a:prstDash val="solid"/>
            <a:tailEnd type="triangle"/>
          </a:ln>
        </p:spPr>
        <p:txBody>
          <a:bodyPr/>
          <a:lstStyle/>
          <a:p>
            <a:endParaRPr/>
          </a:p>
        </p:txBody>
      </p:sp>
      <p:sp>
        <p:nvSpPr>
          <p:cNvPr id="8" name="Shape 6"/>
          <p:cNvSpPr/>
          <p:nvPr/>
        </p:nvSpPr>
        <p:spPr>
          <a:xfrm>
            <a:off x="777240" y="1965960"/>
            <a:ext cx="1691640" cy="960120"/>
          </a:xfrm>
          <a:prstGeom prst="roundRect">
            <a:avLst>
              <a:gd name="adj" fmla="val 7619"/>
            </a:avLst>
          </a:prstGeom>
          <a:solidFill>
            <a:srgbClr val="FFFFFF"/>
          </a:solidFill>
          <a:ln w="19050">
            <a:solidFill>
              <a:srgbClr val="592C82"/>
            </a:solidFill>
            <a:prstDash val="solid"/>
          </a:ln>
        </p:spPr>
        <p:txBody>
          <a:bodyPr/>
          <a:lstStyle/>
          <a:p>
            <a:endParaRPr/>
          </a:p>
        </p:txBody>
      </p:sp>
      <p:sp>
        <p:nvSpPr>
          <p:cNvPr id="9" name="Text 7"/>
          <p:cNvSpPr/>
          <p:nvPr/>
        </p:nvSpPr>
        <p:spPr>
          <a:xfrm>
            <a:off x="868680" y="2093976"/>
            <a:ext cx="1508760" cy="246888"/>
          </a:xfrm>
          <a:prstGeom prst="rect">
            <a:avLst/>
          </a:prstGeom>
          <a:noFill/>
          <a:ln/>
        </p:spPr>
        <p:txBody>
          <a:bodyPr wrap="square" lIns="0" tIns="0" rIns="0" bIns="0" rtlCol="0" anchor="ctr"/>
          <a:lstStyle/>
          <a:p>
            <a:pPr marL="0" indent="0" algn="ctr">
              <a:buNone/>
            </a:pPr>
            <a:r>
              <a:rPr lang="en-US" sz="1400" b="1" dirty="0">
                <a:solidFill>
                  <a:srgbClr val="592C82"/>
                </a:solidFill>
              </a:rPr>
              <a:t>Labels</a:t>
            </a:r>
            <a:endParaRPr lang="en-US" sz="1400" dirty="0"/>
          </a:p>
        </p:txBody>
      </p:sp>
      <p:sp>
        <p:nvSpPr>
          <p:cNvPr id="10" name="Text 8"/>
          <p:cNvSpPr/>
          <p:nvPr/>
        </p:nvSpPr>
        <p:spPr>
          <a:xfrm>
            <a:off x="886968" y="2404872"/>
            <a:ext cx="1481328" cy="384048"/>
          </a:xfrm>
          <a:prstGeom prst="rect">
            <a:avLst/>
          </a:prstGeom>
          <a:noFill/>
          <a:ln/>
        </p:spPr>
        <p:txBody>
          <a:bodyPr wrap="square" lIns="0" tIns="0" rIns="0" bIns="0" rtlCol="0" anchor="ctr">
            <a:normAutofit/>
          </a:bodyPr>
          <a:lstStyle/>
          <a:p>
            <a:pPr marL="0" indent="0" algn="ctr">
              <a:buNone/>
            </a:pPr>
            <a:r>
              <a:rPr lang="en-US" sz="1050" dirty="0">
                <a:solidFill>
                  <a:srgbClr val="182230"/>
                </a:solidFill>
              </a:rPr>
              <a:t>PotentialFraud</a:t>
            </a:r>
            <a:endParaRPr lang="en-US" sz="1050" dirty="0"/>
          </a:p>
          <a:p>
            <a:pPr marL="0" indent="0" algn="ctr">
              <a:buNone/>
            </a:pPr>
            <a:r>
              <a:rPr lang="en-US" sz="1050" dirty="0">
                <a:solidFill>
                  <a:srgbClr val="182230"/>
                </a:solidFill>
              </a:rPr>
              <a:t>by Provider</a:t>
            </a:r>
            <a:endParaRPr lang="en-US" sz="1050" dirty="0"/>
          </a:p>
        </p:txBody>
      </p:sp>
      <p:sp>
        <p:nvSpPr>
          <p:cNvPr id="11" name="Shape 9"/>
          <p:cNvSpPr/>
          <p:nvPr/>
        </p:nvSpPr>
        <p:spPr>
          <a:xfrm>
            <a:off x="3383280" y="1965960"/>
            <a:ext cx="1691640" cy="960120"/>
          </a:xfrm>
          <a:prstGeom prst="roundRect">
            <a:avLst>
              <a:gd name="adj" fmla="val 7619"/>
            </a:avLst>
          </a:prstGeom>
          <a:solidFill>
            <a:srgbClr val="FFFFFF"/>
          </a:solidFill>
          <a:ln w="19050">
            <a:solidFill>
              <a:srgbClr val="1565C0"/>
            </a:solidFill>
            <a:prstDash val="solid"/>
          </a:ln>
        </p:spPr>
        <p:txBody>
          <a:bodyPr/>
          <a:lstStyle/>
          <a:p>
            <a:endParaRPr/>
          </a:p>
        </p:txBody>
      </p:sp>
      <p:sp>
        <p:nvSpPr>
          <p:cNvPr id="12" name="Text 10"/>
          <p:cNvSpPr/>
          <p:nvPr/>
        </p:nvSpPr>
        <p:spPr>
          <a:xfrm>
            <a:off x="3474720" y="2093976"/>
            <a:ext cx="1508760" cy="246888"/>
          </a:xfrm>
          <a:prstGeom prst="rect">
            <a:avLst/>
          </a:prstGeom>
          <a:noFill/>
          <a:ln/>
        </p:spPr>
        <p:txBody>
          <a:bodyPr wrap="square" lIns="0" tIns="0" rIns="0" bIns="0" rtlCol="0" anchor="ctr"/>
          <a:lstStyle/>
          <a:p>
            <a:pPr marL="0" indent="0" algn="ctr">
              <a:buNone/>
            </a:pPr>
            <a:r>
              <a:rPr lang="en-US" sz="1400" b="1" dirty="0">
                <a:solidFill>
                  <a:srgbClr val="1565C0"/>
                </a:solidFill>
              </a:rPr>
              <a:t>Claims</a:t>
            </a:r>
            <a:endParaRPr lang="en-US" sz="1400" dirty="0"/>
          </a:p>
        </p:txBody>
      </p:sp>
      <p:sp>
        <p:nvSpPr>
          <p:cNvPr id="13" name="Text 11"/>
          <p:cNvSpPr/>
          <p:nvPr/>
        </p:nvSpPr>
        <p:spPr>
          <a:xfrm>
            <a:off x="3493008" y="2404872"/>
            <a:ext cx="1481328" cy="384048"/>
          </a:xfrm>
          <a:prstGeom prst="rect">
            <a:avLst/>
          </a:prstGeom>
          <a:noFill/>
          <a:ln/>
        </p:spPr>
        <p:txBody>
          <a:bodyPr wrap="square" lIns="0" tIns="0" rIns="0" bIns="0" rtlCol="0" anchor="ctr">
            <a:normAutofit/>
          </a:bodyPr>
          <a:lstStyle/>
          <a:p>
            <a:pPr marL="0" indent="0" algn="ctr">
              <a:buNone/>
            </a:pPr>
            <a:r>
              <a:rPr lang="en-US" sz="1050" dirty="0">
                <a:solidFill>
                  <a:srgbClr val="182230"/>
                </a:solidFill>
              </a:rPr>
              <a:t>Inpatient +</a:t>
            </a:r>
            <a:endParaRPr lang="en-US" sz="1050" dirty="0"/>
          </a:p>
          <a:p>
            <a:pPr marL="0" indent="0" algn="ctr">
              <a:buNone/>
            </a:pPr>
            <a:r>
              <a:rPr lang="en-US" sz="1050" dirty="0">
                <a:solidFill>
                  <a:srgbClr val="182230"/>
                </a:solidFill>
              </a:rPr>
              <a:t>Outpatient</a:t>
            </a:r>
            <a:endParaRPr lang="en-US" sz="1050" dirty="0"/>
          </a:p>
        </p:txBody>
      </p:sp>
      <p:sp>
        <p:nvSpPr>
          <p:cNvPr id="14" name="Shape 12"/>
          <p:cNvSpPr/>
          <p:nvPr/>
        </p:nvSpPr>
        <p:spPr>
          <a:xfrm>
            <a:off x="5989320" y="1965960"/>
            <a:ext cx="1691640" cy="960120"/>
          </a:xfrm>
          <a:prstGeom prst="roundRect">
            <a:avLst>
              <a:gd name="adj" fmla="val 7619"/>
            </a:avLst>
          </a:prstGeom>
          <a:solidFill>
            <a:srgbClr val="FFFFFF"/>
          </a:solidFill>
          <a:ln w="19050">
            <a:solidFill>
              <a:srgbClr val="177E89"/>
            </a:solidFill>
            <a:prstDash val="solid"/>
          </a:ln>
        </p:spPr>
        <p:txBody>
          <a:bodyPr/>
          <a:lstStyle/>
          <a:p>
            <a:endParaRPr/>
          </a:p>
        </p:txBody>
      </p:sp>
      <p:sp>
        <p:nvSpPr>
          <p:cNvPr id="15" name="Text 13"/>
          <p:cNvSpPr/>
          <p:nvPr/>
        </p:nvSpPr>
        <p:spPr>
          <a:xfrm>
            <a:off x="6080760" y="2093976"/>
            <a:ext cx="1508760" cy="246888"/>
          </a:xfrm>
          <a:prstGeom prst="rect">
            <a:avLst/>
          </a:prstGeom>
          <a:noFill/>
          <a:ln/>
        </p:spPr>
        <p:txBody>
          <a:bodyPr wrap="square" lIns="0" tIns="0" rIns="0" bIns="0" rtlCol="0" anchor="ctr"/>
          <a:lstStyle/>
          <a:p>
            <a:pPr marL="0" indent="0" algn="ctr">
              <a:buNone/>
            </a:pPr>
            <a:r>
              <a:rPr lang="en-US" sz="1400" b="1" dirty="0">
                <a:solidFill>
                  <a:srgbClr val="177E89"/>
                </a:solidFill>
              </a:rPr>
              <a:t>Beneficiaries</a:t>
            </a:r>
            <a:endParaRPr lang="en-US" sz="1400" dirty="0"/>
          </a:p>
        </p:txBody>
      </p:sp>
      <p:sp>
        <p:nvSpPr>
          <p:cNvPr id="16" name="Text 14"/>
          <p:cNvSpPr/>
          <p:nvPr/>
        </p:nvSpPr>
        <p:spPr>
          <a:xfrm>
            <a:off x="6099048" y="2404872"/>
            <a:ext cx="1481328" cy="384048"/>
          </a:xfrm>
          <a:prstGeom prst="rect">
            <a:avLst/>
          </a:prstGeom>
          <a:noFill/>
          <a:ln/>
        </p:spPr>
        <p:txBody>
          <a:bodyPr wrap="square" lIns="0" tIns="0" rIns="0" bIns="0" rtlCol="0" anchor="ctr">
            <a:normAutofit/>
          </a:bodyPr>
          <a:lstStyle/>
          <a:p>
            <a:pPr marL="0" indent="0" algn="ctr">
              <a:buNone/>
            </a:pPr>
            <a:r>
              <a:rPr lang="en-US" sz="1050" dirty="0">
                <a:solidFill>
                  <a:srgbClr val="182230"/>
                </a:solidFill>
              </a:rPr>
              <a:t>Demographics +</a:t>
            </a:r>
            <a:endParaRPr lang="en-US" sz="1050" dirty="0"/>
          </a:p>
          <a:p>
            <a:pPr marL="0" indent="0" algn="ctr">
              <a:buNone/>
            </a:pPr>
            <a:r>
              <a:rPr lang="en-US" sz="1050" dirty="0">
                <a:solidFill>
                  <a:srgbClr val="182230"/>
                </a:solidFill>
              </a:rPr>
              <a:t>chronic flags</a:t>
            </a:r>
            <a:endParaRPr lang="en-US" sz="1050" dirty="0"/>
          </a:p>
        </p:txBody>
      </p:sp>
      <p:sp>
        <p:nvSpPr>
          <p:cNvPr id="17" name="Shape 15"/>
          <p:cNvSpPr/>
          <p:nvPr/>
        </p:nvSpPr>
        <p:spPr>
          <a:xfrm>
            <a:off x="8595360" y="1965960"/>
            <a:ext cx="1691640" cy="960120"/>
          </a:xfrm>
          <a:prstGeom prst="roundRect">
            <a:avLst>
              <a:gd name="adj" fmla="val 7619"/>
            </a:avLst>
          </a:prstGeom>
          <a:solidFill>
            <a:srgbClr val="FFFFFF"/>
          </a:solidFill>
          <a:ln w="19050">
            <a:solidFill>
              <a:srgbClr val="2E7D32"/>
            </a:solidFill>
            <a:prstDash val="solid"/>
          </a:ln>
        </p:spPr>
        <p:txBody>
          <a:bodyPr/>
          <a:lstStyle/>
          <a:p>
            <a:endParaRPr/>
          </a:p>
        </p:txBody>
      </p:sp>
      <p:sp>
        <p:nvSpPr>
          <p:cNvPr id="18" name="Text 16"/>
          <p:cNvSpPr/>
          <p:nvPr/>
        </p:nvSpPr>
        <p:spPr>
          <a:xfrm>
            <a:off x="8686800" y="2093976"/>
            <a:ext cx="1508760" cy="246888"/>
          </a:xfrm>
          <a:prstGeom prst="rect">
            <a:avLst/>
          </a:prstGeom>
          <a:noFill/>
          <a:ln/>
        </p:spPr>
        <p:txBody>
          <a:bodyPr wrap="square" lIns="0" tIns="0" rIns="0" bIns="0" rtlCol="0" anchor="ctr"/>
          <a:lstStyle/>
          <a:p>
            <a:pPr marL="0" indent="0" algn="ctr">
              <a:buNone/>
            </a:pPr>
            <a:r>
              <a:rPr lang="en-US" sz="1400" b="1" dirty="0">
                <a:solidFill>
                  <a:srgbClr val="2E7D32"/>
                </a:solidFill>
              </a:rPr>
              <a:t>Provider matrix</a:t>
            </a:r>
            <a:endParaRPr lang="en-US" sz="1400" dirty="0"/>
          </a:p>
        </p:txBody>
      </p:sp>
      <p:sp>
        <p:nvSpPr>
          <p:cNvPr id="19" name="Text 17"/>
          <p:cNvSpPr/>
          <p:nvPr/>
        </p:nvSpPr>
        <p:spPr>
          <a:xfrm>
            <a:off x="8705088" y="2404872"/>
            <a:ext cx="1481328" cy="384048"/>
          </a:xfrm>
          <a:prstGeom prst="rect">
            <a:avLst/>
          </a:prstGeom>
          <a:noFill/>
          <a:ln/>
        </p:spPr>
        <p:txBody>
          <a:bodyPr wrap="square" lIns="0" tIns="0" rIns="0" bIns="0" rtlCol="0" anchor="ctr">
            <a:normAutofit/>
          </a:bodyPr>
          <a:lstStyle/>
          <a:p>
            <a:pPr marL="0" indent="0" algn="ctr">
              <a:buNone/>
            </a:pPr>
            <a:r>
              <a:rPr lang="en-US" sz="1050" dirty="0">
                <a:solidFill>
                  <a:srgbClr val="182230"/>
                </a:solidFill>
              </a:rPr>
              <a:t>40 engineered</a:t>
            </a:r>
            <a:endParaRPr lang="en-US" sz="1050" dirty="0"/>
          </a:p>
          <a:p>
            <a:pPr marL="0" indent="0" algn="ctr">
              <a:buNone/>
            </a:pPr>
            <a:r>
              <a:rPr lang="en-US" sz="1050" dirty="0">
                <a:solidFill>
                  <a:srgbClr val="182230"/>
                </a:solidFill>
              </a:rPr>
              <a:t>features</a:t>
            </a:r>
            <a:endParaRPr lang="en-US" sz="1050" dirty="0"/>
          </a:p>
        </p:txBody>
      </p:sp>
      <p:sp>
        <p:nvSpPr>
          <p:cNvPr id="20" name="Shape 18"/>
          <p:cNvSpPr/>
          <p:nvPr/>
        </p:nvSpPr>
        <p:spPr>
          <a:xfrm>
            <a:off x="914400" y="3703320"/>
            <a:ext cx="10287000" cy="0"/>
          </a:xfrm>
          <a:prstGeom prst="line">
            <a:avLst/>
          </a:prstGeom>
          <a:noFill/>
          <a:ln w="6350">
            <a:solidFill>
              <a:srgbClr val="9AA5B1"/>
            </a:solidFill>
            <a:prstDash val="solid"/>
          </a:ln>
        </p:spPr>
        <p:txBody>
          <a:bodyPr/>
          <a:lstStyle/>
          <a:p>
            <a:endParaRPr/>
          </a:p>
        </p:txBody>
      </p:sp>
      <p:sp>
        <p:nvSpPr>
          <p:cNvPr id="21" name="Shape 19"/>
          <p:cNvSpPr/>
          <p:nvPr/>
        </p:nvSpPr>
        <p:spPr>
          <a:xfrm>
            <a:off x="914400" y="3995928"/>
            <a:ext cx="10287000" cy="0"/>
          </a:xfrm>
          <a:prstGeom prst="line">
            <a:avLst/>
          </a:prstGeom>
          <a:noFill/>
          <a:ln w="15240">
            <a:solidFill>
              <a:srgbClr val="592C82"/>
            </a:solidFill>
            <a:prstDash val="solid"/>
          </a:ln>
        </p:spPr>
        <p:txBody>
          <a:bodyPr/>
          <a:lstStyle/>
          <a:p>
            <a:endParaRPr/>
          </a:p>
        </p:txBody>
      </p:sp>
      <p:sp>
        <p:nvSpPr>
          <p:cNvPr id="22" name="Shape 20"/>
          <p:cNvSpPr/>
          <p:nvPr/>
        </p:nvSpPr>
        <p:spPr>
          <a:xfrm>
            <a:off x="914400" y="4288536"/>
            <a:ext cx="10287000" cy="0"/>
          </a:xfrm>
          <a:prstGeom prst="line">
            <a:avLst/>
          </a:prstGeom>
          <a:noFill/>
          <a:ln w="6350">
            <a:solidFill>
              <a:srgbClr val="9AA5B1"/>
            </a:solidFill>
            <a:prstDash val="solid"/>
          </a:ln>
        </p:spPr>
        <p:txBody>
          <a:bodyPr/>
          <a:lstStyle/>
          <a:p>
            <a:endParaRPr/>
          </a:p>
        </p:txBody>
      </p:sp>
      <p:sp>
        <p:nvSpPr>
          <p:cNvPr id="23" name="Shape 21"/>
          <p:cNvSpPr/>
          <p:nvPr/>
        </p:nvSpPr>
        <p:spPr>
          <a:xfrm>
            <a:off x="914400" y="4581144"/>
            <a:ext cx="10287000" cy="0"/>
          </a:xfrm>
          <a:prstGeom prst="line">
            <a:avLst/>
          </a:prstGeom>
          <a:noFill/>
          <a:ln w="6350">
            <a:solidFill>
              <a:srgbClr val="9AA5B1"/>
            </a:solidFill>
            <a:prstDash val="solid"/>
          </a:ln>
        </p:spPr>
        <p:txBody>
          <a:bodyPr/>
          <a:lstStyle/>
          <a:p>
            <a:endParaRPr/>
          </a:p>
        </p:txBody>
      </p:sp>
      <p:sp>
        <p:nvSpPr>
          <p:cNvPr id="24" name="Shape 22"/>
          <p:cNvSpPr/>
          <p:nvPr/>
        </p:nvSpPr>
        <p:spPr>
          <a:xfrm>
            <a:off x="914400" y="4873752"/>
            <a:ext cx="10287000" cy="0"/>
          </a:xfrm>
          <a:prstGeom prst="line">
            <a:avLst/>
          </a:prstGeom>
          <a:noFill/>
          <a:ln w="6350">
            <a:solidFill>
              <a:srgbClr val="9AA5B1"/>
            </a:solidFill>
            <a:prstDash val="solid"/>
          </a:ln>
        </p:spPr>
        <p:txBody>
          <a:bodyPr/>
          <a:lstStyle/>
          <a:p>
            <a:endParaRPr/>
          </a:p>
        </p:txBody>
      </p:sp>
      <p:sp>
        <p:nvSpPr>
          <p:cNvPr id="25" name="Shape 23"/>
          <p:cNvSpPr/>
          <p:nvPr/>
        </p:nvSpPr>
        <p:spPr>
          <a:xfrm>
            <a:off x="914400" y="5166360"/>
            <a:ext cx="10287000" cy="0"/>
          </a:xfrm>
          <a:prstGeom prst="line">
            <a:avLst/>
          </a:prstGeom>
          <a:noFill/>
          <a:ln w="6350">
            <a:solidFill>
              <a:srgbClr val="9AA5B1"/>
            </a:solidFill>
            <a:prstDash val="solid"/>
          </a:ln>
        </p:spPr>
        <p:txBody>
          <a:bodyPr/>
          <a:lstStyle/>
          <a:p>
            <a:endParaRPr/>
          </a:p>
        </p:txBody>
      </p:sp>
      <p:sp>
        <p:nvSpPr>
          <p:cNvPr id="26" name="Shape 24"/>
          <p:cNvSpPr/>
          <p:nvPr/>
        </p:nvSpPr>
        <p:spPr>
          <a:xfrm>
            <a:off x="914400" y="5458968"/>
            <a:ext cx="10287000" cy="0"/>
          </a:xfrm>
          <a:prstGeom prst="line">
            <a:avLst/>
          </a:prstGeom>
          <a:noFill/>
          <a:ln w="6350">
            <a:solidFill>
              <a:srgbClr val="9AA5B1"/>
            </a:solidFill>
            <a:prstDash val="solid"/>
          </a:ln>
        </p:spPr>
        <p:txBody>
          <a:bodyPr/>
          <a:lstStyle/>
          <a:p>
            <a:endParaRPr/>
          </a:p>
        </p:txBody>
      </p:sp>
      <p:sp>
        <p:nvSpPr>
          <p:cNvPr id="27" name="Shape 25"/>
          <p:cNvSpPr/>
          <p:nvPr/>
        </p:nvSpPr>
        <p:spPr>
          <a:xfrm>
            <a:off x="914400" y="3703320"/>
            <a:ext cx="0" cy="1755648"/>
          </a:xfrm>
          <a:prstGeom prst="line">
            <a:avLst/>
          </a:prstGeom>
          <a:noFill/>
          <a:ln w="6350">
            <a:solidFill>
              <a:srgbClr val="9AA5B1"/>
            </a:solidFill>
            <a:prstDash val="solid"/>
          </a:ln>
        </p:spPr>
        <p:txBody>
          <a:bodyPr/>
          <a:lstStyle/>
          <a:p>
            <a:endParaRPr/>
          </a:p>
        </p:txBody>
      </p:sp>
      <p:sp>
        <p:nvSpPr>
          <p:cNvPr id="28" name="Shape 26"/>
          <p:cNvSpPr/>
          <p:nvPr/>
        </p:nvSpPr>
        <p:spPr>
          <a:xfrm>
            <a:off x="3291840" y="3703320"/>
            <a:ext cx="0" cy="1755648"/>
          </a:xfrm>
          <a:prstGeom prst="line">
            <a:avLst/>
          </a:prstGeom>
          <a:noFill/>
          <a:ln w="6350">
            <a:solidFill>
              <a:srgbClr val="9AA5B1"/>
            </a:solidFill>
            <a:prstDash val="solid"/>
          </a:ln>
        </p:spPr>
        <p:txBody>
          <a:bodyPr/>
          <a:lstStyle/>
          <a:p>
            <a:endParaRPr/>
          </a:p>
        </p:txBody>
      </p:sp>
      <p:sp>
        <p:nvSpPr>
          <p:cNvPr id="29" name="Shape 27"/>
          <p:cNvSpPr/>
          <p:nvPr/>
        </p:nvSpPr>
        <p:spPr>
          <a:xfrm>
            <a:off x="5212080" y="3703320"/>
            <a:ext cx="0" cy="1755648"/>
          </a:xfrm>
          <a:prstGeom prst="line">
            <a:avLst/>
          </a:prstGeom>
          <a:noFill/>
          <a:ln w="6350">
            <a:solidFill>
              <a:srgbClr val="9AA5B1"/>
            </a:solidFill>
            <a:prstDash val="solid"/>
          </a:ln>
        </p:spPr>
        <p:txBody>
          <a:bodyPr/>
          <a:lstStyle/>
          <a:p>
            <a:endParaRPr/>
          </a:p>
        </p:txBody>
      </p:sp>
      <p:sp>
        <p:nvSpPr>
          <p:cNvPr id="30" name="Shape 28"/>
          <p:cNvSpPr/>
          <p:nvPr/>
        </p:nvSpPr>
        <p:spPr>
          <a:xfrm>
            <a:off x="11201400" y="3703320"/>
            <a:ext cx="0" cy="1755648"/>
          </a:xfrm>
          <a:prstGeom prst="line">
            <a:avLst/>
          </a:prstGeom>
          <a:noFill/>
          <a:ln w="6350">
            <a:solidFill>
              <a:srgbClr val="9AA5B1"/>
            </a:solidFill>
            <a:prstDash val="solid"/>
          </a:ln>
        </p:spPr>
        <p:txBody>
          <a:bodyPr/>
          <a:lstStyle/>
          <a:p>
            <a:endParaRPr/>
          </a:p>
        </p:txBody>
      </p:sp>
      <p:sp>
        <p:nvSpPr>
          <p:cNvPr id="31" name="Text 29"/>
          <p:cNvSpPr/>
          <p:nvPr/>
        </p:nvSpPr>
        <p:spPr>
          <a:xfrm>
            <a:off x="969264" y="3758184"/>
            <a:ext cx="2267712" cy="219456"/>
          </a:xfrm>
          <a:prstGeom prst="rect">
            <a:avLst/>
          </a:prstGeom>
          <a:noFill/>
          <a:ln/>
        </p:spPr>
        <p:txBody>
          <a:bodyPr wrap="square" lIns="0" tIns="0" rIns="0" bIns="0" rtlCol="0" anchor="ctr">
            <a:normAutofit/>
          </a:bodyPr>
          <a:lstStyle/>
          <a:p>
            <a:pPr marL="0" indent="0">
              <a:buNone/>
            </a:pPr>
            <a:r>
              <a:rPr lang="en-US" sz="1020" b="1" dirty="0">
                <a:solidFill>
                  <a:srgbClr val="592C82"/>
                </a:solidFill>
              </a:rPr>
              <a:t>Object</a:t>
            </a:r>
            <a:endParaRPr lang="en-US" sz="1020" dirty="0"/>
          </a:p>
        </p:txBody>
      </p:sp>
      <p:sp>
        <p:nvSpPr>
          <p:cNvPr id="32" name="Text 30"/>
          <p:cNvSpPr/>
          <p:nvPr/>
        </p:nvSpPr>
        <p:spPr>
          <a:xfrm>
            <a:off x="3346704" y="3758184"/>
            <a:ext cx="1810512" cy="219456"/>
          </a:xfrm>
          <a:prstGeom prst="rect">
            <a:avLst/>
          </a:prstGeom>
          <a:noFill/>
          <a:ln/>
        </p:spPr>
        <p:txBody>
          <a:bodyPr wrap="square" lIns="0" tIns="0" rIns="0" bIns="0" rtlCol="0" anchor="ctr">
            <a:normAutofit/>
          </a:bodyPr>
          <a:lstStyle/>
          <a:p>
            <a:pPr marL="0" indent="0">
              <a:buNone/>
            </a:pPr>
            <a:r>
              <a:rPr lang="en-US" sz="1020" b="1" dirty="0">
                <a:solidFill>
                  <a:srgbClr val="592C82"/>
                </a:solidFill>
              </a:rPr>
              <a:t>Count / Value</a:t>
            </a:r>
            <a:endParaRPr lang="en-US" sz="1020" dirty="0"/>
          </a:p>
        </p:txBody>
      </p:sp>
      <p:sp>
        <p:nvSpPr>
          <p:cNvPr id="33" name="Text 31"/>
          <p:cNvSpPr/>
          <p:nvPr/>
        </p:nvSpPr>
        <p:spPr>
          <a:xfrm>
            <a:off x="5266944" y="3758184"/>
            <a:ext cx="5879592" cy="219456"/>
          </a:xfrm>
          <a:prstGeom prst="rect">
            <a:avLst/>
          </a:prstGeom>
          <a:noFill/>
          <a:ln/>
        </p:spPr>
        <p:txBody>
          <a:bodyPr wrap="square" lIns="0" tIns="0" rIns="0" bIns="0" rtlCol="0" anchor="ctr">
            <a:normAutofit/>
          </a:bodyPr>
          <a:lstStyle/>
          <a:p>
            <a:pPr marL="0" indent="0">
              <a:buNone/>
            </a:pPr>
            <a:r>
              <a:rPr lang="en-US" sz="1020" b="1" dirty="0">
                <a:solidFill>
                  <a:srgbClr val="592C82"/>
                </a:solidFill>
              </a:rPr>
              <a:t>Why it matters</a:t>
            </a:r>
            <a:endParaRPr lang="en-US" sz="1020" dirty="0"/>
          </a:p>
        </p:txBody>
      </p:sp>
      <p:sp>
        <p:nvSpPr>
          <p:cNvPr id="34" name="Text 32"/>
          <p:cNvSpPr/>
          <p:nvPr/>
        </p:nvSpPr>
        <p:spPr>
          <a:xfrm>
            <a:off x="969264" y="4050792"/>
            <a:ext cx="22677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Combined claims</a:t>
            </a:r>
            <a:endParaRPr lang="en-US" sz="1020" dirty="0"/>
          </a:p>
        </p:txBody>
      </p:sp>
      <p:sp>
        <p:nvSpPr>
          <p:cNvPr id="35" name="Text 33"/>
          <p:cNvSpPr/>
          <p:nvPr/>
        </p:nvSpPr>
        <p:spPr>
          <a:xfrm>
            <a:off x="3346704" y="4050792"/>
            <a:ext cx="18105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558,211</a:t>
            </a:r>
            <a:endParaRPr lang="en-US" sz="1020" dirty="0"/>
          </a:p>
        </p:txBody>
      </p:sp>
      <p:sp>
        <p:nvSpPr>
          <p:cNvPr id="36" name="Text 34"/>
          <p:cNvSpPr/>
          <p:nvPr/>
        </p:nvSpPr>
        <p:spPr>
          <a:xfrm>
            <a:off x="5266944" y="4050792"/>
            <a:ext cx="587959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Raw events after stacking inpatient/outpatient</a:t>
            </a:r>
            <a:endParaRPr lang="en-US" sz="1020" dirty="0"/>
          </a:p>
        </p:txBody>
      </p:sp>
      <p:sp>
        <p:nvSpPr>
          <p:cNvPr id="37" name="Text 35"/>
          <p:cNvSpPr/>
          <p:nvPr/>
        </p:nvSpPr>
        <p:spPr>
          <a:xfrm>
            <a:off x="969264" y="4343400"/>
            <a:ext cx="22677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Provider labels</a:t>
            </a:r>
            <a:endParaRPr lang="en-US" sz="1020" dirty="0"/>
          </a:p>
        </p:txBody>
      </p:sp>
      <p:sp>
        <p:nvSpPr>
          <p:cNvPr id="38" name="Text 36"/>
          <p:cNvSpPr/>
          <p:nvPr/>
        </p:nvSpPr>
        <p:spPr>
          <a:xfrm>
            <a:off x="3346704" y="4343400"/>
            <a:ext cx="18105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5,410</a:t>
            </a:r>
            <a:endParaRPr lang="en-US" sz="1020" dirty="0"/>
          </a:p>
        </p:txBody>
      </p:sp>
      <p:sp>
        <p:nvSpPr>
          <p:cNvPr id="39" name="Text 37"/>
          <p:cNvSpPr/>
          <p:nvPr/>
        </p:nvSpPr>
        <p:spPr>
          <a:xfrm>
            <a:off x="5266944" y="4343400"/>
            <a:ext cx="587959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Final unit of prediction</a:t>
            </a:r>
            <a:endParaRPr lang="en-US" sz="1020" dirty="0"/>
          </a:p>
        </p:txBody>
      </p:sp>
      <p:sp>
        <p:nvSpPr>
          <p:cNvPr id="40" name="Text 38"/>
          <p:cNvSpPr/>
          <p:nvPr/>
        </p:nvSpPr>
        <p:spPr>
          <a:xfrm>
            <a:off x="969264" y="4636008"/>
            <a:ext cx="22677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Fraud providers</a:t>
            </a:r>
            <a:endParaRPr lang="en-US" sz="1020" dirty="0"/>
          </a:p>
        </p:txBody>
      </p:sp>
      <p:sp>
        <p:nvSpPr>
          <p:cNvPr id="41" name="Text 39"/>
          <p:cNvSpPr/>
          <p:nvPr/>
        </p:nvSpPr>
        <p:spPr>
          <a:xfrm>
            <a:off x="3346704" y="4636008"/>
            <a:ext cx="18105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506 (9.4%)</a:t>
            </a:r>
            <a:endParaRPr lang="en-US" sz="1020" dirty="0"/>
          </a:p>
        </p:txBody>
      </p:sp>
      <p:sp>
        <p:nvSpPr>
          <p:cNvPr id="42" name="Text 40"/>
          <p:cNvSpPr/>
          <p:nvPr/>
        </p:nvSpPr>
        <p:spPr>
          <a:xfrm>
            <a:off x="5266944" y="4636008"/>
            <a:ext cx="587959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Rare positive class</a:t>
            </a:r>
            <a:endParaRPr lang="en-US" sz="1020" dirty="0"/>
          </a:p>
        </p:txBody>
      </p:sp>
      <p:sp>
        <p:nvSpPr>
          <p:cNvPr id="43" name="Text 41"/>
          <p:cNvSpPr/>
          <p:nvPr/>
        </p:nvSpPr>
        <p:spPr>
          <a:xfrm>
            <a:off x="969264" y="4928616"/>
            <a:ext cx="22677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Test set</a:t>
            </a:r>
            <a:endParaRPr lang="en-US" sz="1020" dirty="0"/>
          </a:p>
        </p:txBody>
      </p:sp>
      <p:sp>
        <p:nvSpPr>
          <p:cNvPr id="44" name="Text 42"/>
          <p:cNvSpPr/>
          <p:nvPr/>
        </p:nvSpPr>
        <p:spPr>
          <a:xfrm>
            <a:off x="3346704" y="4928616"/>
            <a:ext cx="18105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1,623 providers</a:t>
            </a:r>
            <a:endParaRPr lang="en-US" sz="1020" dirty="0"/>
          </a:p>
        </p:txBody>
      </p:sp>
      <p:sp>
        <p:nvSpPr>
          <p:cNvPr id="45" name="Text 43"/>
          <p:cNvSpPr/>
          <p:nvPr/>
        </p:nvSpPr>
        <p:spPr>
          <a:xfrm>
            <a:off x="5266944" y="4928616"/>
            <a:ext cx="587959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Same held-out comparison set</a:t>
            </a:r>
            <a:endParaRPr lang="en-US" sz="1020" dirty="0"/>
          </a:p>
        </p:txBody>
      </p:sp>
      <p:sp>
        <p:nvSpPr>
          <p:cNvPr id="46" name="Text 44"/>
          <p:cNvSpPr/>
          <p:nvPr/>
        </p:nvSpPr>
        <p:spPr>
          <a:xfrm>
            <a:off x="969264" y="5221224"/>
            <a:ext cx="22677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Test fraud count</a:t>
            </a:r>
            <a:endParaRPr lang="en-US" sz="1020" dirty="0"/>
          </a:p>
        </p:txBody>
      </p:sp>
      <p:sp>
        <p:nvSpPr>
          <p:cNvPr id="47" name="Text 45"/>
          <p:cNvSpPr/>
          <p:nvPr/>
        </p:nvSpPr>
        <p:spPr>
          <a:xfrm>
            <a:off x="3346704" y="5221224"/>
            <a:ext cx="181051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152 providers</a:t>
            </a:r>
            <a:endParaRPr lang="en-US" sz="1020" dirty="0"/>
          </a:p>
        </p:txBody>
      </p:sp>
      <p:sp>
        <p:nvSpPr>
          <p:cNvPr id="48" name="Text 46"/>
          <p:cNvSpPr/>
          <p:nvPr/>
        </p:nvSpPr>
        <p:spPr>
          <a:xfrm>
            <a:off x="5266944" y="5221224"/>
            <a:ext cx="5879592" cy="219456"/>
          </a:xfrm>
          <a:prstGeom prst="rect">
            <a:avLst/>
          </a:prstGeom>
          <a:noFill/>
          <a:ln/>
        </p:spPr>
        <p:txBody>
          <a:bodyPr wrap="square" lIns="0" tIns="0" rIns="0" bIns="0" rtlCol="0" anchor="ctr">
            <a:normAutofit/>
          </a:bodyPr>
          <a:lstStyle/>
          <a:p>
            <a:pPr marL="0" indent="0">
              <a:buNone/>
            </a:pPr>
            <a:r>
              <a:rPr lang="en-US" sz="1020" dirty="0">
                <a:solidFill>
                  <a:srgbClr val="182230"/>
                </a:solidFill>
              </a:rPr>
              <a:t>Small enough to need uncertainty estimates</a:t>
            </a:r>
            <a:endParaRPr lang="en-US" sz="1020" dirty="0"/>
          </a:p>
        </p:txBody>
      </p:sp>
      <p:sp>
        <p:nvSpPr>
          <p:cNvPr id="49" name="Shape 47"/>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50" name="Text 48"/>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51" name="Text 49"/>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4</a:t>
            </a:r>
            <a:endParaRPr lang="en-US" sz="850" dirty="0"/>
          </a:p>
        </p:txBody>
      </p:sp>
      <p:sp>
        <p:nvSpPr>
          <p:cNvPr id="52" name="Shape 50"/>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Why the data is hard: mixed, sparse, and high-cardinality</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Raw diagnosis/procedure codes cannot be treated as ordinary continuous variables.</a:t>
            </a:r>
            <a:endParaRPr lang="en-US" sz="1020" dirty="0"/>
          </a:p>
        </p:txBody>
      </p:sp>
      <p:pic>
        <p:nvPicPr>
          <p:cNvPr id="5" name="Image 0" descr="/mnt/data/STAT790_GitHub_README_Current_Bundle/images/graph02_missing_value_rates.png"/>
          <p:cNvPicPr>
            <a:picLocks noChangeAspect="1"/>
          </p:cNvPicPr>
          <p:nvPr/>
        </p:nvPicPr>
        <p:blipFill>
          <a:blip r:embed="rId3"/>
          <a:stretch>
            <a:fillRect/>
          </a:stretch>
        </p:blipFill>
        <p:spPr>
          <a:xfrm>
            <a:off x="685063" y="1143000"/>
            <a:ext cx="4984955" cy="1828800"/>
          </a:xfrm>
          <a:prstGeom prst="rect">
            <a:avLst/>
          </a:prstGeom>
        </p:spPr>
      </p:pic>
      <p:sp>
        <p:nvSpPr>
          <p:cNvPr id="6" name="Shape 3"/>
          <p:cNvSpPr/>
          <p:nvPr/>
        </p:nvSpPr>
        <p:spPr>
          <a:xfrm>
            <a:off x="6263640" y="1161288"/>
            <a:ext cx="5074920" cy="0"/>
          </a:xfrm>
          <a:prstGeom prst="line">
            <a:avLst/>
          </a:prstGeom>
          <a:noFill/>
          <a:ln w="6350">
            <a:solidFill>
              <a:srgbClr val="9AA5B1"/>
            </a:solidFill>
            <a:prstDash val="solid"/>
          </a:ln>
        </p:spPr>
        <p:txBody>
          <a:bodyPr/>
          <a:lstStyle/>
          <a:p>
            <a:endParaRPr/>
          </a:p>
        </p:txBody>
      </p:sp>
      <p:sp>
        <p:nvSpPr>
          <p:cNvPr id="7" name="Shape 4"/>
          <p:cNvSpPr/>
          <p:nvPr/>
        </p:nvSpPr>
        <p:spPr>
          <a:xfrm>
            <a:off x="6263640" y="1481328"/>
            <a:ext cx="5074920" cy="0"/>
          </a:xfrm>
          <a:prstGeom prst="line">
            <a:avLst/>
          </a:prstGeom>
          <a:noFill/>
          <a:ln w="15240">
            <a:solidFill>
              <a:srgbClr val="592C82"/>
            </a:solidFill>
            <a:prstDash val="solid"/>
          </a:ln>
        </p:spPr>
        <p:txBody>
          <a:bodyPr/>
          <a:lstStyle/>
          <a:p>
            <a:endParaRPr/>
          </a:p>
        </p:txBody>
      </p:sp>
      <p:sp>
        <p:nvSpPr>
          <p:cNvPr id="8" name="Shape 5"/>
          <p:cNvSpPr/>
          <p:nvPr/>
        </p:nvSpPr>
        <p:spPr>
          <a:xfrm>
            <a:off x="6263640" y="1801368"/>
            <a:ext cx="5074920" cy="0"/>
          </a:xfrm>
          <a:prstGeom prst="line">
            <a:avLst/>
          </a:prstGeom>
          <a:noFill/>
          <a:ln w="6350">
            <a:solidFill>
              <a:srgbClr val="9AA5B1"/>
            </a:solidFill>
            <a:prstDash val="solid"/>
          </a:ln>
        </p:spPr>
        <p:txBody>
          <a:bodyPr/>
          <a:lstStyle/>
          <a:p>
            <a:endParaRPr/>
          </a:p>
        </p:txBody>
      </p:sp>
      <p:sp>
        <p:nvSpPr>
          <p:cNvPr id="9" name="Shape 6"/>
          <p:cNvSpPr/>
          <p:nvPr/>
        </p:nvSpPr>
        <p:spPr>
          <a:xfrm>
            <a:off x="6263640" y="2121408"/>
            <a:ext cx="5074920" cy="0"/>
          </a:xfrm>
          <a:prstGeom prst="line">
            <a:avLst/>
          </a:prstGeom>
          <a:noFill/>
          <a:ln w="6350">
            <a:solidFill>
              <a:srgbClr val="9AA5B1"/>
            </a:solidFill>
            <a:prstDash val="solid"/>
          </a:ln>
        </p:spPr>
        <p:txBody>
          <a:bodyPr/>
          <a:lstStyle/>
          <a:p>
            <a:endParaRPr/>
          </a:p>
        </p:txBody>
      </p:sp>
      <p:sp>
        <p:nvSpPr>
          <p:cNvPr id="10" name="Shape 7"/>
          <p:cNvSpPr/>
          <p:nvPr/>
        </p:nvSpPr>
        <p:spPr>
          <a:xfrm>
            <a:off x="6263640" y="2441448"/>
            <a:ext cx="5074920" cy="0"/>
          </a:xfrm>
          <a:prstGeom prst="line">
            <a:avLst/>
          </a:prstGeom>
          <a:noFill/>
          <a:ln w="6350">
            <a:solidFill>
              <a:srgbClr val="9AA5B1"/>
            </a:solidFill>
            <a:prstDash val="solid"/>
          </a:ln>
        </p:spPr>
        <p:txBody>
          <a:bodyPr/>
          <a:lstStyle/>
          <a:p>
            <a:endParaRPr/>
          </a:p>
        </p:txBody>
      </p:sp>
      <p:sp>
        <p:nvSpPr>
          <p:cNvPr id="11" name="Shape 8"/>
          <p:cNvSpPr/>
          <p:nvPr/>
        </p:nvSpPr>
        <p:spPr>
          <a:xfrm>
            <a:off x="6263640" y="2761488"/>
            <a:ext cx="5074920" cy="0"/>
          </a:xfrm>
          <a:prstGeom prst="line">
            <a:avLst/>
          </a:prstGeom>
          <a:noFill/>
          <a:ln w="6350">
            <a:solidFill>
              <a:srgbClr val="9AA5B1"/>
            </a:solidFill>
            <a:prstDash val="solid"/>
          </a:ln>
        </p:spPr>
        <p:txBody>
          <a:bodyPr/>
          <a:lstStyle/>
          <a:p>
            <a:endParaRPr/>
          </a:p>
        </p:txBody>
      </p:sp>
      <p:sp>
        <p:nvSpPr>
          <p:cNvPr id="12" name="Shape 9"/>
          <p:cNvSpPr/>
          <p:nvPr/>
        </p:nvSpPr>
        <p:spPr>
          <a:xfrm>
            <a:off x="6263640" y="1161288"/>
            <a:ext cx="0" cy="1600200"/>
          </a:xfrm>
          <a:prstGeom prst="line">
            <a:avLst/>
          </a:prstGeom>
          <a:noFill/>
          <a:ln w="6350">
            <a:solidFill>
              <a:srgbClr val="9AA5B1"/>
            </a:solidFill>
            <a:prstDash val="solid"/>
          </a:ln>
        </p:spPr>
        <p:txBody>
          <a:bodyPr/>
          <a:lstStyle/>
          <a:p>
            <a:endParaRPr/>
          </a:p>
        </p:txBody>
      </p:sp>
      <p:sp>
        <p:nvSpPr>
          <p:cNvPr id="13" name="Shape 10"/>
          <p:cNvSpPr/>
          <p:nvPr/>
        </p:nvSpPr>
        <p:spPr>
          <a:xfrm>
            <a:off x="7818120" y="1161288"/>
            <a:ext cx="0" cy="1600200"/>
          </a:xfrm>
          <a:prstGeom prst="line">
            <a:avLst/>
          </a:prstGeom>
          <a:noFill/>
          <a:ln w="6350">
            <a:solidFill>
              <a:srgbClr val="9AA5B1"/>
            </a:solidFill>
            <a:prstDash val="solid"/>
          </a:ln>
        </p:spPr>
        <p:txBody>
          <a:bodyPr/>
          <a:lstStyle/>
          <a:p>
            <a:endParaRPr/>
          </a:p>
        </p:txBody>
      </p:sp>
      <p:sp>
        <p:nvSpPr>
          <p:cNvPr id="14" name="Shape 11"/>
          <p:cNvSpPr/>
          <p:nvPr/>
        </p:nvSpPr>
        <p:spPr>
          <a:xfrm>
            <a:off x="8961120" y="1161288"/>
            <a:ext cx="0" cy="1600200"/>
          </a:xfrm>
          <a:prstGeom prst="line">
            <a:avLst/>
          </a:prstGeom>
          <a:noFill/>
          <a:ln w="6350">
            <a:solidFill>
              <a:srgbClr val="9AA5B1"/>
            </a:solidFill>
            <a:prstDash val="solid"/>
          </a:ln>
        </p:spPr>
        <p:txBody>
          <a:bodyPr/>
          <a:lstStyle/>
          <a:p>
            <a:endParaRPr/>
          </a:p>
        </p:txBody>
      </p:sp>
      <p:sp>
        <p:nvSpPr>
          <p:cNvPr id="15" name="Shape 12"/>
          <p:cNvSpPr/>
          <p:nvPr/>
        </p:nvSpPr>
        <p:spPr>
          <a:xfrm>
            <a:off x="11338560" y="1161288"/>
            <a:ext cx="0" cy="1600200"/>
          </a:xfrm>
          <a:prstGeom prst="line">
            <a:avLst/>
          </a:prstGeom>
          <a:noFill/>
          <a:ln w="6350">
            <a:solidFill>
              <a:srgbClr val="9AA5B1"/>
            </a:solidFill>
            <a:prstDash val="solid"/>
          </a:ln>
        </p:spPr>
        <p:txBody>
          <a:bodyPr/>
          <a:lstStyle/>
          <a:p>
            <a:endParaRPr/>
          </a:p>
        </p:txBody>
      </p:sp>
      <p:sp>
        <p:nvSpPr>
          <p:cNvPr id="16" name="Text 13"/>
          <p:cNvSpPr/>
          <p:nvPr/>
        </p:nvSpPr>
        <p:spPr>
          <a:xfrm>
            <a:off x="6318504" y="1216152"/>
            <a:ext cx="1444752" cy="246888"/>
          </a:xfrm>
          <a:prstGeom prst="rect">
            <a:avLst/>
          </a:prstGeom>
          <a:noFill/>
          <a:ln/>
        </p:spPr>
        <p:txBody>
          <a:bodyPr wrap="square" lIns="0" tIns="0" rIns="0" bIns="0" rtlCol="0" anchor="ctr">
            <a:normAutofit/>
          </a:bodyPr>
          <a:lstStyle/>
          <a:p>
            <a:pPr marL="0" indent="0">
              <a:buNone/>
            </a:pPr>
            <a:r>
              <a:rPr lang="en-US" sz="970" b="1" dirty="0">
                <a:solidFill>
                  <a:srgbClr val="592C82"/>
                </a:solidFill>
              </a:rPr>
              <a:t>Field</a:t>
            </a:r>
            <a:endParaRPr lang="en-US" sz="970" dirty="0"/>
          </a:p>
        </p:txBody>
      </p:sp>
      <p:sp>
        <p:nvSpPr>
          <p:cNvPr id="17" name="Text 14"/>
          <p:cNvSpPr/>
          <p:nvPr/>
        </p:nvSpPr>
        <p:spPr>
          <a:xfrm>
            <a:off x="7872984" y="1216152"/>
            <a:ext cx="1033272" cy="246888"/>
          </a:xfrm>
          <a:prstGeom prst="rect">
            <a:avLst/>
          </a:prstGeom>
          <a:noFill/>
          <a:ln/>
        </p:spPr>
        <p:txBody>
          <a:bodyPr wrap="square" lIns="0" tIns="0" rIns="0" bIns="0" rtlCol="0" anchor="ctr">
            <a:normAutofit/>
          </a:bodyPr>
          <a:lstStyle/>
          <a:p>
            <a:pPr marL="0" indent="0">
              <a:buNone/>
            </a:pPr>
            <a:r>
              <a:rPr lang="en-US" sz="970" b="1" dirty="0">
                <a:solidFill>
                  <a:srgbClr val="592C82"/>
                </a:solidFill>
              </a:rPr>
              <a:t>Unique values</a:t>
            </a:r>
            <a:endParaRPr lang="en-US" sz="970" dirty="0"/>
          </a:p>
        </p:txBody>
      </p:sp>
      <p:sp>
        <p:nvSpPr>
          <p:cNvPr id="18" name="Text 15"/>
          <p:cNvSpPr/>
          <p:nvPr/>
        </p:nvSpPr>
        <p:spPr>
          <a:xfrm>
            <a:off x="9015984" y="1216152"/>
            <a:ext cx="2267712" cy="246888"/>
          </a:xfrm>
          <a:prstGeom prst="rect">
            <a:avLst/>
          </a:prstGeom>
          <a:noFill/>
          <a:ln/>
        </p:spPr>
        <p:txBody>
          <a:bodyPr wrap="square" lIns="0" tIns="0" rIns="0" bIns="0" rtlCol="0" anchor="ctr">
            <a:normAutofit/>
          </a:bodyPr>
          <a:lstStyle/>
          <a:p>
            <a:pPr marL="0" indent="0">
              <a:buNone/>
            </a:pPr>
            <a:r>
              <a:rPr lang="en-US" sz="970" b="1" dirty="0">
                <a:solidFill>
                  <a:srgbClr val="592C82"/>
                </a:solidFill>
              </a:rPr>
              <a:t>Modeling issue</a:t>
            </a:r>
            <a:endParaRPr lang="en-US" sz="970" dirty="0"/>
          </a:p>
        </p:txBody>
      </p:sp>
      <p:sp>
        <p:nvSpPr>
          <p:cNvPr id="19" name="Text 16"/>
          <p:cNvSpPr/>
          <p:nvPr/>
        </p:nvSpPr>
        <p:spPr>
          <a:xfrm>
            <a:off x="6318504" y="1536192"/>
            <a:ext cx="144475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Primary diagnosis</a:t>
            </a:r>
            <a:endParaRPr lang="en-US" sz="970" dirty="0"/>
          </a:p>
        </p:txBody>
      </p:sp>
      <p:sp>
        <p:nvSpPr>
          <p:cNvPr id="20" name="Text 17"/>
          <p:cNvSpPr/>
          <p:nvPr/>
        </p:nvSpPr>
        <p:spPr>
          <a:xfrm>
            <a:off x="7872984" y="1536192"/>
            <a:ext cx="103327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10,450</a:t>
            </a:r>
            <a:endParaRPr lang="en-US" sz="970" dirty="0"/>
          </a:p>
        </p:txBody>
      </p:sp>
      <p:sp>
        <p:nvSpPr>
          <p:cNvPr id="21" name="Text 18"/>
          <p:cNvSpPr/>
          <p:nvPr/>
        </p:nvSpPr>
        <p:spPr>
          <a:xfrm>
            <a:off x="9015984" y="1536192"/>
            <a:ext cx="226771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Sparse if one-hot encoded</a:t>
            </a:r>
            <a:endParaRPr lang="en-US" sz="970" dirty="0"/>
          </a:p>
        </p:txBody>
      </p:sp>
      <p:sp>
        <p:nvSpPr>
          <p:cNvPr id="22" name="Text 19"/>
          <p:cNvSpPr/>
          <p:nvPr/>
        </p:nvSpPr>
        <p:spPr>
          <a:xfrm>
            <a:off x="6318504" y="1856232"/>
            <a:ext cx="144475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Secondary diagnosis</a:t>
            </a:r>
            <a:endParaRPr lang="en-US" sz="970" dirty="0"/>
          </a:p>
        </p:txBody>
      </p:sp>
      <p:sp>
        <p:nvSpPr>
          <p:cNvPr id="23" name="Text 20"/>
          <p:cNvSpPr/>
          <p:nvPr/>
        </p:nvSpPr>
        <p:spPr>
          <a:xfrm>
            <a:off x="7872984" y="1856232"/>
            <a:ext cx="103327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5,300</a:t>
            </a:r>
            <a:endParaRPr lang="en-US" sz="970" dirty="0"/>
          </a:p>
        </p:txBody>
      </p:sp>
      <p:sp>
        <p:nvSpPr>
          <p:cNvPr id="24" name="Text 21"/>
          <p:cNvSpPr/>
          <p:nvPr/>
        </p:nvSpPr>
        <p:spPr>
          <a:xfrm>
            <a:off x="9015984" y="1856232"/>
            <a:ext cx="226771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Adds mixed-data dimensionality</a:t>
            </a:r>
            <a:endParaRPr lang="en-US" sz="970" dirty="0"/>
          </a:p>
        </p:txBody>
      </p:sp>
      <p:sp>
        <p:nvSpPr>
          <p:cNvPr id="25" name="Text 22"/>
          <p:cNvSpPr/>
          <p:nvPr/>
        </p:nvSpPr>
        <p:spPr>
          <a:xfrm>
            <a:off x="6318504" y="2176272"/>
            <a:ext cx="144475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Procedure code 1</a:t>
            </a:r>
            <a:endParaRPr lang="en-US" sz="970" dirty="0"/>
          </a:p>
        </p:txBody>
      </p:sp>
      <p:sp>
        <p:nvSpPr>
          <p:cNvPr id="26" name="Text 23"/>
          <p:cNvSpPr/>
          <p:nvPr/>
        </p:nvSpPr>
        <p:spPr>
          <a:xfrm>
            <a:off x="7872984" y="2176272"/>
            <a:ext cx="103327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1,117</a:t>
            </a:r>
            <a:endParaRPr lang="en-US" sz="970" dirty="0"/>
          </a:p>
        </p:txBody>
      </p:sp>
      <p:sp>
        <p:nvSpPr>
          <p:cNvPr id="27" name="Text 24"/>
          <p:cNvSpPr/>
          <p:nvPr/>
        </p:nvSpPr>
        <p:spPr>
          <a:xfrm>
            <a:off x="9015984" y="2176272"/>
            <a:ext cx="226771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Large and heavily missing</a:t>
            </a:r>
            <a:endParaRPr lang="en-US" sz="970" dirty="0"/>
          </a:p>
        </p:txBody>
      </p:sp>
      <p:sp>
        <p:nvSpPr>
          <p:cNvPr id="28" name="Text 25"/>
          <p:cNvSpPr/>
          <p:nvPr/>
        </p:nvSpPr>
        <p:spPr>
          <a:xfrm>
            <a:off x="6318504" y="2496312"/>
            <a:ext cx="144475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State / County</a:t>
            </a:r>
            <a:endParaRPr lang="en-US" sz="970" dirty="0"/>
          </a:p>
        </p:txBody>
      </p:sp>
      <p:sp>
        <p:nvSpPr>
          <p:cNvPr id="29" name="Text 26"/>
          <p:cNvSpPr/>
          <p:nvPr/>
        </p:nvSpPr>
        <p:spPr>
          <a:xfrm>
            <a:off x="7872984" y="2496312"/>
            <a:ext cx="103327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52 / 314</a:t>
            </a:r>
            <a:endParaRPr lang="en-US" sz="970" dirty="0"/>
          </a:p>
        </p:txBody>
      </p:sp>
      <p:sp>
        <p:nvSpPr>
          <p:cNvPr id="30" name="Text 27"/>
          <p:cNvSpPr/>
          <p:nvPr/>
        </p:nvSpPr>
        <p:spPr>
          <a:xfrm>
            <a:off x="9015984" y="2496312"/>
            <a:ext cx="2267712" cy="246888"/>
          </a:xfrm>
          <a:prstGeom prst="rect">
            <a:avLst/>
          </a:prstGeom>
          <a:noFill/>
          <a:ln/>
        </p:spPr>
        <p:txBody>
          <a:bodyPr wrap="square" lIns="0" tIns="0" rIns="0" bIns="0" rtlCol="0" anchor="ctr">
            <a:normAutofit/>
          </a:bodyPr>
          <a:lstStyle/>
          <a:p>
            <a:pPr marL="0" indent="0">
              <a:buNone/>
            </a:pPr>
            <a:r>
              <a:rPr lang="en-US" sz="970" dirty="0">
                <a:solidFill>
                  <a:srgbClr val="182230"/>
                </a:solidFill>
              </a:rPr>
              <a:t>Geography proxies practice mix</a:t>
            </a:r>
            <a:endParaRPr lang="en-US" sz="970" dirty="0"/>
          </a:p>
        </p:txBody>
      </p:sp>
      <p:sp>
        <p:nvSpPr>
          <p:cNvPr id="31" name="Shape 28"/>
          <p:cNvSpPr/>
          <p:nvPr/>
        </p:nvSpPr>
        <p:spPr>
          <a:xfrm>
            <a:off x="914400" y="3520440"/>
            <a:ext cx="10287000" cy="731520"/>
          </a:xfrm>
          <a:prstGeom prst="roundRect">
            <a:avLst>
              <a:gd name="adj" fmla="val 15000"/>
            </a:avLst>
          </a:prstGeom>
          <a:solidFill>
            <a:srgbClr val="FFFFFF"/>
          </a:solidFill>
          <a:ln w="16510">
            <a:solidFill>
              <a:srgbClr val="592C82"/>
            </a:solidFill>
            <a:prstDash val="solid"/>
          </a:ln>
        </p:spPr>
        <p:txBody>
          <a:bodyPr/>
          <a:lstStyle/>
          <a:p>
            <a:endParaRPr/>
          </a:p>
        </p:txBody>
      </p:sp>
      <p:sp>
        <p:nvSpPr>
          <p:cNvPr id="32" name="Text 29"/>
          <p:cNvSpPr/>
          <p:nvPr/>
        </p:nvSpPr>
        <p:spPr>
          <a:xfrm>
            <a:off x="1024128" y="3630168"/>
            <a:ext cx="10067544" cy="512064"/>
          </a:xfrm>
          <a:prstGeom prst="rect">
            <a:avLst/>
          </a:prstGeom>
          <a:noFill/>
          <a:ln/>
        </p:spPr>
        <p:txBody>
          <a:bodyPr wrap="square" lIns="381" tIns="381" rIns="381" bIns="381" rtlCol="0" anchor="ctr">
            <a:normAutofit/>
          </a:bodyPr>
          <a:lstStyle/>
          <a:p>
            <a:pPr marL="0" indent="0">
              <a:buNone/>
            </a:pPr>
            <a:r>
              <a:rPr lang="en-US" sz="1600" b="1" dirty="0">
                <a:solidFill>
                  <a:srgbClr val="592C82"/>
                </a:solidFill>
              </a:rPr>
              <a:t>Key modeling decision: compress raw codes into provider behavior summaries, not thousands of sparse indicators.</a:t>
            </a:r>
            <a:endParaRPr lang="en-US" sz="1600" dirty="0"/>
          </a:p>
        </p:txBody>
      </p:sp>
      <p:sp>
        <p:nvSpPr>
          <p:cNvPr id="33" name="Text 30"/>
          <p:cNvSpPr/>
          <p:nvPr/>
        </p:nvSpPr>
        <p:spPr>
          <a:xfrm>
            <a:off x="960119" y="4617720"/>
            <a:ext cx="10515591" cy="1051560"/>
          </a:xfrm>
          <a:prstGeom prst="rect">
            <a:avLst/>
          </a:prstGeom>
          <a:noFill/>
          <a:ln/>
        </p:spPr>
        <p:txBody>
          <a:bodyPr wrap="square" lIns="635" tIns="635" rIns="635" bIns="635" rtlCol="0" anchor="ctr">
            <a:normAutofit fontScale="92500"/>
          </a:bodyPr>
          <a:lstStyle/>
          <a:p>
            <a:pPr marL="285750" indent="-285750">
              <a:buFont typeface="Arial" panose="020B0604020202020204" pitchFamily="34" charset="0"/>
              <a:buChar char="•"/>
            </a:pPr>
            <a:r>
              <a:rPr lang="en-US" sz="1550" dirty="0">
                <a:solidFill>
                  <a:srgbClr val="182230"/>
                </a:solidFill>
              </a:rPr>
              <a:t>Procedure-code missingness is structural: many claims simply do not have procedure slots filled.</a:t>
            </a:r>
            <a:endParaRPr lang="en-US" sz="1550" dirty="0"/>
          </a:p>
          <a:p>
            <a:pPr marL="285750" indent="-285750">
              <a:buFont typeface="Arial" panose="020B0604020202020204" pitchFamily="34" charset="0"/>
              <a:buChar char="•"/>
            </a:pPr>
            <a:r>
              <a:rPr lang="en-US" sz="1550" dirty="0">
                <a:solidFill>
                  <a:srgbClr val="182230"/>
                </a:solidFill>
              </a:rPr>
              <a:t>Classical distance and local-density methods struggle when scale, counts, proportions, and sparse code behavior are mixed.</a:t>
            </a:r>
            <a:endParaRPr lang="en-US" sz="1550" dirty="0"/>
          </a:p>
          <a:p>
            <a:pPr marL="285750" indent="-285750">
              <a:buFont typeface="Arial" panose="020B0604020202020204" pitchFamily="34" charset="0"/>
              <a:buChar char="•"/>
            </a:pPr>
            <a:r>
              <a:rPr lang="en-US" sz="1550" dirty="0">
                <a:solidFill>
                  <a:srgbClr val="182230"/>
                </a:solidFill>
              </a:rPr>
              <a:t>Provider-level aggregation turns messy categorical fields into interpretable signals: diversity, concentration, entropy, and volatility.</a:t>
            </a:r>
            <a:endParaRPr lang="en-US" sz="1550" dirty="0"/>
          </a:p>
        </p:txBody>
      </p:sp>
      <p:sp>
        <p:nvSpPr>
          <p:cNvPr id="34" name="Shape 31"/>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35" name="Text 32"/>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36" name="Text 33"/>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5</a:t>
            </a:r>
            <a:endParaRPr lang="en-US" sz="850" dirty="0"/>
          </a:p>
        </p:txBody>
      </p:sp>
      <p:sp>
        <p:nvSpPr>
          <p:cNvPr id="37" name="Shape 34"/>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EDA: fraud-labeled providers separate on volume, dollars, and diversity</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Fraud is not only rare — it is behaviorally different in the provider aggregates.</a:t>
            </a:r>
            <a:endParaRPr lang="en-US" sz="1020" dirty="0"/>
          </a:p>
        </p:txBody>
      </p:sp>
      <p:pic>
        <p:nvPicPr>
          <p:cNvPr id="5" name="Image 0" descr="/mnt/data/STAT790_GitHub_README_Current_Bundle/images/graph03_provider_feature_distributions.png"/>
          <p:cNvPicPr>
            <a:picLocks noChangeAspect="1"/>
          </p:cNvPicPr>
          <p:nvPr/>
        </p:nvPicPr>
        <p:blipFill>
          <a:blip r:embed="rId3"/>
          <a:stretch>
            <a:fillRect/>
          </a:stretch>
        </p:blipFill>
        <p:spPr>
          <a:xfrm>
            <a:off x="1863931" y="1051560"/>
            <a:ext cx="3038697" cy="2148840"/>
          </a:xfrm>
          <a:prstGeom prst="rect">
            <a:avLst/>
          </a:prstGeom>
        </p:spPr>
      </p:pic>
      <p:pic>
        <p:nvPicPr>
          <p:cNvPr id="6" name="Image 1" descr="/mnt/data/STAT790_GitHub_README_Current_Bundle/images/graph05_feature_correlation_heatmap.png"/>
          <p:cNvPicPr>
            <a:picLocks noChangeAspect="1"/>
          </p:cNvPicPr>
          <p:nvPr/>
        </p:nvPicPr>
        <p:blipFill>
          <a:blip r:embed="rId4"/>
          <a:stretch>
            <a:fillRect/>
          </a:stretch>
        </p:blipFill>
        <p:spPr>
          <a:xfrm>
            <a:off x="7427069" y="1051560"/>
            <a:ext cx="3022382" cy="2788920"/>
          </a:xfrm>
          <a:prstGeom prst="rect">
            <a:avLst/>
          </a:prstGeom>
        </p:spPr>
      </p:pic>
      <p:sp>
        <p:nvSpPr>
          <p:cNvPr id="7" name="Text 3"/>
          <p:cNvSpPr/>
          <p:nvPr/>
        </p:nvSpPr>
        <p:spPr>
          <a:xfrm>
            <a:off x="731520" y="4343400"/>
            <a:ext cx="10881360" cy="960120"/>
          </a:xfrm>
          <a:prstGeom prst="rect">
            <a:avLst/>
          </a:prstGeom>
          <a:noFill/>
          <a:ln/>
        </p:spPr>
        <p:txBody>
          <a:bodyPr wrap="square" lIns="635" tIns="635" rIns="635" bIns="635" rtlCol="0" anchor="ctr">
            <a:normAutofit/>
          </a:bodyPr>
          <a:lstStyle/>
          <a:p>
            <a:pPr marL="285750" indent="-285750">
              <a:buFont typeface="Arial" panose="020B0604020202020204" pitchFamily="34" charset="0"/>
              <a:buChar char="•"/>
            </a:pPr>
            <a:r>
              <a:rPr lang="en-US" sz="1550" dirty="0">
                <a:solidFill>
                  <a:srgbClr val="182230"/>
                </a:solidFill>
              </a:rPr>
              <a:t>Median legitimate provider: 27 claims and $15,055 reimbursement.</a:t>
            </a:r>
            <a:endParaRPr lang="en-US" sz="1550" dirty="0"/>
          </a:p>
          <a:p>
            <a:pPr marL="285750" indent="-285750">
              <a:buFont typeface="Arial" panose="020B0604020202020204" pitchFamily="34" charset="0"/>
              <a:buChar char="•"/>
            </a:pPr>
            <a:r>
              <a:rPr lang="en-US" sz="1550" dirty="0">
                <a:solidFill>
                  <a:srgbClr val="182230"/>
                </a:solidFill>
              </a:rPr>
              <a:t>Median fraud-labeled provider: 155.5 claims and $373,450 reimbursement.</a:t>
            </a:r>
            <a:endParaRPr lang="en-US" sz="1550" dirty="0"/>
          </a:p>
          <a:p>
            <a:pPr marL="285750" indent="-285750">
              <a:buFont typeface="Arial" panose="020B0604020202020204" pitchFamily="34" charset="0"/>
              <a:buChar char="•"/>
            </a:pPr>
            <a:r>
              <a:rPr lang="en-US" sz="1550" dirty="0">
                <a:solidFill>
                  <a:srgbClr val="182230"/>
                </a:solidFill>
              </a:rPr>
              <a:t>Top fraud-correlated features: TotalReimbursed, UniqueDiagnosisCodes, UniquePatients, TotalClaims.</a:t>
            </a:r>
            <a:endParaRPr lang="en-US" sz="1550" dirty="0"/>
          </a:p>
        </p:txBody>
      </p:sp>
      <p:sp>
        <p:nvSpPr>
          <p:cNvPr id="8" name="Shape 4"/>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9" name="Text 5"/>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10" name="Text 6"/>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6</a:t>
            </a:r>
            <a:endParaRPr lang="en-US" sz="850" dirty="0"/>
          </a:p>
        </p:txBody>
      </p:sp>
      <p:sp>
        <p:nvSpPr>
          <p:cNvPr id="11" name="Shape 7"/>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Feature engineering + evaluation design</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The same provider features and same test set make the comparison fair.</a:t>
            </a:r>
            <a:endParaRPr lang="en-US" sz="1020" dirty="0"/>
          </a:p>
        </p:txBody>
      </p:sp>
      <p:sp>
        <p:nvSpPr>
          <p:cNvPr id="5" name="Shape 3"/>
          <p:cNvSpPr/>
          <p:nvPr/>
        </p:nvSpPr>
        <p:spPr>
          <a:xfrm>
            <a:off x="777240" y="1234440"/>
            <a:ext cx="3246120" cy="621792"/>
          </a:xfrm>
          <a:prstGeom prst="roundRect">
            <a:avLst>
              <a:gd name="adj" fmla="val 11765"/>
            </a:avLst>
          </a:prstGeom>
          <a:solidFill>
            <a:srgbClr val="FFFFFF"/>
          </a:solidFill>
          <a:ln w="15240">
            <a:solidFill>
              <a:srgbClr val="592C82"/>
            </a:solidFill>
            <a:prstDash val="solid"/>
          </a:ln>
        </p:spPr>
        <p:txBody>
          <a:bodyPr/>
          <a:lstStyle/>
          <a:p>
            <a:endParaRPr/>
          </a:p>
        </p:txBody>
      </p:sp>
      <p:sp>
        <p:nvSpPr>
          <p:cNvPr id="6" name="Text 4"/>
          <p:cNvSpPr/>
          <p:nvPr/>
        </p:nvSpPr>
        <p:spPr>
          <a:xfrm>
            <a:off x="905256" y="1335024"/>
            <a:ext cx="2971800" cy="201168"/>
          </a:xfrm>
          <a:prstGeom prst="rect">
            <a:avLst/>
          </a:prstGeom>
          <a:noFill/>
          <a:ln/>
        </p:spPr>
        <p:txBody>
          <a:bodyPr wrap="square" lIns="0" tIns="0" rIns="0" bIns="0" rtlCol="0" anchor="ctr"/>
          <a:lstStyle/>
          <a:p>
            <a:pPr marL="0" indent="0">
              <a:buNone/>
            </a:pPr>
            <a:r>
              <a:rPr lang="en-US" sz="1300" b="1" dirty="0">
                <a:solidFill>
                  <a:srgbClr val="592C82"/>
                </a:solidFill>
              </a:rPr>
              <a:t>Billing behavior</a:t>
            </a:r>
            <a:endParaRPr lang="en-US" sz="1300" dirty="0"/>
          </a:p>
        </p:txBody>
      </p:sp>
      <p:sp>
        <p:nvSpPr>
          <p:cNvPr id="7" name="Text 5"/>
          <p:cNvSpPr/>
          <p:nvPr/>
        </p:nvSpPr>
        <p:spPr>
          <a:xfrm>
            <a:off x="905256" y="1572768"/>
            <a:ext cx="2971800" cy="173736"/>
          </a:xfrm>
          <a:prstGeom prst="rect">
            <a:avLst/>
          </a:prstGeom>
          <a:noFill/>
          <a:ln/>
        </p:spPr>
        <p:txBody>
          <a:bodyPr wrap="square" lIns="0" tIns="0" rIns="0" bIns="0" rtlCol="0" anchor="ctr">
            <a:normAutofit/>
          </a:bodyPr>
          <a:lstStyle/>
          <a:p>
            <a:pPr marL="0" indent="0">
              <a:buNone/>
            </a:pPr>
            <a:r>
              <a:rPr lang="en-US" sz="890" dirty="0">
                <a:solidFill>
                  <a:srgbClr val="5B6678"/>
                </a:solidFill>
              </a:rPr>
              <a:t>claims, reimbursement, deductibles, inpatient share</a:t>
            </a:r>
            <a:endParaRPr lang="en-US" sz="890" dirty="0"/>
          </a:p>
        </p:txBody>
      </p:sp>
      <p:sp>
        <p:nvSpPr>
          <p:cNvPr id="8" name="Shape 6"/>
          <p:cNvSpPr/>
          <p:nvPr/>
        </p:nvSpPr>
        <p:spPr>
          <a:xfrm>
            <a:off x="4526280" y="1234440"/>
            <a:ext cx="3246120" cy="621792"/>
          </a:xfrm>
          <a:prstGeom prst="roundRect">
            <a:avLst>
              <a:gd name="adj" fmla="val 11765"/>
            </a:avLst>
          </a:prstGeom>
          <a:solidFill>
            <a:srgbClr val="FFFFFF"/>
          </a:solidFill>
          <a:ln w="15240">
            <a:solidFill>
              <a:srgbClr val="1565C0"/>
            </a:solidFill>
            <a:prstDash val="solid"/>
          </a:ln>
        </p:spPr>
        <p:txBody>
          <a:bodyPr/>
          <a:lstStyle/>
          <a:p>
            <a:endParaRPr/>
          </a:p>
        </p:txBody>
      </p:sp>
      <p:sp>
        <p:nvSpPr>
          <p:cNvPr id="9" name="Text 7"/>
          <p:cNvSpPr/>
          <p:nvPr/>
        </p:nvSpPr>
        <p:spPr>
          <a:xfrm>
            <a:off x="4654296" y="1335024"/>
            <a:ext cx="2971800" cy="201168"/>
          </a:xfrm>
          <a:prstGeom prst="rect">
            <a:avLst/>
          </a:prstGeom>
          <a:noFill/>
          <a:ln/>
        </p:spPr>
        <p:txBody>
          <a:bodyPr wrap="square" lIns="0" tIns="0" rIns="0" bIns="0" rtlCol="0" anchor="ctr"/>
          <a:lstStyle/>
          <a:p>
            <a:pPr marL="0" indent="0">
              <a:buNone/>
            </a:pPr>
            <a:r>
              <a:rPr lang="en-US" sz="1300" b="1" dirty="0">
                <a:solidFill>
                  <a:srgbClr val="1565C0"/>
                </a:solidFill>
              </a:rPr>
              <a:t>Diagnosis patterns</a:t>
            </a:r>
            <a:endParaRPr lang="en-US" sz="1300" dirty="0"/>
          </a:p>
        </p:txBody>
      </p:sp>
      <p:sp>
        <p:nvSpPr>
          <p:cNvPr id="10" name="Text 8"/>
          <p:cNvSpPr/>
          <p:nvPr/>
        </p:nvSpPr>
        <p:spPr>
          <a:xfrm>
            <a:off x="4654296" y="1572768"/>
            <a:ext cx="2971800" cy="173736"/>
          </a:xfrm>
          <a:prstGeom prst="rect">
            <a:avLst/>
          </a:prstGeom>
          <a:noFill/>
          <a:ln/>
        </p:spPr>
        <p:txBody>
          <a:bodyPr wrap="square" lIns="0" tIns="0" rIns="0" bIns="0" rtlCol="0" anchor="ctr">
            <a:normAutofit/>
          </a:bodyPr>
          <a:lstStyle/>
          <a:p>
            <a:pPr marL="0" indent="0">
              <a:buNone/>
            </a:pPr>
            <a:r>
              <a:rPr lang="en-US" sz="890" dirty="0">
                <a:solidFill>
                  <a:srgbClr val="5B6678"/>
                </a:solidFill>
              </a:rPr>
              <a:t>unique codes, concentration, entropy</a:t>
            </a:r>
            <a:endParaRPr lang="en-US" sz="890" dirty="0"/>
          </a:p>
        </p:txBody>
      </p:sp>
      <p:sp>
        <p:nvSpPr>
          <p:cNvPr id="11" name="Shape 9"/>
          <p:cNvSpPr/>
          <p:nvPr/>
        </p:nvSpPr>
        <p:spPr>
          <a:xfrm>
            <a:off x="8275320" y="1234440"/>
            <a:ext cx="3246120" cy="621792"/>
          </a:xfrm>
          <a:prstGeom prst="roundRect">
            <a:avLst>
              <a:gd name="adj" fmla="val 11765"/>
            </a:avLst>
          </a:prstGeom>
          <a:solidFill>
            <a:srgbClr val="FFFFFF"/>
          </a:solidFill>
          <a:ln w="15240">
            <a:solidFill>
              <a:srgbClr val="177E89"/>
            </a:solidFill>
            <a:prstDash val="solid"/>
          </a:ln>
        </p:spPr>
        <p:txBody>
          <a:bodyPr/>
          <a:lstStyle/>
          <a:p>
            <a:endParaRPr/>
          </a:p>
        </p:txBody>
      </p:sp>
      <p:sp>
        <p:nvSpPr>
          <p:cNvPr id="12" name="Text 10"/>
          <p:cNvSpPr/>
          <p:nvPr/>
        </p:nvSpPr>
        <p:spPr>
          <a:xfrm>
            <a:off x="8403336" y="1335024"/>
            <a:ext cx="2971800" cy="201168"/>
          </a:xfrm>
          <a:prstGeom prst="rect">
            <a:avLst/>
          </a:prstGeom>
          <a:noFill/>
          <a:ln/>
        </p:spPr>
        <p:txBody>
          <a:bodyPr wrap="square" lIns="0" tIns="0" rIns="0" bIns="0" rtlCol="0" anchor="ctr"/>
          <a:lstStyle/>
          <a:p>
            <a:pPr marL="0" indent="0">
              <a:buNone/>
            </a:pPr>
            <a:r>
              <a:rPr lang="en-US" sz="1300" b="1" dirty="0">
                <a:solidFill>
                  <a:srgbClr val="177E89"/>
                </a:solidFill>
              </a:rPr>
              <a:t>Physician network</a:t>
            </a:r>
            <a:endParaRPr lang="en-US" sz="1300" dirty="0"/>
          </a:p>
        </p:txBody>
      </p:sp>
      <p:sp>
        <p:nvSpPr>
          <p:cNvPr id="13" name="Text 11"/>
          <p:cNvSpPr/>
          <p:nvPr/>
        </p:nvSpPr>
        <p:spPr>
          <a:xfrm>
            <a:off x="8403336" y="1572768"/>
            <a:ext cx="2971800" cy="173736"/>
          </a:xfrm>
          <a:prstGeom prst="rect">
            <a:avLst/>
          </a:prstGeom>
          <a:noFill/>
          <a:ln/>
        </p:spPr>
        <p:txBody>
          <a:bodyPr wrap="square" lIns="0" tIns="0" rIns="0" bIns="0" rtlCol="0" anchor="ctr">
            <a:normAutofit/>
          </a:bodyPr>
          <a:lstStyle/>
          <a:p>
            <a:pPr marL="0" indent="0">
              <a:buNone/>
            </a:pPr>
            <a:r>
              <a:rPr lang="en-US" sz="890" dirty="0">
                <a:solidFill>
                  <a:srgbClr val="5B6678"/>
                </a:solidFill>
              </a:rPr>
              <a:t>unique physicians, claims per physician</a:t>
            </a:r>
            <a:endParaRPr lang="en-US" sz="890" dirty="0"/>
          </a:p>
        </p:txBody>
      </p:sp>
      <p:sp>
        <p:nvSpPr>
          <p:cNvPr id="14" name="Shape 12"/>
          <p:cNvSpPr/>
          <p:nvPr/>
        </p:nvSpPr>
        <p:spPr>
          <a:xfrm>
            <a:off x="777240" y="2148840"/>
            <a:ext cx="3246120" cy="621792"/>
          </a:xfrm>
          <a:prstGeom prst="roundRect">
            <a:avLst>
              <a:gd name="adj" fmla="val 11765"/>
            </a:avLst>
          </a:prstGeom>
          <a:solidFill>
            <a:srgbClr val="FFFFFF"/>
          </a:solidFill>
          <a:ln w="15240">
            <a:solidFill>
              <a:srgbClr val="2E7D32"/>
            </a:solidFill>
            <a:prstDash val="solid"/>
          </a:ln>
        </p:spPr>
        <p:txBody>
          <a:bodyPr/>
          <a:lstStyle/>
          <a:p>
            <a:endParaRPr/>
          </a:p>
        </p:txBody>
      </p:sp>
      <p:sp>
        <p:nvSpPr>
          <p:cNvPr id="15" name="Text 13"/>
          <p:cNvSpPr/>
          <p:nvPr/>
        </p:nvSpPr>
        <p:spPr>
          <a:xfrm>
            <a:off x="905256" y="2249424"/>
            <a:ext cx="2971800" cy="201168"/>
          </a:xfrm>
          <a:prstGeom prst="rect">
            <a:avLst/>
          </a:prstGeom>
          <a:noFill/>
          <a:ln/>
        </p:spPr>
        <p:txBody>
          <a:bodyPr wrap="square" lIns="0" tIns="0" rIns="0" bIns="0" rtlCol="0" anchor="ctr"/>
          <a:lstStyle/>
          <a:p>
            <a:pPr marL="0" indent="0">
              <a:buNone/>
            </a:pPr>
            <a:r>
              <a:rPr lang="en-US" sz="1300" b="1" dirty="0">
                <a:solidFill>
                  <a:srgbClr val="2E7D32"/>
                </a:solidFill>
              </a:rPr>
              <a:t>Patient mix</a:t>
            </a:r>
            <a:endParaRPr lang="en-US" sz="1300" dirty="0"/>
          </a:p>
        </p:txBody>
      </p:sp>
      <p:sp>
        <p:nvSpPr>
          <p:cNvPr id="16" name="Text 14"/>
          <p:cNvSpPr/>
          <p:nvPr/>
        </p:nvSpPr>
        <p:spPr>
          <a:xfrm>
            <a:off x="905256" y="2487168"/>
            <a:ext cx="2971800" cy="173736"/>
          </a:xfrm>
          <a:prstGeom prst="rect">
            <a:avLst/>
          </a:prstGeom>
          <a:noFill/>
          <a:ln/>
        </p:spPr>
        <p:txBody>
          <a:bodyPr wrap="square" lIns="0" tIns="0" rIns="0" bIns="0" rtlCol="0" anchor="ctr">
            <a:normAutofit/>
          </a:bodyPr>
          <a:lstStyle/>
          <a:p>
            <a:pPr marL="0" indent="0">
              <a:buNone/>
            </a:pPr>
            <a:r>
              <a:rPr lang="en-US" sz="890" dirty="0">
                <a:solidFill>
                  <a:srgbClr val="5B6678"/>
                </a:solidFill>
              </a:rPr>
              <a:t>age, gender, renal, chronic conditions</a:t>
            </a:r>
            <a:endParaRPr lang="en-US" sz="890" dirty="0"/>
          </a:p>
        </p:txBody>
      </p:sp>
      <p:sp>
        <p:nvSpPr>
          <p:cNvPr id="17" name="Shape 15"/>
          <p:cNvSpPr/>
          <p:nvPr/>
        </p:nvSpPr>
        <p:spPr>
          <a:xfrm>
            <a:off x="4526280" y="2148840"/>
            <a:ext cx="3246120" cy="621792"/>
          </a:xfrm>
          <a:prstGeom prst="roundRect">
            <a:avLst>
              <a:gd name="adj" fmla="val 11765"/>
            </a:avLst>
          </a:prstGeom>
          <a:solidFill>
            <a:srgbClr val="FFFFFF"/>
          </a:solidFill>
          <a:ln w="15240">
            <a:solidFill>
              <a:srgbClr val="EF6C00"/>
            </a:solidFill>
            <a:prstDash val="solid"/>
          </a:ln>
        </p:spPr>
        <p:txBody>
          <a:bodyPr/>
          <a:lstStyle/>
          <a:p>
            <a:endParaRPr/>
          </a:p>
        </p:txBody>
      </p:sp>
      <p:sp>
        <p:nvSpPr>
          <p:cNvPr id="18" name="Text 16"/>
          <p:cNvSpPr/>
          <p:nvPr/>
        </p:nvSpPr>
        <p:spPr>
          <a:xfrm>
            <a:off x="4654296" y="2249424"/>
            <a:ext cx="2971800" cy="201168"/>
          </a:xfrm>
          <a:prstGeom prst="rect">
            <a:avLst/>
          </a:prstGeom>
          <a:noFill/>
          <a:ln/>
        </p:spPr>
        <p:txBody>
          <a:bodyPr wrap="square" lIns="0" tIns="0" rIns="0" bIns="0" rtlCol="0" anchor="ctr"/>
          <a:lstStyle/>
          <a:p>
            <a:pPr marL="0" indent="0">
              <a:buNone/>
            </a:pPr>
            <a:r>
              <a:rPr lang="en-US" sz="1300" b="1" dirty="0">
                <a:solidFill>
                  <a:srgbClr val="EF6C00"/>
                </a:solidFill>
              </a:rPr>
              <a:t>Temporal volatility</a:t>
            </a:r>
            <a:endParaRPr lang="en-US" sz="1300" dirty="0"/>
          </a:p>
        </p:txBody>
      </p:sp>
      <p:sp>
        <p:nvSpPr>
          <p:cNvPr id="19" name="Text 17"/>
          <p:cNvSpPr/>
          <p:nvPr/>
        </p:nvSpPr>
        <p:spPr>
          <a:xfrm>
            <a:off x="4654296" y="2487168"/>
            <a:ext cx="2971800" cy="173736"/>
          </a:xfrm>
          <a:prstGeom prst="rect">
            <a:avLst/>
          </a:prstGeom>
          <a:noFill/>
          <a:ln/>
        </p:spPr>
        <p:txBody>
          <a:bodyPr wrap="square" lIns="0" tIns="0" rIns="0" bIns="0" rtlCol="0" anchor="ctr">
            <a:normAutofit/>
          </a:bodyPr>
          <a:lstStyle/>
          <a:p>
            <a:pPr marL="0" indent="0">
              <a:buNone/>
            </a:pPr>
            <a:r>
              <a:rPr lang="en-US" sz="890" dirty="0">
                <a:solidFill>
                  <a:srgbClr val="5B6678"/>
                </a:solidFill>
              </a:rPr>
              <a:t>months active, jumps, billing volatility</a:t>
            </a:r>
            <a:endParaRPr lang="en-US" sz="890" dirty="0"/>
          </a:p>
        </p:txBody>
      </p:sp>
      <p:pic>
        <p:nvPicPr>
          <p:cNvPr id="20" name="Image 0" descr="/mnt/data/STAT790_GitHub_README_Current_Bundle/images/graph08_smote_training_balance.png"/>
          <p:cNvPicPr>
            <a:picLocks noChangeAspect="1"/>
          </p:cNvPicPr>
          <p:nvPr/>
        </p:nvPicPr>
        <p:blipFill>
          <a:blip r:embed="rId3"/>
          <a:stretch>
            <a:fillRect/>
          </a:stretch>
        </p:blipFill>
        <p:spPr>
          <a:xfrm>
            <a:off x="6492240" y="3271763"/>
            <a:ext cx="4937760" cy="1640355"/>
          </a:xfrm>
          <a:prstGeom prst="rect">
            <a:avLst/>
          </a:prstGeom>
        </p:spPr>
      </p:pic>
      <p:sp>
        <p:nvSpPr>
          <p:cNvPr id="21" name="Shape 18"/>
          <p:cNvSpPr/>
          <p:nvPr/>
        </p:nvSpPr>
        <p:spPr>
          <a:xfrm>
            <a:off x="868680" y="3383280"/>
            <a:ext cx="5120640" cy="868680"/>
          </a:xfrm>
          <a:prstGeom prst="roundRect">
            <a:avLst>
              <a:gd name="adj" fmla="val 12632"/>
            </a:avLst>
          </a:prstGeom>
          <a:solidFill>
            <a:srgbClr val="FFFFFF"/>
          </a:solidFill>
          <a:ln w="16510">
            <a:solidFill>
              <a:srgbClr val="592C82"/>
            </a:solidFill>
            <a:prstDash val="solid"/>
          </a:ln>
        </p:spPr>
        <p:txBody>
          <a:bodyPr/>
          <a:lstStyle/>
          <a:p>
            <a:endParaRPr/>
          </a:p>
        </p:txBody>
      </p:sp>
      <p:sp>
        <p:nvSpPr>
          <p:cNvPr id="22" name="Text 19"/>
          <p:cNvSpPr/>
          <p:nvPr/>
        </p:nvSpPr>
        <p:spPr>
          <a:xfrm>
            <a:off x="978408" y="3493008"/>
            <a:ext cx="4901184" cy="649224"/>
          </a:xfrm>
          <a:prstGeom prst="rect">
            <a:avLst/>
          </a:prstGeom>
          <a:noFill/>
          <a:ln/>
        </p:spPr>
        <p:txBody>
          <a:bodyPr wrap="square" lIns="381" tIns="381" rIns="381" bIns="381" rtlCol="0" anchor="ctr">
            <a:normAutofit/>
          </a:bodyPr>
          <a:lstStyle/>
          <a:p>
            <a:pPr marL="0" indent="0">
              <a:buNone/>
            </a:pPr>
            <a:r>
              <a:rPr lang="en-US" sz="1500" b="1" dirty="0">
                <a:solidFill>
                  <a:srgbClr val="592C82"/>
                </a:solidFill>
              </a:rPr>
              <a:t>Train/test discipline: split first, fit preprocessing on train, keep the 30% test set untouched.</a:t>
            </a:r>
            <a:endParaRPr lang="en-US" sz="1500" dirty="0"/>
          </a:p>
        </p:txBody>
      </p:sp>
      <p:sp>
        <p:nvSpPr>
          <p:cNvPr id="23" name="Text 20"/>
          <p:cNvSpPr/>
          <p:nvPr/>
        </p:nvSpPr>
        <p:spPr>
          <a:xfrm>
            <a:off x="868679" y="4526280"/>
            <a:ext cx="6506341" cy="1051560"/>
          </a:xfrm>
          <a:prstGeom prst="rect">
            <a:avLst/>
          </a:prstGeom>
          <a:noFill/>
          <a:ln/>
        </p:spPr>
        <p:txBody>
          <a:bodyPr wrap="square" lIns="635" tIns="635" rIns="635" bIns="635" rtlCol="0" anchor="ctr">
            <a:normAutofit/>
          </a:bodyPr>
          <a:lstStyle/>
          <a:p>
            <a:pPr marL="285750" indent="-285750">
              <a:buFont typeface="Arial" panose="020B0604020202020204" pitchFamily="34" charset="0"/>
              <a:buChar char="•"/>
            </a:pPr>
            <a:r>
              <a:rPr lang="en-US" sz="1450" dirty="0">
                <a:solidFill>
                  <a:srgbClr val="182230"/>
                </a:solidFill>
              </a:rPr>
              <a:t>Unsupervised: labels used only for evaluation, not training.</a:t>
            </a:r>
            <a:endParaRPr lang="en-US" sz="1450" dirty="0"/>
          </a:p>
          <a:p>
            <a:pPr marL="285750" indent="-285750">
              <a:buFont typeface="Arial" panose="020B0604020202020204" pitchFamily="34" charset="0"/>
              <a:buChar char="•"/>
            </a:pPr>
            <a:r>
              <a:rPr lang="en-US" sz="1450" dirty="0">
                <a:solidFill>
                  <a:srgbClr val="182230"/>
                </a:solidFill>
              </a:rPr>
              <a:t>Supervised: SMOTE applied only to the training set.</a:t>
            </a:r>
            <a:endParaRPr lang="en-US" sz="1450" dirty="0"/>
          </a:p>
          <a:p>
            <a:pPr marL="285750" indent="-285750">
              <a:buFont typeface="Arial" panose="020B0604020202020204" pitchFamily="34" charset="0"/>
              <a:buChar char="•"/>
            </a:pPr>
            <a:r>
              <a:rPr lang="en-US" sz="1450" dirty="0">
                <a:solidFill>
                  <a:srgbClr val="182230"/>
                </a:solidFill>
              </a:rPr>
              <a:t>Metrics: ROC-AUC, PR-AUC, precision/recall/F1, bootstrap CIs, and ROI.</a:t>
            </a:r>
            <a:endParaRPr lang="en-US" sz="1450" dirty="0"/>
          </a:p>
        </p:txBody>
      </p:sp>
      <p:sp>
        <p:nvSpPr>
          <p:cNvPr id="24" name="Shape 21"/>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25" name="Text 22"/>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26" name="Text 23"/>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7</a:t>
            </a:r>
            <a:endParaRPr lang="en-US" sz="850" dirty="0"/>
          </a:p>
        </p:txBody>
      </p:sp>
      <p:sp>
        <p:nvSpPr>
          <p:cNvPr id="27" name="Shape 24"/>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Scenario 1: unsupervised models solve the cold start</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Use these before confirmed fraud labels exist.</a:t>
            </a:r>
            <a:endParaRPr lang="en-US" sz="1020" dirty="0"/>
          </a:p>
        </p:txBody>
      </p:sp>
      <p:sp>
        <p:nvSpPr>
          <p:cNvPr id="5" name="Shape 3"/>
          <p:cNvSpPr/>
          <p:nvPr/>
        </p:nvSpPr>
        <p:spPr>
          <a:xfrm>
            <a:off x="731520" y="1143000"/>
            <a:ext cx="10744200" cy="685800"/>
          </a:xfrm>
          <a:prstGeom prst="roundRect">
            <a:avLst>
              <a:gd name="adj" fmla="val 16000"/>
            </a:avLst>
          </a:prstGeom>
          <a:solidFill>
            <a:srgbClr val="FFFFFF"/>
          </a:solidFill>
          <a:ln w="16510">
            <a:solidFill>
              <a:srgbClr val="1565C0"/>
            </a:solidFill>
            <a:prstDash val="solid"/>
          </a:ln>
        </p:spPr>
        <p:txBody>
          <a:bodyPr/>
          <a:lstStyle/>
          <a:p>
            <a:endParaRPr/>
          </a:p>
        </p:txBody>
      </p:sp>
      <p:sp>
        <p:nvSpPr>
          <p:cNvPr id="6" name="Text 4"/>
          <p:cNvSpPr/>
          <p:nvPr/>
        </p:nvSpPr>
        <p:spPr>
          <a:xfrm>
            <a:off x="841248" y="1252728"/>
            <a:ext cx="10524744" cy="466344"/>
          </a:xfrm>
          <a:prstGeom prst="rect">
            <a:avLst/>
          </a:prstGeom>
          <a:noFill/>
          <a:ln/>
        </p:spPr>
        <p:txBody>
          <a:bodyPr wrap="square" lIns="381" tIns="381" rIns="381" bIns="381" rtlCol="0" anchor="ctr">
            <a:normAutofit/>
          </a:bodyPr>
          <a:lstStyle/>
          <a:p>
            <a:pPr marL="0" indent="0">
              <a:buNone/>
            </a:pPr>
            <a:r>
              <a:rPr lang="en-US" sz="1700" b="1" dirty="0">
                <a:solidFill>
                  <a:srgbClr val="1565C0"/>
                </a:solidFill>
              </a:rPr>
              <a:t>Operational condition: no reliable adjudicated labels yet, but you need an investigation queue now.</a:t>
            </a:r>
            <a:endParaRPr lang="en-US" sz="1700" dirty="0"/>
          </a:p>
        </p:txBody>
      </p:sp>
      <p:sp>
        <p:nvSpPr>
          <p:cNvPr id="7" name="Shape 5"/>
          <p:cNvSpPr/>
          <p:nvPr/>
        </p:nvSpPr>
        <p:spPr>
          <a:xfrm>
            <a:off x="777240" y="2240280"/>
            <a:ext cx="10744200" cy="0"/>
          </a:xfrm>
          <a:prstGeom prst="line">
            <a:avLst/>
          </a:prstGeom>
          <a:noFill/>
          <a:ln w="6350">
            <a:solidFill>
              <a:srgbClr val="9AA5B1"/>
            </a:solidFill>
            <a:prstDash val="solid"/>
          </a:ln>
        </p:spPr>
        <p:txBody>
          <a:bodyPr/>
          <a:lstStyle/>
          <a:p>
            <a:endParaRPr/>
          </a:p>
        </p:txBody>
      </p:sp>
      <p:sp>
        <p:nvSpPr>
          <p:cNvPr id="8" name="Shape 6"/>
          <p:cNvSpPr/>
          <p:nvPr/>
        </p:nvSpPr>
        <p:spPr>
          <a:xfrm>
            <a:off x="777240" y="2633472"/>
            <a:ext cx="10744200" cy="0"/>
          </a:xfrm>
          <a:prstGeom prst="line">
            <a:avLst/>
          </a:prstGeom>
          <a:noFill/>
          <a:ln w="15240">
            <a:solidFill>
              <a:srgbClr val="592C82"/>
            </a:solidFill>
            <a:prstDash val="solid"/>
          </a:ln>
        </p:spPr>
        <p:txBody>
          <a:bodyPr/>
          <a:lstStyle/>
          <a:p>
            <a:endParaRPr/>
          </a:p>
        </p:txBody>
      </p:sp>
      <p:sp>
        <p:nvSpPr>
          <p:cNvPr id="9" name="Shape 7"/>
          <p:cNvSpPr/>
          <p:nvPr/>
        </p:nvSpPr>
        <p:spPr>
          <a:xfrm>
            <a:off x="777240" y="3026664"/>
            <a:ext cx="10744200" cy="0"/>
          </a:xfrm>
          <a:prstGeom prst="line">
            <a:avLst/>
          </a:prstGeom>
          <a:noFill/>
          <a:ln w="6350">
            <a:solidFill>
              <a:srgbClr val="9AA5B1"/>
            </a:solidFill>
            <a:prstDash val="solid"/>
          </a:ln>
        </p:spPr>
        <p:txBody>
          <a:bodyPr/>
          <a:lstStyle/>
          <a:p>
            <a:endParaRPr/>
          </a:p>
        </p:txBody>
      </p:sp>
      <p:sp>
        <p:nvSpPr>
          <p:cNvPr id="10" name="Shape 8"/>
          <p:cNvSpPr/>
          <p:nvPr/>
        </p:nvSpPr>
        <p:spPr>
          <a:xfrm>
            <a:off x="777240" y="3419856"/>
            <a:ext cx="10744200" cy="0"/>
          </a:xfrm>
          <a:prstGeom prst="line">
            <a:avLst/>
          </a:prstGeom>
          <a:noFill/>
          <a:ln w="6350">
            <a:solidFill>
              <a:srgbClr val="9AA5B1"/>
            </a:solidFill>
            <a:prstDash val="solid"/>
          </a:ln>
        </p:spPr>
        <p:txBody>
          <a:bodyPr/>
          <a:lstStyle/>
          <a:p>
            <a:endParaRPr/>
          </a:p>
        </p:txBody>
      </p:sp>
      <p:sp>
        <p:nvSpPr>
          <p:cNvPr id="11" name="Shape 9"/>
          <p:cNvSpPr/>
          <p:nvPr/>
        </p:nvSpPr>
        <p:spPr>
          <a:xfrm>
            <a:off x="777240" y="3813048"/>
            <a:ext cx="10744200" cy="0"/>
          </a:xfrm>
          <a:prstGeom prst="line">
            <a:avLst/>
          </a:prstGeom>
          <a:noFill/>
          <a:ln w="6350">
            <a:solidFill>
              <a:srgbClr val="9AA5B1"/>
            </a:solidFill>
            <a:prstDash val="solid"/>
          </a:ln>
        </p:spPr>
        <p:txBody>
          <a:bodyPr/>
          <a:lstStyle/>
          <a:p>
            <a:endParaRPr/>
          </a:p>
        </p:txBody>
      </p:sp>
      <p:sp>
        <p:nvSpPr>
          <p:cNvPr id="12" name="Shape 10"/>
          <p:cNvSpPr/>
          <p:nvPr/>
        </p:nvSpPr>
        <p:spPr>
          <a:xfrm>
            <a:off x="777240" y="4206240"/>
            <a:ext cx="10744200" cy="0"/>
          </a:xfrm>
          <a:prstGeom prst="line">
            <a:avLst/>
          </a:prstGeom>
          <a:noFill/>
          <a:ln w="6350">
            <a:solidFill>
              <a:srgbClr val="9AA5B1"/>
            </a:solidFill>
            <a:prstDash val="solid"/>
          </a:ln>
        </p:spPr>
        <p:txBody>
          <a:bodyPr/>
          <a:lstStyle/>
          <a:p>
            <a:endParaRPr/>
          </a:p>
        </p:txBody>
      </p:sp>
      <p:sp>
        <p:nvSpPr>
          <p:cNvPr id="13" name="Shape 11"/>
          <p:cNvSpPr/>
          <p:nvPr/>
        </p:nvSpPr>
        <p:spPr>
          <a:xfrm>
            <a:off x="777240" y="2240280"/>
            <a:ext cx="0" cy="1965960"/>
          </a:xfrm>
          <a:prstGeom prst="line">
            <a:avLst/>
          </a:prstGeom>
          <a:noFill/>
          <a:ln w="6350">
            <a:solidFill>
              <a:srgbClr val="9AA5B1"/>
            </a:solidFill>
            <a:prstDash val="solid"/>
          </a:ln>
        </p:spPr>
        <p:txBody>
          <a:bodyPr/>
          <a:lstStyle/>
          <a:p>
            <a:endParaRPr/>
          </a:p>
        </p:txBody>
      </p:sp>
      <p:sp>
        <p:nvSpPr>
          <p:cNvPr id="14" name="Shape 12"/>
          <p:cNvSpPr/>
          <p:nvPr/>
        </p:nvSpPr>
        <p:spPr>
          <a:xfrm>
            <a:off x="2743200" y="2240280"/>
            <a:ext cx="0" cy="1965960"/>
          </a:xfrm>
          <a:prstGeom prst="line">
            <a:avLst/>
          </a:prstGeom>
          <a:noFill/>
          <a:ln w="6350">
            <a:solidFill>
              <a:srgbClr val="9AA5B1"/>
            </a:solidFill>
            <a:prstDash val="solid"/>
          </a:ln>
        </p:spPr>
        <p:txBody>
          <a:bodyPr/>
          <a:lstStyle/>
          <a:p>
            <a:endParaRPr/>
          </a:p>
        </p:txBody>
      </p:sp>
      <p:sp>
        <p:nvSpPr>
          <p:cNvPr id="15" name="Shape 13"/>
          <p:cNvSpPr/>
          <p:nvPr/>
        </p:nvSpPr>
        <p:spPr>
          <a:xfrm>
            <a:off x="6583680" y="2240280"/>
            <a:ext cx="0" cy="1965960"/>
          </a:xfrm>
          <a:prstGeom prst="line">
            <a:avLst/>
          </a:prstGeom>
          <a:noFill/>
          <a:ln w="6350">
            <a:solidFill>
              <a:srgbClr val="9AA5B1"/>
            </a:solidFill>
            <a:prstDash val="solid"/>
          </a:ln>
        </p:spPr>
        <p:txBody>
          <a:bodyPr/>
          <a:lstStyle/>
          <a:p>
            <a:endParaRPr/>
          </a:p>
        </p:txBody>
      </p:sp>
      <p:sp>
        <p:nvSpPr>
          <p:cNvPr id="16" name="Shape 14"/>
          <p:cNvSpPr/>
          <p:nvPr/>
        </p:nvSpPr>
        <p:spPr>
          <a:xfrm>
            <a:off x="11521440" y="2240280"/>
            <a:ext cx="0" cy="1965960"/>
          </a:xfrm>
          <a:prstGeom prst="line">
            <a:avLst/>
          </a:prstGeom>
          <a:noFill/>
          <a:ln w="6350">
            <a:solidFill>
              <a:srgbClr val="9AA5B1"/>
            </a:solidFill>
            <a:prstDash val="solid"/>
          </a:ln>
        </p:spPr>
        <p:txBody>
          <a:bodyPr/>
          <a:lstStyle/>
          <a:p>
            <a:endParaRPr/>
          </a:p>
        </p:txBody>
      </p:sp>
      <p:sp>
        <p:nvSpPr>
          <p:cNvPr id="17" name="Text 15"/>
          <p:cNvSpPr/>
          <p:nvPr/>
        </p:nvSpPr>
        <p:spPr>
          <a:xfrm>
            <a:off x="832104" y="2295144"/>
            <a:ext cx="1856232" cy="320040"/>
          </a:xfrm>
          <a:prstGeom prst="rect">
            <a:avLst/>
          </a:prstGeom>
          <a:noFill/>
          <a:ln/>
        </p:spPr>
        <p:txBody>
          <a:bodyPr wrap="square" lIns="0" tIns="0" rIns="0" bIns="0" rtlCol="0" anchor="ctr">
            <a:normAutofit/>
          </a:bodyPr>
          <a:lstStyle/>
          <a:p>
            <a:pPr marL="0" indent="0">
              <a:buNone/>
            </a:pPr>
            <a:r>
              <a:rPr lang="en-US" sz="1020" b="1" dirty="0">
                <a:solidFill>
                  <a:srgbClr val="592C82"/>
                </a:solidFill>
              </a:rPr>
              <a:t>Model</a:t>
            </a:r>
            <a:endParaRPr lang="en-US" sz="1020" dirty="0"/>
          </a:p>
        </p:txBody>
      </p:sp>
      <p:sp>
        <p:nvSpPr>
          <p:cNvPr id="18" name="Text 16"/>
          <p:cNvSpPr/>
          <p:nvPr/>
        </p:nvSpPr>
        <p:spPr>
          <a:xfrm>
            <a:off x="2798064" y="2295144"/>
            <a:ext cx="3730752" cy="320040"/>
          </a:xfrm>
          <a:prstGeom prst="rect">
            <a:avLst/>
          </a:prstGeom>
          <a:noFill/>
          <a:ln/>
        </p:spPr>
        <p:txBody>
          <a:bodyPr wrap="square" lIns="0" tIns="0" rIns="0" bIns="0" rtlCol="0" anchor="ctr">
            <a:normAutofit/>
          </a:bodyPr>
          <a:lstStyle/>
          <a:p>
            <a:pPr marL="0" indent="0">
              <a:buNone/>
            </a:pPr>
            <a:r>
              <a:rPr lang="en-US" sz="1020" b="1" dirty="0">
                <a:solidFill>
                  <a:srgbClr val="592C82"/>
                </a:solidFill>
              </a:rPr>
              <a:t>How it scores risk</a:t>
            </a:r>
            <a:endParaRPr lang="en-US" sz="1020" dirty="0"/>
          </a:p>
        </p:txBody>
      </p:sp>
      <p:sp>
        <p:nvSpPr>
          <p:cNvPr id="19" name="Text 17"/>
          <p:cNvSpPr/>
          <p:nvPr/>
        </p:nvSpPr>
        <p:spPr>
          <a:xfrm>
            <a:off x="6638544" y="2295144"/>
            <a:ext cx="4828032" cy="320040"/>
          </a:xfrm>
          <a:prstGeom prst="rect">
            <a:avLst/>
          </a:prstGeom>
          <a:noFill/>
          <a:ln/>
        </p:spPr>
        <p:txBody>
          <a:bodyPr wrap="square" lIns="0" tIns="0" rIns="0" bIns="0" rtlCol="0" anchor="ctr">
            <a:normAutofit/>
          </a:bodyPr>
          <a:lstStyle/>
          <a:p>
            <a:pPr marL="0" indent="0">
              <a:buNone/>
            </a:pPr>
            <a:r>
              <a:rPr lang="en-US" sz="1020" b="1" dirty="0">
                <a:solidFill>
                  <a:srgbClr val="592C82"/>
                </a:solidFill>
              </a:rPr>
              <a:t>Best use condition</a:t>
            </a:r>
            <a:endParaRPr lang="en-US" sz="1020" dirty="0"/>
          </a:p>
        </p:txBody>
      </p:sp>
      <p:sp>
        <p:nvSpPr>
          <p:cNvPr id="20" name="Text 18"/>
          <p:cNvSpPr/>
          <p:nvPr/>
        </p:nvSpPr>
        <p:spPr>
          <a:xfrm>
            <a:off x="832104" y="2688336"/>
            <a:ext cx="18562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Isolation Forest</a:t>
            </a:r>
            <a:endParaRPr lang="en-US" sz="1020" dirty="0"/>
          </a:p>
        </p:txBody>
      </p:sp>
      <p:sp>
        <p:nvSpPr>
          <p:cNvPr id="21" name="Text 19"/>
          <p:cNvSpPr/>
          <p:nvPr/>
        </p:nvSpPr>
        <p:spPr>
          <a:xfrm>
            <a:off x="2798064" y="2688336"/>
            <a:ext cx="373075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How quickly random splits isolate a provider</a:t>
            </a:r>
            <a:endParaRPr lang="en-US" sz="1020" dirty="0"/>
          </a:p>
        </p:txBody>
      </p:sp>
      <p:sp>
        <p:nvSpPr>
          <p:cNvPr id="22" name="Text 20"/>
          <p:cNvSpPr/>
          <p:nvPr/>
        </p:nvSpPr>
        <p:spPr>
          <a:xfrm>
            <a:off x="6638544" y="2688336"/>
            <a:ext cx="48280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Fast, simple cold-start baseline; threshold can be theory-based</a:t>
            </a:r>
            <a:endParaRPr lang="en-US" sz="1020" dirty="0"/>
          </a:p>
        </p:txBody>
      </p:sp>
      <p:sp>
        <p:nvSpPr>
          <p:cNvPr id="23" name="Text 21"/>
          <p:cNvSpPr/>
          <p:nvPr/>
        </p:nvSpPr>
        <p:spPr>
          <a:xfrm>
            <a:off x="832104" y="3081528"/>
            <a:ext cx="18562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Autoencoder</a:t>
            </a:r>
            <a:endParaRPr lang="en-US" sz="1020" dirty="0"/>
          </a:p>
        </p:txBody>
      </p:sp>
      <p:sp>
        <p:nvSpPr>
          <p:cNvPr id="24" name="Text 22"/>
          <p:cNvSpPr/>
          <p:nvPr/>
        </p:nvSpPr>
        <p:spPr>
          <a:xfrm>
            <a:off x="2798064" y="3081528"/>
            <a:ext cx="373075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Reconstruction error from learned normal behavior</a:t>
            </a:r>
            <a:endParaRPr lang="en-US" sz="1020" dirty="0"/>
          </a:p>
        </p:txBody>
      </p:sp>
      <p:sp>
        <p:nvSpPr>
          <p:cNvPr id="25" name="Text 23"/>
          <p:cNvSpPr/>
          <p:nvPr/>
        </p:nvSpPr>
        <p:spPr>
          <a:xfrm>
            <a:off x="6638544" y="3081528"/>
            <a:ext cx="48280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Best cold-start ranker when non-linear feature interactions matter</a:t>
            </a:r>
            <a:endParaRPr lang="en-US" sz="1020" dirty="0"/>
          </a:p>
        </p:txBody>
      </p:sp>
      <p:sp>
        <p:nvSpPr>
          <p:cNvPr id="26" name="Text 24"/>
          <p:cNvSpPr/>
          <p:nvPr/>
        </p:nvSpPr>
        <p:spPr>
          <a:xfrm>
            <a:off x="832104" y="3474720"/>
            <a:ext cx="18562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VAE</a:t>
            </a:r>
            <a:endParaRPr lang="en-US" sz="1020" dirty="0"/>
          </a:p>
        </p:txBody>
      </p:sp>
      <p:sp>
        <p:nvSpPr>
          <p:cNvPr id="27" name="Text 25"/>
          <p:cNvSpPr/>
          <p:nvPr/>
        </p:nvSpPr>
        <p:spPr>
          <a:xfrm>
            <a:off x="2798064" y="3474720"/>
            <a:ext cx="373075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Reconstruction + probabilistic latent regularization</a:t>
            </a:r>
            <a:endParaRPr lang="en-US" sz="1020" dirty="0"/>
          </a:p>
        </p:txBody>
      </p:sp>
      <p:sp>
        <p:nvSpPr>
          <p:cNvPr id="28" name="Text 26"/>
          <p:cNvSpPr/>
          <p:nvPr/>
        </p:nvSpPr>
        <p:spPr>
          <a:xfrm>
            <a:off x="6638544" y="3474720"/>
            <a:ext cx="48280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Less effective here; useful if generative latent structure matters</a:t>
            </a:r>
            <a:endParaRPr lang="en-US" sz="1020" dirty="0"/>
          </a:p>
        </p:txBody>
      </p:sp>
      <p:sp>
        <p:nvSpPr>
          <p:cNvPr id="29" name="Text 27"/>
          <p:cNvSpPr/>
          <p:nvPr/>
        </p:nvSpPr>
        <p:spPr>
          <a:xfrm>
            <a:off x="832104" y="3867912"/>
            <a:ext cx="18562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LOF</a:t>
            </a:r>
            <a:endParaRPr lang="en-US" sz="1020" dirty="0"/>
          </a:p>
        </p:txBody>
      </p:sp>
      <p:sp>
        <p:nvSpPr>
          <p:cNvPr id="30" name="Text 28"/>
          <p:cNvSpPr/>
          <p:nvPr/>
        </p:nvSpPr>
        <p:spPr>
          <a:xfrm>
            <a:off x="2798064" y="3867912"/>
            <a:ext cx="373075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Sparse local neighborhoods</a:t>
            </a:r>
            <a:endParaRPr lang="en-US" sz="1020" dirty="0"/>
          </a:p>
        </p:txBody>
      </p:sp>
      <p:sp>
        <p:nvSpPr>
          <p:cNvPr id="31" name="Text 29"/>
          <p:cNvSpPr/>
          <p:nvPr/>
        </p:nvSpPr>
        <p:spPr>
          <a:xfrm>
            <a:off x="6638544" y="3867912"/>
            <a:ext cx="4828032" cy="320040"/>
          </a:xfrm>
          <a:prstGeom prst="rect">
            <a:avLst/>
          </a:prstGeom>
          <a:noFill/>
          <a:ln/>
        </p:spPr>
        <p:txBody>
          <a:bodyPr wrap="square" lIns="0" tIns="0" rIns="0" bIns="0" rtlCol="0" anchor="ctr">
            <a:normAutofit/>
          </a:bodyPr>
          <a:lstStyle/>
          <a:p>
            <a:pPr marL="0" indent="0">
              <a:buNone/>
            </a:pPr>
            <a:r>
              <a:rPr lang="en-US" sz="1020" dirty="0">
                <a:solidFill>
                  <a:srgbClr val="182230"/>
                </a:solidFill>
              </a:rPr>
              <a:t>Not suitable for this mixed provider feature space</a:t>
            </a:r>
            <a:endParaRPr lang="en-US" sz="1020" dirty="0"/>
          </a:p>
        </p:txBody>
      </p:sp>
      <p:sp>
        <p:nvSpPr>
          <p:cNvPr id="32" name="Text 30"/>
          <p:cNvSpPr/>
          <p:nvPr/>
        </p:nvSpPr>
        <p:spPr>
          <a:xfrm>
            <a:off x="914400" y="4709160"/>
            <a:ext cx="10287000" cy="1005840"/>
          </a:xfrm>
          <a:prstGeom prst="rect">
            <a:avLst/>
          </a:prstGeom>
          <a:noFill/>
          <a:ln/>
        </p:spPr>
        <p:txBody>
          <a:bodyPr wrap="square" lIns="635" tIns="635" rIns="635" bIns="635" rtlCol="0" anchor="ctr">
            <a:normAutofit/>
          </a:bodyPr>
          <a:lstStyle/>
          <a:p>
            <a:pPr marL="285750" indent="-285750">
              <a:buFont typeface="Arial" panose="020B0604020202020204" pitchFamily="34" charset="0"/>
              <a:buChar char="•"/>
            </a:pPr>
            <a:r>
              <a:rPr lang="en-US" sz="1520" dirty="0">
                <a:solidFill>
                  <a:srgbClr val="182230"/>
                </a:solidFill>
              </a:rPr>
              <a:t>Unsupervised models do not prove fraud; they produce a ranked list for review.</a:t>
            </a:r>
            <a:endParaRPr lang="en-US" sz="1520" dirty="0"/>
          </a:p>
          <a:p>
            <a:pPr marL="285750" indent="-285750">
              <a:buFont typeface="Arial" panose="020B0604020202020204" pitchFamily="34" charset="0"/>
              <a:buChar char="•"/>
            </a:pPr>
            <a:r>
              <a:rPr lang="en-US" sz="1520" dirty="0">
                <a:solidFill>
                  <a:srgbClr val="182230"/>
                </a:solidFill>
              </a:rPr>
              <a:t>Threshold choice becomes operational: theoretical cutoff vs top-k% investigation budget.</a:t>
            </a:r>
            <a:endParaRPr lang="en-US" sz="1520" dirty="0"/>
          </a:p>
          <a:p>
            <a:pPr marL="285750" indent="-285750">
              <a:buFont typeface="Arial" panose="020B0604020202020204" pitchFamily="34" charset="0"/>
              <a:buChar char="•"/>
            </a:pPr>
            <a:r>
              <a:rPr lang="en-US" sz="1520" dirty="0">
                <a:solidFill>
                  <a:srgbClr val="182230"/>
                </a:solidFill>
              </a:rPr>
              <a:t>The value is speed: useful on day one, before a fraud unit has built a labeled training set.</a:t>
            </a:r>
            <a:endParaRPr lang="en-US" sz="1520" dirty="0"/>
          </a:p>
        </p:txBody>
      </p:sp>
      <p:sp>
        <p:nvSpPr>
          <p:cNvPr id="33" name="Shape 31"/>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34" name="Text 32"/>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35" name="Text 33"/>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8</a:t>
            </a:r>
            <a:endParaRPr lang="en-US" sz="850" dirty="0"/>
          </a:p>
        </p:txBody>
      </p:sp>
      <p:sp>
        <p:nvSpPr>
          <p:cNvPr id="36" name="Shape 34"/>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46304"/>
            <a:ext cx="1920240" cy="201168"/>
          </a:xfrm>
          <a:prstGeom prst="rect">
            <a:avLst/>
          </a:prstGeom>
          <a:noFill/>
          <a:ln/>
        </p:spPr>
        <p:txBody>
          <a:bodyPr wrap="square" lIns="0" tIns="0" rIns="0" bIns="0" rtlCol="0" anchor="ctr"/>
          <a:lstStyle/>
          <a:p>
            <a:pPr marL="0" indent="0">
              <a:buNone/>
            </a:pPr>
            <a:r>
              <a:rPr lang="en-US" sz="850" b="1" dirty="0">
                <a:solidFill>
                  <a:srgbClr val="3B217A"/>
                </a:solidFill>
                <a:latin typeface="Aptos" pitchFamily="34" charset="0"/>
                <a:ea typeface="Aptos" pitchFamily="34" charset="-122"/>
                <a:cs typeface="Aptos" pitchFamily="34" charset="-120"/>
              </a:rPr>
              <a:t>HUNTER COLLEGE</a:t>
            </a:r>
            <a:endParaRPr lang="en-US" sz="850" dirty="0"/>
          </a:p>
        </p:txBody>
      </p:sp>
      <p:sp>
        <p:nvSpPr>
          <p:cNvPr id="3" name="Text 1"/>
          <p:cNvSpPr/>
          <p:nvPr/>
        </p:nvSpPr>
        <p:spPr>
          <a:xfrm>
            <a:off x="3840480" y="6565392"/>
            <a:ext cx="4572000" cy="164592"/>
          </a:xfrm>
          <a:prstGeom prst="rect">
            <a:avLst/>
          </a:prstGeom>
          <a:noFill/>
          <a:ln/>
        </p:spPr>
        <p:txBody>
          <a:bodyPr wrap="square" lIns="0" tIns="0" rIns="0" bIns="0" rtlCol="0" anchor="ctr"/>
          <a:lstStyle/>
          <a:p>
            <a:pPr marL="0" indent="0" algn="ctr">
              <a:buNone/>
            </a:pPr>
            <a:r>
              <a:rPr lang="en-US" sz="850" dirty="0">
                <a:solidFill>
                  <a:srgbClr val="5D6673"/>
                </a:solidFill>
                <a:latin typeface="Aptos" pitchFamily="34" charset="0"/>
                <a:ea typeface="Aptos" pitchFamily="34" charset="-122"/>
                <a:cs typeface="Aptos" pitchFamily="34" charset="-120"/>
              </a:rPr>
              <a:t>STAT 790  |  Francesco Pecora</a:t>
            </a:r>
            <a:endParaRPr lang="en-US" sz="850" dirty="0"/>
          </a:p>
        </p:txBody>
      </p:sp>
      <p:sp>
        <p:nvSpPr>
          <p:cNvPr id="4" name="Text 2"/>
          <p:cNvSpPr/>
          <p:nvPr/>
        </p:nvSpPr>
        <p:spPr>
          <a:xfrm>
            <a:off x="11631168" y="6547104"/>
            <a:ext cx="228600" cy="182880"/>
          </a:xfrm>
          <a:prstGeom prst="rect">
            <a:avLst/>
          </a:prstGeom>
          <a:noFill/>
          <a:ln/>
        </p:spPr>
        <p:txBody>
          <a:bodyPr wrap="square" lIns="0" tIns="0" rIns="0" bIns="0" rtlCol="0" anchor="ctr"/>
          <a:lstStyle/>
          <a:p>
            <a:pPr marL="0" indent="0" algn="r">
              <a:buNone/>
            </a:pPr>
            <a:r>
              <a:rPr lang="en-US" sz="850" dirty="0">
                <a:solidFill>
                  <a:srgbClr val="5D6673"/>
                </a:solidFill>
              </a:rPr>
              <a:t>8</a:t>
            </a:r>
            <a:endParaRPr lang="en-US" sz="850" dirty="0"/>
          </a:p>
        </p:txBody>
      </p:sp>
      <p:sp>
        <p:nvSpPr>
          <p:cNvPr id="5" name="Shape 3"/>
          <p:cNvSpPr/>
          <p:nvPr/>
        </p:nvSpPr>
        <p:spPr>
          <a:xfrm>
            <a:off x="329184" y="6419088"/>
            <a:ext cx="11521440" cy="18288"/>
          </a:xfrm>
          <a:prstGeom prst="rect">
            <a:avLst/>
          </a:prstGeom>
          <a:solidFill>
            <a:srgbClr val="3B217A"/>
          </a:solidFill>
          <a:ln w="12700">
            <a:solidFill>
              <a:srgbClr val="3B217A">
                <a:alpha val="0"/>
              </a:srgbClr>
            </a:solidFill>
            <a:prstDash val="solid"/>
          </a:ln>
        </p:spPr>
        <p:txBody>
          <a:bodyPr/>
          <a:lstStyle/>
          <a:p>
            <a:endParaRPr lang="en-US"/>
          </a:p>
        </p:txBody>
      </p:sp>
      <p:sp>
        <p:nvSpPr>
          <p:cNvPr id="6" name="Text 4"/>
          <p:cNvSpPr/>
          <p:nvPr/>
        </p:nvSpPr>
        <p:spPr>
          <a:xfrm>
            <a:off x="502920" y="530352"/>
            <a:ext cx="11201400" cy="402336"/>
          </a:xfrm>
          <a:prstGeom prst="rect">
            <a:avLst/>
          </a:prstGeom>
          <a:noFill/>
          <a:ln/>
        </p:spPr>
        <p:txBody>
          <a:bodyPr wrap="square" lIns="254" tIns="254" rIns="254" bIns="254" rtlCol="0" anchor="ctr">
            <a:normAutofit/>
          </a:bodyPr>
          <a:lstStyle/>
          <a:p>
            <a:pPr marL="0" indent="0">
              <a:buNone/>
            </a:pPr>
            <a:r>
              <a:rPr lang="en-US" sz="2600" b="1" dirty="0">
                <a:solidFill>
                  <a:srgbClr val="15191F"/>
                </a:solidFill>
                <a:latin typeface="Aptos Display" pitchFamily="34" charset="0"/>
                <a:ea typeface="Aptos Display" pitchFamily="34" charset="-122"/>
                <a:cs typeface="Aptos Display" pitchFamily="34" charset="-120"/>
              </a:rPr>
              <a:t>Why Scenario 1 behaves this way: no labels means “learn normal”</a:t>
            </a:r>
            <a:endParaRPr lang="en-US" sz="2600" dirty="0"/>
          </a:p>
        </p:txBody>
      </p:sp>
      <p:sp>
        <p:nvSpPr>
          <p:cNvPr id="7" name="Text 5"/>
          <p:cNvSpPr/>
          <p:nvPr/>
        </p:nvSpPr>
        <p:spPr>
          <a:xfrm>
            <a:off x="530352" y="1005840"/>
            <a:ext cx="10881360" cy="182880"/>
          </a:xfrm>
          <a:prstGeom prst="rect">
            <a:avLst/>
          </a:prstGeom>
          <a:noFill/>
          <a:ln/>
        </p:spPr>
        <p:txBody>
          <a:bodyPr wrap="square" lIns="254" tIns="254" rIns="254" bIns="254" rtlCol="0" anchor="ctr">
            <a:normAutofit lnSpcReduction="10000"/>
          </a:bodyPr>
          <a:lstStyle/>
          <a:p>
            <a:pPr marL="0" indent="0">
              <a:buNone/>
            </a:pPr>
            <a:r>
              <a:rPr lang="en-US" sz="1220" dirty="0">
                <a:solidFill>
                  <a:srgbClr val="5D6673"/>
                </a:solidFill>
                <a:latin typeface="Aptos" pitchFamily="34" charset="0"/>
                <a:ea typeface="Aptos" pitchFamily="34" charset="-122"/>
                <a:cs typeface="Aptos" pitchFamily="34" charset="-120"/>
              </a:rPr>
              <a:t>Unsupervised methods score providers by how unusual they look, not by a learned fraud boundary.</a:t>
            </a:r>
            <a:endParaRPr lang="en-US" sz="1220" dirty="0"/>
          </a:p>
        </p:txBody>
      </p:sp>
      <p:sp>
        <p:nvSpPr>
          <p:cNvPr id="8" name="Text 6"/>
          <p:cNvSpPr/>
          <p:nvPr/>
        </p:nvSpPr>
        <p:spPr>
          <a:xfrm>
            <a:off x="658368" y="1280160"/>
            <a:ext cx="1828800" cy="813816"/>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Method principle</a:t>
            </a:r>
            <a:endParaRPr lang="en-US" sz="1020" dirty="0"/>
          </a:p>
        </p:txBody>
      </p:sp>
      <p:sp>
        <p:nvSpPr>
          <p:cNvPr id="9" name="Text 7"/>
          <p:cNvSpPr/>
          <p:nvPr/>
        </p:nvSpPr>
        <p:spPr>
          <a:xfrm>
            <a:off x="2487168" y="1280160"/>
            <a:ext cx="3931920" cy="813816"/>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What it means in plain English</a:t>
            </a:r>
            <a:endParaRPr lang="en-US" sz="1020" dirty="0"/>
          </a:p>
        </p:txBody>
      </p:sp>
      <p:sp>
        <p:nvSpPr>
          <p:cNvPr id="10" name="Text 8"/>
          <p:cNvSpPr/>
          <p:nvPr/>
        </p:nvSpPr>
        <p:spPr>
          <a:xfrm>
            <a:off x="6419088" y="1280160"/>
            <a:ext cx="5120640" cy="813816"/>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Why the result happened</a:t>
            </a:r>
            <a:endParaRPr lang="en-US" sz="1020" dirty="0"/>
          </a:p>
        </p:txBody>
      </p:sp>
      <p:sp>
        <p:nvSpPr>
          <p:cNvPr id="11" name="Text 9"/>
          <p:cNvSpPr/>
          <p:nvPr/>
        </p:nvSpPr>
        <p:spPr>
          <a:xfrm>
            <a:off x="658368" y="2093976"/>
            <a:ext cx="1828800" cy="813816"/>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Autoencoder</a:t>
            </a:r>
            <a:endParaRPr lang="en-US" sz="1020" dirty="0"/>
          </a:p>
        </p:txBody>
      </p:sp>
      <p:sp>
        <p:nvSpPr>
          <p:cNvPr id="12" name="Text 10"/>
          <p:cNvSpPr/>
          <p:nvPr/>
        </p:nvSpPr>
        <p:spPr>
          <a:xfrm>
            <a:off x="2487168" y="2093976"/>
            <a:ext cx="3931920" cy="813816"/>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Learns to reconstruct normal providers; high reconstruction error = unusual.</a:t>
            </a:r>
            <a:endParaRPr lang="en-US" sz="1020" dirty="0"/>
          </a:p>
        </p:txBody>
      </p:sp>
      <p:sp>
        <p:nvSpPr>
          <p:cNvPr id="13" name="Text 11"/>
          <p:cNvSpPr/>
          <p:nvPr/>
        </p:nvSpPr>
        <p:spPr>
          <a:xfrm>
            <a:off x="6419088" y="2093976"/>
            <a:ext cx="5120640" cy="813816"/>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Works well because fraud can be an unusual combination of billing, diagnosis, and volume signals.</a:t>
            </a:r>
            <a:endParaRPr lang="en-US" sz="1020" dirty="0"/>
          </a:p>
        </p:txBody>
      </p:sp>
      <p:sp>
        <p:nvSpPr>
          <p:cNvPr id="14" name="Text 12"/>
          <p:cNvSpPr/>
          <p:nvPr/>
        </p:nvSpPr>
        <p:spPr>
          <a:xfrm>
            <a:off x="658368" y="2907792"/>
            <a:ext cx="1828800" cy="813816"/>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Isolation Forest</a:t>
            </a:r>
            <a:endParaRPr lang="en-US" sz="1020" dirty="0"/>
          </a:p>
        </p:txBody>
      </p:sp>
      <p:sp>
        <p:nvSpPr>
          <p:cNvPr id="15" name="Text 13"/>
          <p:cNvSpPr/>
          <p:nvPr/>
        </p:nvSpPr>
        <p:spPr>
          <a:xfrm>
            <a:off x="2487168" y="2907792"/>
            <a:ext cx="3931920" cy="813816"/>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Random cuts isolate unusual providers faster than normal ones.</a:t>
            </a:r>
            <a:endParaRPr lang="en-US" sz="1020" dirty="0"/>
          </a:p>
        </p:txBody>
      </p:sp>
      <p:sp>
        <p:nvSpPr>
          <p:cNvPr id="16" name="Text 14"/>
          <p:cNvSpPr/>
          <p:nvPr/>
        </p:nvSpPr>
        <p:spPr>
          <a:xfrm>
            <a:off x="6419088" y="2907792"/>
            <a:ext cx="5120640" cy="813816"/>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Strong because high-dollar/high-volume outliers can be isolated without estimating density.</a:t>
            </a:r>
            <a:endParaRPr lang="en-US" sz="1020" dirty="0"/>
          </a:p>
        </p:txBody>
      </p:sp>
      <p:sp>
        <p:nvSpPr>
          <p:cNvPr id="17" name="Text 15"/>
          <p:cNvSpPr/>
          <p:nvPr/>
        </p:nvSpPr>
        <p:spPr>
          <a:xfrm>
            <a:off x="658368" y="3721608"/>
            <a:ext cx="1828800" cy="813816"/>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LOF</a:t>
            </a:r>
            <a:endParaRPr lang="en-US" sz="1020" dirty="0"/>
          </a:p>
        </p:txBody>
      </p:sp>
      <p:sp>
        <p:nvSpPr>
          <p:cNvPr id="18" name="Text 16"/>
          <p:cNvSpPr/>
          <p:nvPr/>
        </p:nvSpPr>
        <p:spPr>
          <a:xfrm>
            <a:off x="2487168" y="3721608"/>
            <a:ext cx="3931920" cy="813816"/>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Compares local density around neighboring providers.</a:t>
            </a:r>
            <a:endParaRPr lang="en-US" sz="1020" dirty="0"/>
          </a:p>
        </p:txBody>
      </p:sp>
      <p:sp>
        <p:nvSpPr>
          <p:cNvPr id="19" name="Text 17"/>
          <p:cNvSpPr/>
          <p:nvPr/>
        </p:nvSpPr>
        <p:spPr>
          <a:xfrm>
            <a:off x="6419088" y="3721608"/>
            <a:ext cx="5120640" cy="813816"/>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Fails because “neighbors” are unreliable in mixed, skewed, sparse provider data.</a:t>
            </a:r>
            <a:endParaRPr lang="en-US" sz="1020" dirty="0"/>
          </a:p>
        </p:txBody>
      </p:sp>
      <p:sp>
        <p:nvSpPr>
          <p:cNvPr id="20" name="Text 18"/>
          <p:cNvSpPr/>
          <p:nvPr/>
        </p:nvSpPr>
        <p:spPr>
          <a:xfrm>
            <a:off x="658368" y="4535424"/>
            <a:ext cx="1828800" cy="813816"/>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VAE</a:t>
            </a:r>
            <a:endParaRPr lang="en-US" sz="1020" dirty="0"/>
          </a:p>
        </p:txBody>
      </p:sp>
      <p:sp>
        <p:nvSpPr>
          <p:cNvPr id="21" name="Text 19"/>
          <p:cNvSpPr/>
          <p:nvPr/>
        </p:nvSpPr>
        <p:spPr>
          <a:xfrm>
            <a:off x="2487168" y="4535424"/>
            <a:ext cx="3931920" cy="813816"/>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Adds a smooth probabilistic latent space.</a:t>
            </a:r>
            <a:endParaRPr lang="en-US" sz="1020" dirty="0"/>
          </a:p>
        </p:txBody>
      </p:sp>
      <p:sp>
        <p:nvSpPr>
          <p:cNvPr id="22" name="Text 20"/>
          <p:cNvSpPr/>
          <p:nvPr/>
        </p:nvSpPr>
        <p:spPr>
          <a:xfrm>
            <a:off x="6419088" y="4535424"/>
            <a:ext cx="5120640" cy="813816"/>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Too much smoothing can hide the reconstruction errors that flag anomalies.</a:t>
            </a:r>
            <a:endParaRPr lang="en-US" sz="1020" dirty="0"/>
          </a:p>
        </p:txBody>
      </p:sp>
      <p:sp>
        <p:nvSpPr>
          <p:cNvPr id="23" name="Text 21"/>
          <p:cNvSpPr/>
          <p:nvPr/>
        </p:nvSpPr>
        <p:spPr>
          <a:xfrm>
            <a:off x="1005840" y="5623560"/>
            <a:ext cx="10058400" cy="566928"/>
          </a:xfrm>
          <a:prstGeom prst="rect">
            <a:avLst/>
          </a:prstGeom>
          <a:solidFill>
            <a:srgbClr val="FFF5DC"/>
          </a:solidFill>
          <a:ln>
            <a:solidFill>
              <a:srgbClr val="FFF5DC"/>
            </a:solidFill>
          </a:ln>
        </p:spPr>
        <p:txBody>
          <a:bodyPr wrap="square" lIns="1270" tIns="1270" rIns="1270" bIns="1270" rtlCol="0" anchor="ctr">
            <a:normAutofit/>
          </a:bodyPr>
          <a:lstStyle/>
          <a:p>
            <a:pPr marL="0" indent="0" algn="ctr">
              <a:buNone/>
            </a:pPr>
            <a:r>
              <a:rPr lang="en-US" sz="1600" b="1" dirty="0">
                <a:solidFill>
                  <a:srgbClr val="15191F"/>
                </a:solidFill>
              </a:rPr>
              <a:t>Easy takeaway: Autoencoder and Isolation Forest avoid fragile local-density estimates; LOF depends on them.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Unsupervised results: Autoencoder narrowly leads Isolation Forest</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LOF fails; VAE underperforms the simpler Autoencoder.</a:t>
            </a:r>
            <a:endParaRPr lang="en-US" sz="1020" dirty="0"/>
          </a:p>
        </p:txBody>
      </p:sp>
      <p:pic>
        <p:nvPicPr>
          <p:cNvPr id="5" name="Image 0" descr="/mnt/data/STAT790_GitHub_README_Current_Bundle/images/graph10_unsupervised_roc_pr_curves.png"/>
          <p:cNvPicPr>
            <a:picLocks noChangeAspect="1"/>
          </p:cNvPicPr>
          <p:nvPr/>
        </p:nvPicPr>
        <p:blipFill>
          <a:blip r:embed="rId3"/>
          <a:stretch>
            <a:fillRect/>
          </a:stretch>
        </p:blipFill>
        <p:spPr>
          <a:xfrm>
            <a:off x="594360" y="1071819"/>
            <a:ext cx="5303520" cy="2108322"/>
          </a:xfrm>
          <a:prstGeom prst="rect">
            <a:avLst/>
          </a:prstGeom>
        </p:spPr>
      </p:pic>
      <p:sp>
        <p:nvSpPr>
          <p:cNvPr id="6" name="Shape 3"/>
          <p:cNvSpPr/>
          <p:nvPr/>
        </p:nvSpPr>
        <p:spPr>
          <a:xfrm>
            <a:off x="6309360" y="1143000"/>
            <a:ext cx="4892040" cy="0"/>
          </a:xfrm>
          <a:prstGeom prst="line">
            <a:avLst/>
          </a:prstGeom>
          <a:noFill/>
          <a:ln w="6350">
            <a:solidFill>
              <a:srgbClr val="9AA5B1"/>
            </a:solidFill>
            <a:prstDash val="solid"/>
          </a:ln>
        </p:spPr>
        <p:txBody>
          <a:bodyPr/>
          <a:lstStyle/>
          <a:p>
            <a:endParaRPr/>
          </a:p>
        </p:txBody>
      </p:sp>
      <p:sp>
        <p:nvSpPr>
          <p:cNvPr id="7" name="Shape 4"/>
          <p:cNvSpPr/>
          <p:nvPr/>
        </p:nvSpPr>
        <p:spPr>
          <a:xfrm>
            <a:off x="6309360" y="1444752"/>
            <a:ext cx="4892040" cy="0"/>
          </a:xfrm>
          <a:prstGeom prst="line">
            <a:avLst/>
          </a:prstGeom>
          <a:noFill/>
          <a:ln w="15240">
            <a:solidFill>
              <a:srgbClr val="592C82"/>
            </a:solidFill>
            <a:prstDash val="solid"/>
          </a:ln>
        </p:spPr>
        <p:txBody>
          <a:bodyPr/>
          <a:lstStyle/>
          <a:p>
            <a:endParaRPr/>
          </a:p>
        </p:txBody>
      </p:sp>
      <p:sp>
        <p:nvSpPr>
          <p:cNvPr id="8" name="Shape 5"/>
          <p:cNvSpPr/>
          <p:nvPr/>
        </p:nvSpPr>
        <p:spPr>
          <a:xfrm>
            <a:off x="6309360" y="1746504"/>
            <a:ext cx="4892040" cy="0"/>
          </a:xfrm>
          <a:prstGeom prst="line">
            <a:avLst/>
          </a:prstGeom>
          <a:noFill/>
          <a:ln w="6350">
            <a:solidFill>
              <a:srgbClr val="9AA5B1"/>
            </a:solidFill>
            <a:prstDash val="solid"/>
          </a:ln>
        </p:spPr>
        <p:txBody>
          <a:bodyPr/>
          <a:lstStyle/>
          <a:p>
            <a:endParaRPr/>
          </a:p>
        </p:txBody>
      </p:sp>
      <p:sp>
        <p:nvSpPr>
          <p:cNvPr id="9" name="Shape 6"/>
          <p:cNvSpPr/>
          <p:nvPr/>
        </p:nvSpPr>
        <p:spPr>
          <a:xfrm>
            <a:off x="6309360" y="2048256"/>
            <a:ext cx="4892040" cy="0"/>
          </a:xfrm>
          <a:prstGeom prst="line">
            <a:avLst/>
          </a:prstGeom>
          <a:noFill/>
          <a:ln w="6350">
            <a:solidFill>
              <a:srgbClr val="9AA5B1"/>
            </a:solidFill>
            <a:prstDash val="solid"/>
          </a:ln>
        </p:spPr>
        <p:txBody>
          <a:bodyPr/>
          <a:lstStyle/>
          <a:p>
            <a:endParaRPr/>
          </a:p>
        </p:txBody>
      </p:sp>
      <p:sp>
        <p:nvSpPr>
          <p:cNvPr id="10" name="Shape 7"/>
          <p:cNvSpPr/>
          <p:nvPr/>
        </p:nvSpPr>
        <p:spPr>
          <a:xfrm>
            <a:off x="6309360" y="2350008"/>
            <a:ext cx="4892040" cy="0"/>
          </a:xfrm>
          <a:prstGeom prst="line">
            <a:avLst/>
          </a:prstGeom>
          <a:noFill/>
          <a:ln w="6350">
            <a:solidFill>
              <a:srgbClr val="9AA5B1"/>
            </a:solidFill>
            <a:prstDash val="solid"/>
          </a:ln>
        </p:spPr>
        <p:txBody>
          <a:bodyPr/>
          <a:lstStyle/>
          <a:p>
            <a:endParaRPr/>
          </a:p>
        </p:txBody>
      </p:sp>
      <p:sp>
        <p:nvSpPr>
          <p:cNvPr id="11" name="Shape 8"/>
          <p:cNvSpPr/>
          <p:nvPr/>
        </p:nvSpPr>
        <p:spPr>
          <a:xfrm>
            <a:off x="6309360" y="2651760"/>
            <a:ext cx="4892040" cy="0"/>
          </a:xfrm>
          <a:prstGeom prst="line">
            <a:avLst/>
          </a:prstGeom>
          <a:noFill/>
          <a:ln w="6350">
            <a:solidFill>
              <a:srgbClr val="9AA5B1"/>
            </a:solidFill>
            <a:prstDash val="solid"/>
          </a:ln>
        </p:spPr>
        <p:txBody>
          <a:bodyPr/>
          <a:lstStyle/>
          <a:p>
            <a:endParaRPr/>
          </a:p>
        </p:txBody>
      </p:sp>
      <p:sp>
        <p:nvSpPr>
          <p:cNvPr id="12" name="Shape 9"/>
          <p:cNvSpPr/>
          <p:nvPr/>
        </p:nvSpPr>
        <p:spPr>
          <a:xfrm>
            <a:off x="6309360" y="1143000"/>
            <a:ext cx="0" cy="1508760"/>
          </a:xfrm>
          <a:prstGeom prst="line">
            <a:avLst/>
          </a:prstGeom>
          <a:noFill/>
          <a:ln w="6350">
            <a:solidFill>
              <a:srgbClr val="9AA5B1"/>
            </a:solidFill>
            <a:prstDash val="solid"/>
          </a:ln>
        </p:spPr>
        <p:txBody>
          <a:bodyPr/>
          <a:lstStyle/>
          <a:p>
            <a:endParaRPr/>
          </a:p>
        </p:txBody>
      </p:sp>
      <p:sp>
        <p:nvSpPr>
          <p:cNvPr id="13" name="Shape 10"/>
          <p:cNvSpPr/>
          <p:nvPr/>
        </p:nvSpPr>
        <p:spPr>
          <a:xfrm>
            <a:off x="7909560" y="1143000"/>
            <a:ext cx="0" cy="1508760"/>
          </a:xfrm>
          <a:prstGeom prst="line">
            <a:avLst/>
          </a:prstGeom>
          <a:noFill/>
          <a:ln w="6350">
            <a:solidFill>
              <a:srgbClr val="9AA5B1"/>
            </a:solidFill>
            <a:prstDash val="solid"/>
          </a:ln>
        </p:spPr>
        <p:txBody>
          <a:bodyPr/>
          <a:lstStyle/>
          <a:p>
            <a:endParaRPr/>
          </a:p>
        </p:txBody>
      </p:sp>
      <p:sp>
        <p:nvSpPr>
          <p:cNvPr id="14" name="Shape 11"/>
          <p:cNvSpPr/>
          <p:nvPr/>
        </p:nvSpPr>
        <p:spPr>
          <a:xfrm>
            <a:off x="8915400" y="1143000"/>
            <a:ext cx="0" cy="1508760"/>
          </a:xfrm>
          <a:prstGeom prst="line">
            <a:avLst/>
          </a:prstGeom>
          <a:noFill/>
          <a:ln w="6350">
            <a:solidFill>
              <a:srgbClr val="9AA5B1"/>
            </a:solidFill>
            <a:prstDash val="solid"/>
          </a:ln>
        </p:spPr>
        <p:txBody>
          <a:bodyPr/>
          <a:lstStyle/>
          <a:p>
            <a:endParaRPr/>
          </a:p>
        </p:txBody>
      </p:sp>
      <p:sp>
        <p:nvSpPr>
          <p:cNvPr id="15" name="Shape 12"/>
          <p:cNvSpPr/>
          <p:nvPr/>
        </p:nvSpPr>
        <p:spPr>
          <a:xfrm>
            <a:off x="9921240" y="1143000"/>
            <a:ext cx="0" cy="1508760"/>
          </a:xfrm>
          <a:prstGeom prst="line">
            <a:avLst/>
          </a:prstGeom>
          <a:noFill/>
          <a:ln w="6350">
            <a:solidFill>
              <a:srgbClr val="9AA5B1"/>
            </a:solidFill>
            <a:prstDash val="solid"/>
          </a:ln>
        </p:spPr>
        <p:txBody>
          <a:bodyPr/>
          <a:lstStyle/>
          <a:p>
            <a:endParaRPr/>
          </a:p>
        </p:txBody>
      </p:sp>
      <p:sp>
        <p:nvSpPr>
          <p:cNvPr id="16" name="Shape 13"/>
          <p:cNvSpPr/>
          <p:nvPr/>
        </p:nvSpPr>
        <p:spPr>
          <a:xfrm>
            <a:off x="11201400" y="1143000"/>
            <a:ext cx="0" cy="1508760"/>
          </a:xfrm>
          <a:prstGeom prst="line">
            <a:avLst/>
          </a:prstGeom>
          <a:noFill/>
          <a:ln w="6350">
            <a:solidFill>
              <a:srgbClr val="9AA5B1"/>
            </a:solidFill>
            <a:prstDash val="solid"/>
          </a:ln>
        </p:spPr>
        <p:txBody>
          <a:bodyPr/>
          <a:lstStyle/>
          <a:p>
            <a:endParaRPr/>
          </a:p>
        </p:txBody>
      </p:sp>
      <p:sp>
        <p:nvSpPr>
          <p:cNvPr id="17" name="Text 14"/>
          <p:cNvSpPr/>
          <p:nvPr/>
        </p:nvSpPr>
        <p:spPr>
          <a:xfrm>
            <a:off x="6364224" y="1197864"/>
            <a:ext cx="1490472" cy="228600"/>
          </a:xfrm>
          <a:prstGeom prst="rect">
            <a:avLst/>
          </a:prstGeom>
          <a:noFill/>
          <a:ln/>
        </p:spPr>
        <p:txBody>
          <a:bodyPr wrap="square" lIns="0" tIns="0" rIns="0" bIns="0" rtlCol="0" anchor="ctr">
            <a:normAutofit/>
          </a:bodyPr>
          <a:lstStyle/>
          <a:p>
            <a:pPr marL="0" indent="0">
              <a:buNone/>
            </a:pPr>
            <a:r>
              <a:rPr lang="en-US" sz="1000" b="1" dirty="0">
                <a:solidFill>
                  <a:srgbClr val="592C82"/>
                </a:solidFill>
              </a:rPr>
              <a:t>Model</a:t>
            </a:r>
            <a:endParaRPr lang="en-US" sz="1000" dirty="0"/>
          </a:p>
        </p:txBody>
      </p:sp>
      <p:sp>
        <p:nvSpPr>
          <p:cNvPr id="18" name="Text 15"/>
          <p:cNvSpPr/>
          <p:nvPr/>
        </p:nvSpPr>
        <p:spPr>
          <a:xfrm>
            <a:off x="7964424" y="1197864"/>
            <a:ext cx="896112" cy="228600"/>
          </a:xfrm>
          <a:prstGeom prst="rect">
            <a:avLst/>
          </a:prstGeom>
          <a:noFill/>
          <a:ln/>
        </p:spPr>
        <p:txBody>
          <a:bodyPr wrap="square" lIns="0" tIns="0" rIns="0" bIns="0" rtlCol="0" anchor="ctr">
            <a:normAutofit/>
          </a:bodyPr>
          <a:lstStyle/>
          <a:p>
            <a:pPr marL="0" indent="0">
              <a:buNone/>
            </a:pPr>
            <a:r>
              <a:rPr lang="en-US" sz="1000" b="1" dirty="0">
                <a:solidFill>
                  <a:srgbClr val="592C82"/>
                </a:solidFill>
              </a:rPr>
              <a:t>ROC-AUC</a:t>
            </a:r>
            <a:endParaRPr lang="en-US" sz="1000" dirty="0"/>
          </a:p>
        </p:txBody>
      </p:sp>
      <p:sp>
        <p:nvSpPr>
          <p:cNvPr id="19" name="Text 16"/>
          <p:cNvSpPr/>
          <p:nvPr/>
        </p:nvSpPr>
        <p:spPr>
          <a:xfrm>
            <a:off x="8970264" y="1197864"/>
            <a:ext cx="896112" cy="228600"/>
          </a:xfrm>
          <a:prstGeom prst="rect">
            <a:avLst/>
          </a:prstGeom>
          <a:noFill/>
          <a:ln/>
        </p:spPr>
        <p:txBody>
          <a:bodyPr wrap="square" lIns="0" tIns="0" rIns="0" bIns="0" rtlCol="0" anchor="ctr">
            <a:normAutofit/>
          </a:bodyPr>
          <a:lstStyle/>
          <a:p>
            <a:pPr marL="0" indent="0">
              <a:buNone/>
            </a:pPr>
            <a:r>
              <a:rPr lang="en-US" sz="1000" b="1" dirty="0">
                <a:solidFill>
                  <a:srgbClr val="592C82"/>
                </a:solidFill>
              </a:rPr>
              <a:t>PR-AUC</a:t>
            </a:r>
            <a:endParaRPr lang="en-US" sz="1000" dirty="0"/>
          </a:p>
        </p:txBody>
      </p:sp>
      <p:sp>
        <p:nvSpPr>
          <p:cNvPr id="20" name="Text 17"/>
          <p:cNvSpPr/>
          <p:nvPr/>
        </p:nvSpPr>
        <p:spPr>
          <a:xfrm>
            <a:off x="9976104" y="1197864"/>
            <a:ext cx="1170432" cy="228600"/>
          </a:xfrm>
          <a:prstGeom prst="rect">
            <a:avLst/>
          </a:prstGeom>
          <a:noFill/>
          <a:ln/>
        </p:spPr>
        <p:txBody>
          <a:bodyPr wrap="square" lIns="0" tIns="0" rIns="0" bIns="0" rtlCol="0" anchor="ctr">
            <a:normAutofit/>
          </a:bodyPr>
          <a:lstStyle/>
          <a:p>
            <a:pPr marL="0" indent="0">
              <a:buNone/>
            </a:pPr>
            <a:r>
              <a:rPr lang="en-US" sz="1000" b="1" dirty="0">
                <a:solidFill>
                  <a:srgbClr val="592C82"/>
                </a:solidFill>
              </a:rPr>
              <a:t>Top-10% precision</a:t>
            </a:r>
            <a:endParaRPr lang="en-US" sz="1000" dirty="0"/>
          </a:p>
        </p:txBody>
      </p:sp>
      <p:sp>
        <p:nvSpPr>
          <p:cNvPr id="21" name="Text 18"/>
          <p:cNvSpPr/>
          <p:nvPr/>
        </p:nvSpPr>
        <p:spPr>
          <a:xfrm>
            <a:off x="6364224" y="1499616"/>
            <a:ext cx="149047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Autoencoder</a:t>
            </a:r>
            <a:endParaRPr lang="en-US" sz="1000" dirty="0"/>
          </a:p>
        </p:txBody>
      </p:sp>
      <p:sp>
        <p:nvSpPr>
          <p:cNvPr id="22" name="Text 19"/>
          <p:cNvSpPr/>
          <p:nvPr/>
        </p:nvSpPr>
        <p:spPr>
          <a:xfrm>
            <a:off x="7964424" y="1499616"/>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0.812</a:t>
            </a:r>
            <a:endParaRPr lang="en-US" sz="1000" dirty="0"/>
          </a:p>
        </p:txBody>
      </p:sp>
      <p:sp>
        <p:nvSpPr>
          <p:cNvPr id="23" name="Text 20"/>
          <p:cNvSpPr/>
          <p:nvPr/>
        </p:nvSpPr>
        <p:spPr>
          <a:xfrm>
            <a:off x="8970264" y="1499616"/>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0.332</a:t>
            </a:r>
            <a:endParaRPr lang="en-US" sz="1000" dirty="0"/>
          </a:p>
        </p:txBody>
      </p:sp>
      <p:sp>
        <p:nvSpPr>
          <p:cNvPr id="24" name="Text 21"/>
          <p:cNvSpPr/>
          <p:nvPr/>
        </p:nvSpPr>
        <p:spPr>
          <a:xfrm>
            <a:off x="9976104" y="1499616"/>
            <a:ext cx="117043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0.313</a:t>
            </a:r>
            <a:endParaRPr lang="en-US" sz="1000" dirty="0"/>
          </a:p>
        </p:txBody>
      </p:sp>
      <p:sp>
        <p:nvSpPr>
          <p:cNvPr id="25" name="Text 22"/>
          <p:cNvSpPr/>
          <p:nvPr/>
        </p:nvSpPr>
        <p:spPr>
          <a:xfrm>
            <a:off x="6364224" y="1801368"/>
            <a:ext cx="149047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Isolation Forest</a:t>
            </a:r>
            <a:endParaRPr lang="en-US" sz="1000" dirty="0"/>
          </a:p>
        </p:txBody>
      </p:sp>
      <p:sp>
        <p:nvSpPr>
          <p:cNvPr id="26" name="Text 23"/>
          <p:cNvSpPr/>
          <p:nvPr/>
        </p:nvSpPr>
        <p:spPr>
          <a:xfrm>
            <a:off x="7964424" y="1801368"/>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0.804</a:t>
            </a:r>
            <a:endParaRPr lang="en-US" sz="1000" dirty="0"/>
          </a:p>
        </p:txBody>
      </p:sp>
      <p:sp>
        <p:nvSpPr>
          <p:cNvPr id="27" name="Text 24"/>
          <p:cNvSpPr/>
          <p:nvPr/>
        </p:nvSpPr>
        <p:spPr>
          <a:xfrm>
            <a:off x="8970264" y="1801368"/>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0.234</a:t>
            </a:r>
            <a:endParaRPr lang="en-US" sz="1000" dirty="0"/>
          </a:p>
        </p:txBody>
      </p:sp>
      <p:sp>
        <p:nvSpPr>
          <p:cNvPr id="28" name="Text 25"/>
          <p:cNvSpPr/>
          <p:nvPr/>
        </p:nvSpPr>
        <p:spPr>
          <a:xfrm>
            <a:off x="9976104" y="1801368"/>
            <a:ext cx="117043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0.245</a:t>
            </a:r>
            <a:endParaRPr lang="en-US" sz="1000" dirty="0"/>
          </a:p>
        </p:txBody>
      </p:sp>
      <p:sp>
        <p:nvSpPr>
          <p:cNvPr id="29" name="Text 26"/>
          <p:cNvSpPr/>
          <p:nvPr/>
        </p:nvSpPr>
        <p:spPr>
          <a:xfrm>
            <a:off x="6364224" y="2103120"/>
            <a:ext cx="149047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VAE</a:t>
            </a:r>
            <a:endParaRPr lang="en-US" sz="1000" dirty="0"/>
          </a:p>
        </p:txBody>
      </p:sp>
      <p:sp>
        <p:nvSpPr>
          <p:cNvPr id="30" name="Text 27"/>
          <p:cNvSpPr/>
          <p:nvPr/>
        </p:nvSpPr>
        <p:spPr>
          <a:xfrm>
            <a:off x="7964424" y="2103120"/>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0.627</a:t>
            </a:r>
            <a:endParaRPr lang="en-US" sz="1000" dirty="0"/>
          </a:p>
        </p:txBody>
      </p:sp>
      <p:sp>
        <p:nvSpPr>
          <p:cNvPr id="31" name="Text 28"/>
          <p:cNvSpPr/>
          <p:nvPr/>
        </p:nvSpPr>
        <p:spPr>
          <a:xfrm>
            <a:off x="8970264" y="2103120"/>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0.203</a:t>
            </a:r>
            <a:endParaRPr lang="en-US" sz="1000" dirty="0"/>
          </a:p>
        </p:txBody>
      </p:sp>
      <p:sp>
        <p:nvSpPr>
          <p:cNvPr id="32" name="Text 29"/>
          <p:cNvSpPr/>
          <p:nvPr/>
        </p:nvSpPr>
        <p:spPr>
          <a:xfrm>
            <a:off x="9976104" y="2103120"/>
            <a:ext cx="117043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0.190</a:t>
            </a:r>
            <a:endParaRPr lang="en-US" sz="1000" dirty="0"/>
          </a:p>
        </p:txBody>
      </p:sp>
      <p:sp>
        <p:nvSpPr>
          <p:cNvPr id="33" name="Text 30"/>
          <p:cNvSpPr/>
          <p:nvPr/>
        </p:nvSpPr>
        <p:spPr>
          <a:xfrm>
            <a:off x="6364224" y="2404872"/>
            <a:ext cx="149047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LOF</a:t>
            </a:r>
            <a:endParaRPr lang="en-US" sz="1000" dirty="0"/>
          </a:p>
        </p:txBody>
      </p:sp>
      <p:sp>
        <p:nvSpPr>
          <p:cNvPr id="34" name="Text 31"/>
          <p:cNvSpPr/>
          <p:nvPr/>
        </p:nvSpPr>
        <p:spPr>
          <a:xfrm>
            <a:off x="7964424" y="2404872"/>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0.432</a:t>
            </a:r>
            <a:endParaRPr lang="en-US" sz="1000" dirty="0"/>
          </a:p>
        </p:txBody>
      </p:sp>
      <p:sp>
        <p:nvSpPr>
          <p:cNvPr id="35" name="Text 32"/>
          <p:cNvSpPr/>
          <p:nvPr/>
        </p:nvSpPr>
        <p:spPr>
          <a:xfrm>
            <a:off x="8970264" y="2404872"/>
            <a:ext cx="89611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0.102</a:t>
            </a:r>
            <a:endParaRPr lang="en-US" sz="1000" dirty="0"/>
          </a:p>
        </p:txBody>
      </p:sp>
      <p:sp>
        <p:nvSpPr>
          <p:cNvPr id="36" name="Text 33"/>
          <p:cNvSpPr/>
          <p:nvPr/>
        </p:nvSpPr>
        <p:spPr>
          <a:xfrm>
            <a:off x="9976104" y="2404872"/>
            <a:ext cx="1170432" cy="228600"/>
          </a:xfrm>
          <a:prstGeom prst="rect">
            <a:avLst/>
          </a:prstGeom>
          <a:noFill/>
          <a:ln/>
        </p:spPr>
        <p:txBody>
          <a:bodyPr wrap="square" lIns="0" tIns="0" rIns="0" bIns="0" rtlCol="0" anchor="ctr">
            <a:normAutofit/>
          </a:bodyPr>
          <a:lstStyle/>
          <a:p>
            <a:pPr marL="0" indent="0">
              <a:buNone/>
            </a:pPr>
            <a:r>
              <a:rPr lang="en-US" sz="1000" dirty="0">
                <a:solidFill>
                  <a:srgbClr val="182230"/>
                </a:solidFill>
              </a:rPr>
              <a:t>0.067</a:t>
            </a:r>
            <a:endParaRPr lang="en-US" sz="1000" dirty="0"/>
          </a:p>
        </p:txBody>
      </p:sp>
      <p:pic>
        <p:nvPicPr>
          <p:cNvPr id="37" name="Image 1" descr="/mnt/data/STAT790_GitHub_README_Current_Bundle/images/graph09_unsupervised_anomaly_score_distributions.png"/>
          <p:cNvPicPr>
            <a:picLocks noChangeAspect="1"/>
          </p:cNvPicPr>
          <p:nvPr/>
        </p:nvPicPr>
        <p:blipFill>
          <a:blip r:embed="rId4"/>
          <a:stretch>
            <a:fillRect/>
          </a:stretch>
        </p:blipFill>
        <p:spPr>
          <a:xfrm>
            <a:off x="6217920" y="3166886"/>
            <a:ext cx="5074920" cy="1118589"/>
          </a:xfrm>
          <a:prstGeom prst="rect">
            <a:avLst/>
          </a:prstGeom>
        </p:spPr>
      </p:pic>
      <p:sp>
        <p:nvSpPr>
          <p:cNvPr id="38" name="Shape 34"/>
          <p:cNvSpPr/>
          <p:nvPr/>
        </p:nvSpPr>
        <p:spPr>
          <a:xfrm>
            <a:off x="868680" y="4800600"/>
            <a:ext cx="10241280" cy="685800"/>
          </a:xfrm>
          <a:prstGeom prst="roundRect">
            <a:avLst>
              <a:gd name="adj" fmla="val 16000"/>
            </a:avLst>
          </a:prstGeom>
          <a:solidFill>
            <a:srgbClr val="FFFFFF"/>
          </a:solidFill>
          <a:ln w="16510">
            <a:solidFill>
              <a:srgbClr val="592C82"/>
            </a:solidFill>
            <a:prstDash val="solid"/>
          </a:ln>
        </p:spPr>
        <p:txBody>
          <a:bodyPr/>
          <a:lstStyle/>
          <a:p>
            <a:endParaRPr/>
          </a:p>
        </p:txBody>
      </p:sp>
      <p:sp>
        <p:nvSpPr>
          <p:cNvPr id="39" name="Text 35"/>
          <p:cNvSpPr/>
          <p:nvPr/>
        </p:nvSpPr>
        <p:spPr>
          <a:xfrm>
            <a:off x="978408" y="4910328"/>
            <a:ext cx="10021824" cy="466344"/>
          </a:xfrm>
          <a:prstGeom prst="rect">
            <a:avLst/>
          </a:prstGeom>
          <a:noFill/>
          <a:ln/>
        </p:spPr>
        <p:txBody>
          <a:bodyPr wrap="square" lIns="381" tIns="381" rIns="381" bIns="381" rtlCol="0" anchor="ctr">
            <a:normAutofit lnSpcReduction="10000"/>
          </a:bodyPr>
          <a:lstStyle/>
          <a:p>
            <a:pPr marL="0" indent="0">
              <a:buNone/>
            </a:pPr>
            <a:r>
              <a:rPr lang="en-US" sz="1550" b="1" dirty="0">
                <a:solidFill>
                  <a:srgbClr val="592C82"/>
                </a:solidFill>
              </a:rPr>
              <a:t>Interpretation: Autoencoder learns non-linear normal provider behavior; LOF loses neighborhood meaning in mixed data.</a:t>
            </a:r>
            <a:endParaRPr lang="en-US" sz="1550" dirty="0"/>
          </a:p>
        </p:txBody>
      </p:sp>
      <p:sp>
        <p:nvSpPr>
          <p:cNvPr id="40" name="Shape 36"/>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41" name="Text 37"/>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42" name="Text 38"/>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9</a:t>
            </a:r>
            <a:endParaRPr lang="en-US" sz="850" dirty="0"/>
          </a:p>
        </p:txBody>
      </p:sp>
      <p:sp>
        <p:nvSpPr>
          <p:cNvPr id="43" name="Shape 39"/>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46304"/>
            <a:ext cx="1920240" cy="201168"/>
          </a:xfrm>
          <a:prstGeom prst="rect">
            <a:avLst/>
          </a:prstGeom>
          <a:noFill/>
          <a:ln/>
        </p:spPr>
        <p:txBody>
          <a:bodyPr wrap="square" lIns="0" tIns="0" rIns="0" bIns="0" rtlCol="0" anchor="ctr"/>
          <a:lstStyle/>
          <a:p>
            <a:pPr marL="0" indent="0">
              <a:buNone/>
            </a:pPr>
            <a:r>
              <a:rPr lang="en-US" sz="850" b="1" dirty="0">
                <a:solidFill>
                  <a:srgbClr val="3B217A"/>
                </a:solidFill>
                <a:latin typeface="Aptos" pitchFamily="34" charset="0"/>
                <a:ea typeface="Aptos" pitchFamily="34" charset="-122"/>
                <a:cs typeface="Aptos" pitchFamily="34" charset="-120"/>
              </a:rPr>
              <a:t>HUNTER COLLEGE</a:t>
            </a:r>
            <a:endParaRPr lang="en-US" sz="850" dirty="0"/>
          </a:p>
        </p:txBody>
      </p:sp>
      <p:sp>
        <p:nvSpPr>
          <p:cNvPr id="3" name="Text 1"/>
          <p:cNvSpPr/>
          <p:nvPr/>
        </p:nvSpPr>
        <p:spPr>
          <a:xfrm>
            <a:off x="3840480" y="6565392"/>
            <a:ext cx="4572000" cy="164592"/>
          </a:xfrm>
          <a:prstGeom prst="rect">
            <a:avLst/>
          </a:prstGeom>
          <a:noFill/>
          <a:ln/>
        </p:spPr>
        <p:txBody>
          <a:bodyPr wrap="square" lIns="0" tIns="0" rIns="0" bIns="0" rtlCol="0" anchor="ctr"/>
          <a:lstStyle/>
          <a:p>
            <a:pPr marL="0" indent="0" algn="ctr">
              <a:buNone/>
            </a:pPr>
            <a:r>
              <a:rPr lang="en-US" sz="850" dirty="0">
                <a:solidFill>
                  <a:srgbClr val="5D6673"/>
                </a:solidFill>
                <a:latin typeface="Aptos" pitchFamily="34" charset="0"/>
                <a:ea typeface="Aptos" pitchFamily="34" charset="-122"/>
                <a:cs typeface="Aptos" pitchFamily="34" charset="-120"/>
              </a:rPr>
              <a:t>STAT 790  |  Francesco Pecora</a:t>
            </a:r>
            <a:endParaRPr lang="en-US" sz="850" dirty="0"/>
          </a:p>
        </p:txBody>
      </p:sp>
      <p:sp>
        <p:nvSpPr>
          <p:cNvPr id="4" name="Text 2"/>
          <p:cNvSpPr/>
          <p:nvPr/>
        </p:nvSpPr>
        <p:spPr>
          <a:xfrm>
            <a:off x="11631168" y="6547104"/>
            <a:ext cx="228600" cy="182880"/>
          </a:xfrm>
          <a:prstGeom prst="rect">
            <a:avLst/>
          </a:prstGeom>
          <a:noFill/>
          <a:ln/>
        </p:spPr>
        <p:txBody>
          <a:bodyPr wrap="square" lIns="0" tIns="0" rIns="0" bIns="0" rtlCol="0" anchor="ctr"/>
          <a:lstStyle/>
          <a:p>
            <a:pPr marL="0" indent="0" algn="r">
              <a:buNone/>
            </a:pPr>
            <a:r>
              <a:rPr lang="en-US" sz="850" dirty="0">
                <a:solidFill>
                  <a:srgbClr val="5D6673"/>
                </a:solidFill>
              </a:rPr>
              <a:t>11</a:t>
            </a:r>
            <a:endParaRPr lang="en-US" sz="850" dirty="0"/>
          </a:p>
        </p:txBody>
      </p:sp>
      <p:sp>
        <p:nvSpPr>
          <p:cNvPr id="5" name="Shape 3"/>
          <p:cNvSpPr/>
          <p:nvPr/>
        </p:nvSpPr>
        <p:spPr>
          <a:xfrm>
            <a:off x="329184" y="6419088"/>
            <a:ext cx="11521440" cy="18288"/>
          </a:xfrm>
          <a:prstGeom prst="rect">
            <a:avLst/>
          </a:prstGeom>
          <a:solidFill>
            <a:srgbClr val="3B217A"/>
          </a:solidFill>
          <a:ln w="12700">
            <a:solidFill>
              <a:srgbClr val="3B217A">
                <a:alpha val="0"/>
              </a:srgbClr>
            </a:solidFill>
            <a:prstDash val="solid"/>
          </a:ln>
        </p:spPr>
        <p:txBody>
          <a:bodyPr/>
          <a:lstStyle/>
          <a:p>
            <a:endParaRPr lang="en-US"/>
          </a:p>
        </p:txBody>
      </p:sp>
      <p:sp>
        <p:nvSpPr>
          <p:cNvPr id="6" name="Text 4"/>
          <p:cNvSpPr/>
          <p:nvPr/>
        </p:nvSpPr>
        <p:spPr>
          <a:xfrm>
            <a:off x="502920" y="530352"/>
            <a:ext cx="11201400" cy="402336"/>
          </a:xfrm>
          <a:prstGeom prst="rect">
            <a:avLst/>
          </a:prstGeom>
          <a:noFill/>
          <a:ln/>
        </p:spPr>
        <p:txBody>
          <a:bodyPr wrap="square" lIns="254" tIns="254" rIns="254" bIns="254" rtlCol="0" anchor="ctr">
            <a:normAutofit/>
          </a:bodyPr>
          <a:lstStyle/>
          <a:p>
            <a:pPr marL="0" indent="0">
              <a:buNone/>
            </a:pPr>
            <a:r>
              <a:rPr lang="en-US" sz="2600" b="1" dirty="0">
                <a:solidFill>
                  <a:srgbClr val="15191F"/>
                </a:solidFill>
                <a:latin typeface="Aptos Display" pitchFamily="34" charset="0"/>
                <a:ea typeface="Aptos Display" pitchFamily="34" charset="-122"/>
                <a:cs typeface="Aptos Display" pitchFamily="34" charset="-120"/>
              </a:rPr>
              <a:t>Alert-budget view: models must match investigator capacity</a:t>
            </a:r>
            <a:endParaRPr lang="en-US" sz="2600" dirty="0"/>
          </a:p>
        </p:txBody>
      </p:sp>
      <p:sp>
        <p:nvSpPr>
          <p:cNvPr id="7" name="Text 5"/>
          <p:cNvSpPr/>
          <p:nvPr/>
        </p:nvSpPr>
        <p:spPr>
          <a:xfrm>
            <a:off x="530352" y="1005840"/>
            <a:ext cx="10881360" cy="182880"/>
          </a:xfrm>
          <a:prstGeom prst="rect">
            <a:avLst/>
          </a:prstGeom>
          <a:noFill/>
          <a:ln/>
        </p:spPr>
        <p:txBody>
          <a:bodyPr wrap="square" lIns="254" tIns="254" rIns="254" bIns="254" rtlCol="0" anchor="ctr">
            <a:normAutofit lnSpcReduction="10000"/>
          </a:bodyPr>
          <a:lstStyle/>
          <a:p>
            <a:pPr marL="0" indent="0">
              <a:buNone/>
            </a:pPr>
            <a:r>
              <a:rPr lang="en-US" sz="1220" dirty="0">
                <a:solidFill>
                  <a:srgbClr val="5D6673"/>
                </a:solidFill>
                <a:latin typeface="Aptos" pitchFamily="34" charset="0"/>
                <a:ea typeface="Aptos" pitchFamily="34" charset="-122"/>
                <a:cs typeface="Aptos" pitchFamily="34" charset="-120"/>
              </a:rPr>
              <a:t>A fraud unit does not inspect every provider; it chooses a review budget.</a:t>
            </a:r>
            <a:endParaRPr lang="en-US" sz="1220" dirty="0"/>
          </a:p>
        </p:txBody>
      </p:sp>
      <p:pic>
        <p:nvPicPr>
          <p:cNvPr id="8" name="Image 0" descr="/mnt/data/stat790_assets/images/graph11_alert_budget_precision_recall_sweep.png"/>
          <p:cNvPicPr>
            <a:picLocks noChangeAspect="1"/>
          </p:cNvPicPr>
          <p:nvPr/>
        </p:nvPicPr>
        <p:blipFill>
          <a:blip r:embed="rId3"/>
          <a:stretch>
            <a:fillRect/>
          </a:stretch>
        </p:blipFill>
        <p:spPr>
          <a:xfrm>
            <a:off x="1426938" y="1417320"/>
            <a:ext cx="9124764" cy="3246120"/>
          </a:xfrm>
          <a:prstGeom prst="rect">
            <a:avLst/>
          </a:prstGeom>
        </p:spPr>
      </p:pic>
      <p:sp>
        <p:nvSpPr>
          <p:cNvPr id="9" name="Text 6"/>
          <p:cNvSpPr/>
          <p:nvPr/>
        </p:nvSpPr>
        <p:spPr>
          <a:xfrm>
            <a:off x="868680" y="4754880"/>
            <a:ext cx="10287000" cy="475488"/>
          </a:xfrm>
          <a:prstGeom prst="rect">
            <a:avLst/>
          </a:prstGeom>
          <a:solidFill>
            <a:srgbClr val="FFF5DC"/>
          </a:solidFill>
          <a:ln>
            <a:solidFill>
              <a:srgbClr val="FFF5DC"/>
            </a:solidFill>
          </a:ln>
        </p:spPr>
        <p:txBody>
          <a:bodyPr wrap="square" lIns="1270" tIns="1270" rIns="1270" bIns="1270" rtlCol="0" anchor="ctr">
            <a:normAutofit/>
          </a:bodyPr>
          <a:lstStyle/>
          <a:p>
            <a:pPr marL="0" indent="0" algn="ctr">
              <a:buNone/>
            </a:pPr>
            <a:r>
              <a:rPr lang="en-US" sz="1480" b="1" dirty="0">
                <a:solidFill>
                  <a:srgbClr val="15191F"/>
                </a:solidFill>
              </a:rPr>
              <a:t>At top 10%, Autoencoder flags 163 providers, catches 51 of 152 fraud providers, and reaches 31.3% precision.</a:t>
            </a:r>
            <a:endParaRPr lang="en-US" sz="1480" dirty="0"/>
          </a:p>
        </p:txBody>
      </p:sp>
      <p:sp>
        <p:nvSpPr>
          <p:cNvPr id="10" name="Text 7"/>
          <p:cNvSpPr/>
          <p:nvPr/>
        </p:nvSpPr>
        <p:spPr>
          <a:xfrm>
            <a:off x="914400" y="5413248"/>
            <a:ext cx="10149840" cy="777240"/>
          </a:xfrm>
          <a:prstGeom prst="rect">
            <a:avLst/>
          </a:prstGeom>
          <a:noFill/>
          <a:ln/>
        </p:spPr>
        <p:txBody>
          <a:bodyPr wrap="square" lIns="508" tIns="508" rIns="508" bIns="508" rtlCol="0" anchor="t">
            <a:normAutofit/>
          </a:bodyPr>
          <a:lstStyle/>
          <a:p>
            <a:pPr marL="152400" indent="-152400">
              <a:buSzPct val="100000"/>
              <a:buChar char="•"/>
            </a:pPr>
            <a:r>
              <a:rPr lang="en-US" sz="1380" dirty="0">
                <a:solidFill>
                  <a:srgbClr val="15191F"/>
                </a:solidFill>
              </a:rPr>
              <a:t>Low budgets reward precision: Autoencoder is best in the most realistic early-review region.</a:t>
            </a:r>
            <a:endParaRPr lang="en-US" sz="1380" dirty="0"/>
          </a:p>
          <a:p>
            <a:pPr marL="152400" indent="-152400">
              <a:buSzPct val="100000"/>
              <a:buChar char="•"/>
            </a:pPr>
            <a:r>
              <a:rPr lang="en-US" sz="1380" dirty="0">
                <a:solidFill>
                  <a:srgbClr val="15191F"/>
                </a:solidFill>
              </a:rPr>
              <a:t>Wider budgets increase recall but create more false positives.</a:t>
            </a:r>
            <a:endParaRPr lang="en-US" sz="1380" dirty="0"/>
          </a:p>
          <a:p>
            <a:pPr marL="152400" indent="-152400">
              <a:buSzPct val="100000"/>
              <a:buChar char="•"/>
            </a:pPr>
            <a:r>
              <a:rPr lang="en-US" sz="1380" dirty="0">
                <a:solidFill>
                  <a:srgbClr val="15191F"/>
                </a:solidFill>
              </a:rPr>
              <a:t>Isolation Forest remains attractive when teams want a simpler method or theory-based threshold.</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46304"/>
            <a:ext cx="1920240" cy="201168"/>
          </a:xfrm>
          <a:prstGeom prst="rect">
            <a:avLst/>
          </a:prstGeom>
          <a:noFill/>
          <a:ln/>
        </p:spPr>
        <p:txBody>
          <a:bodyPr wrap="square" lIns="0" tIns="0" rIns="0" bIns="0" rtlCol="0" anchor="ctr"/>
          <a:lstStyle/>
          <a:p>
            <a:pPr marL="0" indent="0">
              <a:buNone/>
            </a:pPr>
            <a:r>
              <a:rPr lang="en-US" sz="850" b="1" dirty="0">
                <a:solidFill>
                  <a:srgbClr val="3B217A"/>
                </a:solidFill>
                <a:latin typeface="Aptos" pitchFamily="34" charset="0"/>
                <a:ea typeface="Aptos" pitchFamily="34" charset="-122"/>
                <a:cs typeface="Aptos" pitchFamily="34" charset="-120"/>
              </a:rPr>
              <a:t>HUNTER COLLEGE</a:t>
            </a:r>
            <a:endParaRPr lang="en-US" sz="850" dirty="0"/>
          </a:p>
        </p:txBody>
      </p:sp>
      <p:sp>
        <p:nvSpPr>
          <p:cNvPr id="3" name="Text 1"/>
          <p:cNvSpPr/>
          <p:nvPr/>
        </p:nvSpPr>
        <p:spPr>
          <a:xfrm>
            <a:off x="3840480" y="6565392"/>
            <a:ext cx="4572000" cy="164592"/>
          </a:xfrm>
          <a:prstGeom prst="rect">
            <a:avLst/>
          </a:prstGeom>
          <a:noFill/>
          <a:ln/>
        </p:spPr>
        <p:txBody>
          <a:bodyPr wrap="square" lIns="0" tIns="0" rIns="0" bIns="0" rtlCol="0" anchor="ctr"/>
          <a:lstStyle/>
          <a:p>
            <a:pPr marL="0" indent="0" algn="ctr">
              <a:buNone/>
            </a:pPr>
            <a:r>
              <a:rPr lang="en-US" sz="850" dirty="0">
                <a:solidFill>
                  <a:srgbClr val="5D6673"/>
                </a:solidFill>
                <a:latin typeface="Aptos" pitchFamily="34" charset="0"/>
                <a:ea typeface="Aptos" pitchFamily="34" charset="-122"/>
                <a:cs typeface="Aptos" pitchFamily="34" charset="-120"/>
              </a:rPr>
              <a:t>STAT 790  |  Francesco Pecora</a:t>
            </a:r>
            <a:endParaRPr lang="en-US" sz="850" dirty="0"/>
          </a:p>
        </p:txBody>
      </p:sp>
      <p:sp>
        <p:nvSpPr>
          <p:cNvPr id="4" name="Text 2"/>
          <p:cNvSpPr/>
          <p:nvPr/>
        </p:nvSpPr>
        <p:spPr>
          <a:xfrm>
            <a:off x="11631168" y="6547104"/>
            <a:ext cx="228600" cy="182880"/>
          </a:xfrm>
          <a:prstGeom prst="rect">
            <a:avLst/>
          </a:prstGeom>
          <a:noFill/>
          <a:ln/>
        </p:spPr>
        <p:txBody>
          <a:bodyPr wrap="square" lIns="0" tIns="0" rIns="0" bIns="0" rtlCol="0" anchor="ctr"/>
          <a:lstStyle/>
          <a:p>
            <a:pPr marL="0" indent="0" algn="r">
              <a:buNone/>
            </a:pPr>
            <a:r>
              <a:rPr lang="en-US" sz="850" dirty="0">
                <a:solidFill>
                  <a:srgbClr val="5D6673"/>
                </a:solidFill>
              </a:rPr>
              <a:t>13</a:t>
            </a:r>
            <a:endParaRPr lang="en-US" sz="850" dirty="0"/>
          </a:p>
        </p:txBody>
      </p:sp>
      <p:sp>
        <p:nvSpPr>
          <p:cNvPr id="5" name="Shape 3"/>
          <p:cNvSpPr/>
          <p:nvPr/>
        </p:nvSpPr>
        <p:spPr>
          <a:xfrm>
            <a:off x="329184" y="6419088"/>
            <a:ext cx="11521440" cy="18288"/>
          </a:xfrm>
          <a:prstGeom prst="rect">
            <a:avLst/>
          </a:prstGeom>
          <a:solidFill>
            <a:srgbClr val="3B217A"/>
          </a:solidFill>
          <a:ln w="12700">
            <a:solidFill>
              <a:srgbClr val="3B217A">
                <a:alpha val="0"/>
              </a:srgbClr>
            </a:solidFill>
            <a:prstDash val="solid"/>
          </a:ln>
        </p:spPr>
        <p:txBody>
          <a:bodyPr/>
          <a:lstStyle/>
          <a:p>
            <a:endParaRPr lang="en-US"/>
          </a:p>
        </p:txBody>
      </p:sp>
      <p:sp>
        <p:nvSpPr>
          <p:cNvPr id="6" name="Text 4"/>
          <p:cNvSpPr/>
          <p:nvPr/>
        </p:nvSpPr>
        <p:spPr>
          <a:xfrm>
            <a:off x="502920" y="530352"/>
            <a:ext cx="11201400" cy="402336"/>
          </a:xfrm>
          <a:prstGeom prst="rect">
            <a:avLst/>
          </a:prstGeom>
          <a:noFill/>
          <a:ln/>
        </p:spPr>
        <p:txBody>
          <a:bodyPr wrap="square" lIns="254" tIns="254" rIns="254" bIns="254" rtlCol="0" anchor="ctr">
            <a:normAutofit/>
          </a:bodyPr>
          <a:lstStyle/>
          <a:p>
            <a:pPr marL="0" indent="0">
              <a:buNone/>
            </a:pPr>
            <a:r>
              <a:rPr lang="en-US" sz="2600" b="1" dirty="0">
                <a:solidFill>
                  <a:srgbClr val="15191F"/>
                </a:solidFill>
                <a:latin typeface="Aptos Display" pitchFamily="34" charset="0"/>
                <a:ea typeface="Aptos Display" pitchFamily="34" charset="-122"/>
                <a:cs typeface="Aptos Display" pitchFamily="34" charset="-120"/>
              </a:rPr>
              <a:t>Scenario 2: supervised models exploit confirmed labels</a:t>
            </a:r>
            <a:endParaRPr lang="en-US" sz="2600" dirty="0"/>
          </a:p>
        </p:txBody>
      </p:sp>
      <p:sp>
        <p:nvSpPr>
          <p:cNvPr id="7" name="Text 5"/>
          <p:cNvSpPr/>
          <p:nvPr/>
        </p:nvSpPr>
        <p:spPr>
          <a:xfrm>
            <a:off x="530352" y="1005840"/>
            <a:ext cx="10881360" cy="182880"/>
          </a:xfrm>
          <a:prstGeom prst="rect">
            <a:avLst/>
          </a:prstGeom>
          <a:noFill/>
          <a:ln/>
        </p:spPr>
        <p:txBody>
          <a:bodyPr wrap="square" lIns="254" tIns="254" rIns="254" bIns="254" rtlCol="0" anchor="ctr">
            <a:normAutofit lnSpcReduction="10000"/>
          </a:bodyPr>
          <a:lstStyle/>
          <a:p>
            <a:pPr marL="0" indent="0">
              <a:buNone/>
            </a:pPr>
            <a:r>
              <a:rPr lang="en-US" sz="1220" dirty="0">
                <a:solidFill>
                  <a:srgbClr val="5D6673"/>
                </a:solidFill>
                <a:latin typeface="Aptos" pitchFamily="34" charset="0"/>
                <a:ea typeface="Aptos" pitchFamily="34" charset="-122"/>
                <a:cs typeface="Aptos" pitchFamily="34" charset="-120"/>
              </a:rPr>
              <a:t>Use these once investigations produce trustworthy outcomes.</a:t>
            </a:r>
            <a:endParaRPr lang="en-US" sz="1220" dirty="0"/>
          </a:p>
        </p:txBody>
      </p:sp>
      <p:sp>
        <p:nvSpPr>
          <p:cNvPr id="8" name="Text 6"/>
          <p:cNvSpPr/>
          <p:nvPr/>
        </p:nvSpPr>
        <p:spPr>
          <a:xfrm>
            <a:off x="777240" y="1417320"/>
            <a:ext cx="10698480" cy="621792"/>
          </a:xfrm>
          <a:prstGeom prst="rect">
            <a:avLst/>
          </a:prstGeom>
          <a:solidFill>
            <a:srgbClr val="EAF2FF"/>
          </a:solidFill>
          <a:ln>
            <a:solidFill>
              <a:srgbClr val="EAF2FF"/>
            </a:solidFill>
          </a:ln>
        </p:spPr>
        <p:txBody>
          <a:bodyPr wrap="square" lIns="1270" tIns="1270" rIns="1270" bIns="1270" rtlCol="0" anchor="ctr">
            <a:normAutofit/>
          </a:bodyPr>
          <a:lstStyle/>
          <a:p>
            <a:pPr marL="0" indent="0" algn="ctr">
              <a:buNone/>
            </a:pPr>
            <a:r>
              <a:rPr lang="en-US" sz="1650" b="1" dirty="0">
                <a:solidFill>
                  <a:srgbClr val="15191F"/>
                </a:solidFill>
              </a:rPr>
              <a:t>Operational condition: confirmed investigation outcomes now exist, so the organization can train on what fraud has looked like historically.</a:t>
            </a:r>
            <a:endParaRPr lang="en-US" sz="1650" dirty="0"/>
          </a:p>
        </p:txBody>
      </p:sp>
      <p:sp>
        <p:nvSpPr>
          <p:cNvPr id="9" name="Text 7"/>
          <p:cNvSpPr/>
          <p:nvPr/>
        </p:nvSpPr>
        <p:spPr>
          <a:xfrm>
            <a:off x="777240" y="2331720"/>
            <a:ext cx="2011680" cy="420624"/>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50" b="1" dirty="0">
                <a:solidFill>
                  <a:srgbClr val="FFFFFF"/>
                </a:solidFill>
              </a:rPr>
              <a:t>Model</a:t>
            </a:r>
            <a:endParaRPr lang="en-US" sz="1050" dirty="0"/>
          </a:p>
        </p:txBody>
      </p:sp>
      <p:sp>
        <p:nvSpPr>
          <p:cNvPr id="10" name="Text 8"/>
          <p:cNvSpPr/>
          <p:nvPr/>
        </p:nvSpPr>
        <p:spPr>
          <a:xfrm>
            <a:off x="2788920" y="2331720"/>
            <a:ext cx="3931920" cy="420624"/>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50" b="1" dirty="0">
                <a:solidFill>
                  <a:srgbClr val="FFFFFF"/>
                </a:solidFill>
              </a:rPr>
              <a:t>What it is good at</a:t>
            </a:r>
            <a:endParaRPr lang="en-US" sz="1050" dirty="0"/>
          </a:p>
        </p:txBody>
      </p:sp>
      <p:sp>
        <p:nvSpPr>
          <p:cNvPr id="11" name="Text 9"/>
          <p:cNvSpPr/>
          <p:nvPr/>
        </p:nvSpPr>
        <p:spPr>
          <a:xfrm>
            <a:off x="6720840" y="2331720"/>
            <a:ext cx="4663440" cy="420624"/>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50" b="1" dirty="0">
                <a:solidFill>
                  <a:srgbClr val="FFFFFF"/>
                </a:solidFill>
              </a:rPr>
              <a:t>Best use condition</a:t>
            </a:r>
            <a:endParaRPr lang="en-US" sz="1050" dirty="0"/>
          </a:p>
        </p:txBody>
      </p:sp>
      <p:sp>
        <p:nvSpPr>
          <p:cNvPr id="12" name="Text 10"/>
          <p:cNvSpPr/>
          <p:nvPr/>
        </p:nvSpPr>
        <p:spPr>
          <a:xfrm>
            <a:off x="777240" y="2752344"/>
            <a:ext cx="2011680" cy="420624"/>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Logistic Regression</a:t>
            </a:r>
            <a:endParaRPr lang="en-US" sz="1050" dirty="0"/>
          </a:p>
        </p:txBody>
      </p:sp>
      <p:sp>
        <p:nvSpPr>
          <p:cNvPr id="13" name="Text 11"/>
          <p:cNvSpPr/>
          <p:nvPr/>
        </p:nvSpPr>
        <p:spPr>
          <a:xfrm>
            <a:off x="2788920" y="2752344"/>
            <a:ext cx="3931920" cy="420624"/>
          </a:xfrm>
          <a:prstGeom prst="rect">
            <a:avLst/>
          </a:prstGeom>
          <a:solidFill>
            <a:srgbClr val="F2F4F7"/>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Strong linear ranking; highly interpretable</a:t>
            </a:r>
            <a:endParaRPr lang="en-US" sz="1050" dirty="0"/>
          </a:p>
        </p:txBody>
      </p:sp>
      <p:sp>
        <p:nvSpPr>
          <p:cNvPr id="14" name="Text 12"/>
          <p:cNvSpPr/>
          <p:nvPr/>
        </p:nvSpPr>
        <p:spPr>
          <a:xfrm>
            <a:off x="6720840" y="2752344"/>
            <a:ext cx="4663440" cy="420624"/>
          </a:xfrm>
          <a:prstGeom prst="rect">
            <a:avLst/>
          </a:prstGeom>
          <a:solidFill>
            <a:srgbClr val="F2F4F7"/>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When missed fraud is expensive and high recall matters</a:t>
            </a:r>
            <a:endParaRPr lang="en-US" sz="1050" dirty="0"/>
          </a:p>
        </p:txBody>
      </p:sp>
      <p:sp>
        <p:nvSpPr>
          <p:cNvPr id="15" name="Text 13"/>
          <p:cNvSpPr/>
          <p:nvPr/>
        </p:nvSpPr>
        <p:spPr>
          <a:xfrm>
            <a:off x="777240" y="3172968"/>
            <a:ext cx="2011680" cy="420624"/>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Random Forest</a:t>
            </a:r>
            <a:endParaRPr lang="en-US" sz="1050" dirty="0"/>
          </a:p>
        </p:txBody>
      </p:sp>
      <p:sp>
        <p:nvSpPr>
          <p:cNvPr id="16" name="Text 14"/>
          <p:cNvSpPr/>
          <p:nvPr/>
        </p:nvSpPr>
        <p:spPr>
          <a:xfrm>
            <a:off x="2788920" y="3172968"/>
            <a:ext cx="3931920" cy="420624"/>
          </a:xfrm>
          <a:prstGeom prst="rect">
            <a:avLst/>
          </a:prstGeom>
          <a:solidFill>
            <a:srgbClr val="FFFFFF"/>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Non-linear baseline with robust feature importance</a:t>
            </a:r>
            <a:endParaRPr lang="en-US" sz="1050" dirty="0"/>
          </a:p>
        </p:txBody>
      </p:sp>
      <p:sp>
        <p:nvSpPr>
          <p:cNvPr id="17" name="Text 15"/>
          <p:cNvSpPr/>
          <p:nvPr/>
        </p:nvSpPr>
        <p:spPr>
          <a:xfrm>
            <a:off x="6720840" y="3172968"/>
            <a:ext cx="4663440" cy="420624"/>
          </a:xfrm>
          <a:prstGeom prst="rect">
            <a:avLst/>
          </a:prstGeom>
          <a:solidFill>
            <a:srgbClr val="FFFFFF"/>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When the team wants stable tree-based screening</a:t>
            </a:r>
            <a:endParaRPr lang="en-US" sz="1050" dirty="0"/>
          </a:p>
        </p:txBody>
      </p:sp>
      <p:sp>
        <p:nvSpPr>
          <p:cNvPr id="18" name="Text 16"/>
          <p:cNvSpPr/>
          <p:nvPr/>
        </p:nvSpPr>
        <p:spPr>
          <a:xfrm>
            <a:off x="777240" y="3593592"/>
            <a:ext cx="2011680" cy="420624"/>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XGBoost</a:t>
            </a:r>
            <a:endParaRPr lang="en-US" sz="1050" dirty="0"/>
          </a:p>
        </p:txBody>
      </p:sp>
      <p:sp>
        <p:nvSpPr>
          <p:cNvPr id="19" name="Text 17"/>
          <p:cNvSpPr/>
          <p:nvPr/>
        </p:nvSpPr>
        <p:spPr>
          <a:xfrm>
            <a:off x="2788920" y="3593592"/>
            <a:ext cx="3931920" cy="420624"/>
          </a:xfrm>
          <a:prstGeom prst="rect">
            <a:avLst/>
          </a:prstGeom>
          <a:solidFill>
            <a:srgbClr val="F2F4F7"/>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Boosted trees focused on high-confidence combinations</a:t>
            </a:r>
            <a:endParaRPr lang="en-US" sz="1050" dirty="0"/>
          </a:p>
        </p:txBody>
      </p:sp>
      <p:sp>
        <p:nvSpPr>
          <p:cNvPr id="20" name="Text 18"/>
          <p:cNvSpPr/>
          <p:nvPr/>
        </p:nvSpPr>
        <p:spPr>
          <a:xfrm>
            <a:off x="6720840" y="3593592"/>
            <a:ext cx="4663440" cy="420624"/>
          </a:xfrm>
          <a:prstGeom prst="rect">
            <a:avLst/>
          </a:prstGeom>
          <a:solidFill>
            <a:srgbClr val="F2F4F7"/>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When investigation capacity is limited and false positives are costly</a:t>
            </a:r>
            <a:endParaRPr lang="en-US" sz="1050" dirty="0"/>
          </a:p>
        </p:txBody>
      </p:sp>
      <p:sp>
        <p:nvSpPr>
          <p:cNvPr id="21" name="Text 19"/>
          <p:cNvSpPr/>
          <p:nvPr/>
        </p:nvSpPr>
        <p:spPr>
          <a:xfrm>
            <a:off x="777240" y="4014216"/>
            <a:ext cx="2011680" cy="420624"/>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Neural Network</a:t>
            </a:r>
            <a:endParaRPr lang="en-US" sz="1050" dirty="0"/>
          </a:p>
        </p:txBody>
      </p:sp>
      <p:sp>
        <p:nvSpPr>
          <p:cNvPr id="22" name="Text 20"/>
          <p:cNvSpPr/>
          <p:nvPr/>
        </p:nvSpPr>
        <p:spPr>
          <a:xfrm>
            <a:off x="2788920" y="4014216"/>
            <a:ext cx="3931920" cy="420624"/>
          </a:xfrm>
          <a:prstGeom prst="rect">
            <a:avLst/>
          </a:prstGeom>
          <a:solidFill>
            <a:srgbClr val="FFFFFF"/>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Flexible non-linear classifier</a:t>
            </a:r>
            <a:endParaRPr lang="en-US" sz="1050" dirty="0"/>
          </a:p>
        </p:txBody>
      </p:sp>
      <p:sp>
        <p:nvSpPr>
          <p:cNvPr id="23" name="Text 21"/>
          <p:cNvSpPr/>
          <p:nvPr/>
        </p:nvSpPr>
        <p:spPr>
          <a:xfrm>
            <a:off x="6720840" y="4014216"/>
            <a:ext cx="4663440" cy="420624"/>
          </a:xfrm>
          <a:prstGeom prst="rect">
            <a:avLst/>
          </a:prstGeom>
          <a:solidFill>
            <a:srgbClr val="FFFFFF"/>
          </a:solidFill>
          <a:ln>
            <a:solidFill>
              <a:srgbClr val="D7DCE2"/>
            </a:solidFill>
          </a:ln>
        </p:spPr>
        <p:txBody>
          <a:bodyPr wrap="square" lIns="508" tIns="508" rIns="508" bIns="508" rtlCol="0" anchor="ctr">
            <a:normAutofit/>
          </a:bodyPr>
          <a:lstStyle/>
          <a:p>
            <a:pPr marL="0" indent="0" algn="l">
              <a:buNone/>
            </a:pPr>
            <a:r>
              <a:rPr lang="en-US" sz="1050" dirty="0">
                <a:solidFill>
                  <a:srgbClr val="15191F"/>
                </a:solidFill>
              </a:rPr>
              <a:t>    Useful benchmark, but less interpretable here</a:t>
            </a:r>
            <a:endParaRPr lang="en-US" sz="1050" dirty="0"/>
          </a:p>
        </p:txBody>
      </p:sp>
      <p:sp>
        <p:nvSpPr>
          <p:cNvPr id="24" name="Text 22"/>
          <p:cNvSpPr/>
          <p:nvPr/>
        </p:nvSpPr>
        <p:spPr>
          <a:xfrm>
            <a:off x="914400" y="4773168"/>
            <a:ext cx="10058400" cy="841248"/>
          </a:xfrm>
          <a:prstGeom prst="rect">
            <a:avLst/>
          </a:prstGeom>
          <a:noFill/>
          <a:ln/>
        </p:spPr>
        <p:txBody>
          <a:bodyPr wrap="square" lIns="508" tIns="508" rIns="508" bIns="508" rtlCol="0" anchor="t">
            <a:normAutofit/>
          </a:bodyPr>
          <a:lstStyle/>
          <a:p>
            <a:pPr marL="152400" indent="-152400">
              <a:buSzPct val="100000"/>
              <a:buChar char="•"/>
            </a:pPr>
            <a:r>
              <a:rPr lang="en-US" sz="1480" dirty="0">
                <a:solidFill>
                  <a:srgbClr val="15191F"/>
                </a:solidFill>
              </a:rPr>
              <a:t>Supervised models dominate once labels are available, but the winner depends on the operating constraint.</a:t>
            </a:r>
            <a:endParaRPr lang="en-US" sz="1480" dirty="0"/>
          </a:p>
          <a:p>
            <a:pPr marL="152400" indent="-152400">
              <a:buSzPct val="100000"/>
              <a:buChar char="•"/>
            </a:pPr>
            <a:r>
              <a:rPr lang="en-US" sz="1480" dirty="0">
                <a:solidFill>
                  <a:srgbClr val="15191F"/>
                </a:solidFill>
              </a:rPr>
              <a:t>Recall-first operations favor Logistic Regression.</a:t>
            </a:r>
            <a:endParaRPr lang="en-US" sz="1480" dirty="0"/>
          </a:p>
          <a:p>
            <a:pPr marL="152400" indent="-152400">
              <a:buSzPct val="100000"/>
              <a:buChar char="•"/>
            </a:pPr>
            <a:r>
              <a:rPr lang="en-US" sz="1480" dirty="0">
                <a:solidFill>
                  <a:srgbClr val="15191F"/>
                </a:solidFill>
              </a:rPr>
              <a:t>Capacity-constrained operations favor XGBoost because it reduces false positives.</a:t>
            </a:r>
            <a:endParaRPr lang="en-US" sz="14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46304"/>
            <a:ext cx="1920240" cy="201168"/>
          </a:xfrm>
          <a:prstGeom prst="rect">
            <a:avLst/>
          </a:prstGeom>
          <a:noFill/>
          <a:ln/>
        </p:spPr>
        <p:txBody>
          <a:bodyPr wrap="square" lIns="0" tIns="0" rIns="0" bIns="0" rtlCol="0" anchor="ctr"/>
          <a:lstStyle/>
          <a:p>
            <a:pPr marL="0" indent="0">
              <a:buNone/>
            </a:pPr>
            <a:r>
              <a:rPr lang="en-US" sz="850" b="1" dirty="0">
                <a:solidFill>
                  <a:srgbClr val="3B217A"/>
                </a:solidFill>
                <a:latin typeface="Aptos" pitchFamily="34" charset="0"/>
                <a:ea typeface="Aptos" pitchFamily="34" charset="-122"/>
                <a:cs typeface="Aptos" pitchFamily="34" charset="-120"/>
              </a:rPr>
              <a:t>HUNTER COLLEGE</a:t>
            </a:r>
            <a:endParaRPr lang="en-US" sz="850" dirty="0"/>
          </a:p>
        </p:txBody>
      </p:sp>
      <p:sp>
        <p:nvSpPr>
          <p:cNvPr id="3" name="Text 1"/>
          <p:cNvSpPr/>
          <p:nvPr/>
        </p:nvSpPr>
        <p:spPr>
          <a:xfrm>
            <a:off x="3840480" y="6565392"/>
            <a:ext cx="4572000" cy="164592"/>
          </a:xfrm>
          <a:prstGeom prst="rect">
            <a:avLst/>
          </a:prstGeom>
          <a:noFill/>
          <a:ln/>
        </p:spPr>
        <p:txBody>
          <a:bodyPr wrap="square" lIns="0" tIns="0" rIns="0" bIns="0" rtlCol="0" anchor="ctr"/>
          <a:lstStyle/>
          <a:p>
            <a:pPr marL="0" indent="0" algn="ctr">
              <a:buNone/>
            </a:pPr>
            <a:r>
              <a:rPr lang="en-US" sz="850" dirty="0">
                <a:solidFill>
                  <a:srgbClr val="5D6673"/>
                </a:solidFill>
                <a:latin typeface="Aptos" pitchFamily="34" charset="0"/>
                <a:ea typeface="Aptos" pitchFamily="34" charset="-122"/>
                <a:cs typeface="Aptos" pitchFamily="34" charset="-120"/>
              </a:rPr>
              <a:t>STAT 790  |  Francesco Pecora</a:t>
            </a:r>
            <a:endParaRPr lang="en-US" sz="850" dirty="0"/>
          </a:p>
        </p:txBody>
      </p:sp>
      <p:sp>
        <p:nvSpPr>
          <p:cNvPr id="4" name="Text 2"/>
          <p:cNvSpPr/>
          <p:nvPr/>
        </p:nvSpPr>
        <p:spPr>
          <a:xfrm>
            <a:off x="11631168" y="6547104"/>
            <a:ext cx="228600" cy="182880"/>
          </a:xfrm>
          <a:prstGeom prst="rect">
            <a:avLst/>
          </a:prstGeom>
          <a:noFill/>
          <a:ln/>
        </p:spPr>
        <p:txBody>
          <a:bodyPr wrap="square" lIns="0" tIns="0" rIns="0" bIns="0" rtlCol="0" anchor="ctr"/>
          <a:lstStyle/>
          <a:p>
            <a:pPr marL="0" indent="0" algn="r">
              <a:buNone/>
            </a:pPr>
            <a:r>
              <a:rPr lang="en-US" sz="850" dirty="0">
                <a:solidFill>
                  <a:srgbClr val="5D6673"/>
                </a:solidFill>
              </a:rPr>
              <a:t>14</a:t>
            </a:r>
            <a:endParaRPr lang="en-US" sz="850" dirty="0"/>
          </a:p>
        </p:txBody>
      </p:sp>
      <p:sp>
        <p:nvSpPr>
          <p:cNvPr id="5" name="Shape 3"/>
          <p:cNvSpPr/>
          <p:nvPr/>
        </p:nvSpPr>
        <p:spPr>
          <a:xfrm>
            <a:off x="329184" y="6419088"/>
            <a:ext cx="11521440" cy="18288"/>
          </a:xfrm>
          <a:prstGeom prst="rect">
            <a:avLst/>
          </a:prstGeom>
          <a:solidFill>
            <a:srgbClr val="3B217A"/>
          </a:solidFill>
          <a:ln w="12700">
            <a:solidFill>
              <a:srgbClr val="3B217A">
                <a:alpha val="0"/>
              </a:srgbClr>
            </a:solidFill>
            <a:prstDash val="solid"/>
          </a:ln>
        </p:spPr>
        <p:txBody>
          <a:bodyPr/>
          <a:lstStyle/>
          <a:p>
            <a:endParaRPr lang="en-US"/>
          </a:p>
        </p:txBody>
      </p:sp>
      <p:sp>
        <p:nvSpPr>
          <p:cNvPr id="6" name="Text 4"/>
          <p:cNvSpPr/>
          <p:nvPr/>
        </p:nvSpPr>
        <p:spPr>
          <a:xfrm>
            <a:off x="502920" y="530352"/>
            <a:ext cx="11201400" cy="402336"/>
          </a:xfrm>
          <a:prstGeom prst="rect">
            <a:avLst/>
          </a:prstGeom>
          <a:noFill/>
          <a:ln/>
        </p:spPr>
        <p:txBody>
          <a:bodyPr wrap="square" lIns="254" tIns="254" rIns="254" bIns="254" rtlCol="0" anchor="ctr">
            <a:normAutofit/>
          </a:bodyPr>
          <a:lstStyle/>
          <a:p>
            <a:pPr marL="0" indent="0">
              <a:buNone/>
            </a:pPr>
            <a:r>
              <a:rPr lang="en-US" sz="2600" b="1" dirty="0">
                <a:solidFill>
                  <a:srgbClr val="15191F"/>
                </a:solidFill>
                <a:latin typeface="Aptos Display" pitchFamily="34" charset="0"/>
                <a:ea typeface="Aptos Display" pitchFamily="34" charset="-122"/>
                <a:cs typeface="Aptos Display" pitchFamily="34" charset="-120"/>
              </a:rPr>
              <a:t>Supervised results: labels lift all models into a higher band</a:t>
            </a:r>
            <a:endParaRPr lang="en-US" sz="2600" dirty="0"/>
          </a:p>
        </p:txBody>
      </p:sp>
      <p:sp>
        <p:nvSpPr>
          <p:cNvPr id="7" name="Text 5"/>
          <p:cNvSpPr/>
          <p:nvPr/>
        </p:nvSpPr>
        <p:spPr>
          <a:xfrm>
            <a:off x="530352" y="1005840"/>
            <a:ext cx="10881360" cy="182880"/>
          </a:xfrm>
          <a:prstGeom prst="rect">
            <a:avLst/>
          </a:prstGeom>
          <a:noFill/>
          <a:ln/>
        </p:spPr>
        <p:txBody>
          <a:bodyPr wrap="square" lIns="254" tIns="254" rIns="254" bIns="254" rtlCol="0" anchor="ctr">
            <a:normAutofit lnSpcReduction="10000"/>
          </a:bodyPr>
          <a:lstStyle/>
          <a:p>
            <a:pPr marL="0" indent="0">
              <a:buNone/>
            </a:pPr>
            <a:r>
              <a:rPr lang="en-US" sz="1220" dirty="0">
                <a:solidFill>
                  <a:srgbClr val="5D6673"/>
                </a:solidFill>
                <a:latin typeface="Aptos" pitchFamily="34" charset="0"/>
                <a:ea typeface="Aptos" pitchFamily="34" charset="-122"/>
                <a:cs typeface="Aptos" pitchFamily="34" charset="-120"/>
              </a:rPr>
              <a:t>The engineered provider features carry strong supervised signal.</a:t>
            </a:r>
            <a:endParaRPr lang="en-US" sz="1220" dirty="0"/>
          </a:p>
        </p:txBody>
      </p:sp>
      <p:sp>
        <p:nvSpPr>
          <p:cNvPr id="8" name="Text 6"/>
          <p:cNvSpPr/>
          <p:nvPr/>
        </p:nvSpPr>
        <p:spPr>
          <a:xfrm>
            <a:off x="658368" y="1234440"/>
            <a:ext cx="1782292" cy="32004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Model</a:t>
            </a:r>
            <a:endParaRPr lang="en-US" sz="1020" dirty="0"/>
          </a:p>
        </p:txBody>
      </p:sp>
      <p:sp>
        <p:nvSpPr>
          <p:cNvPr id="9" name="Text 7"/>
          <p:cNvSpPr/>
          <p:nvPr/>
        </p:nvSpPr>
        <p:spPr>
          <a:xfrm>
            <a:off x="2440660" y="1234440"/>
            <a:ext cx="797341" cy="32004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Precision</a:t>
            </a:r>
            <a:endParaRPr lang="en-US" sz="1020" dirty="0"/>
          </a:p>
        </p:txBody>
      </p:sp>
      <p:sp>
        <p:nvSpPr>
          <p:cNvPr id="10" name="Text 8"/>
          <p:cNvSpPr/>
          <p:nvPr/>
        </p:nvSpPr>
        <p:spPr>
          <a:xfrm>
            <a:off x="3238001" y="1234440"/>
            <a:ext cx="703536" cy="32004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Recall</a:t>
            </a:r>
            <a:endParaRPr lang="en-US" sz="1020" dirty="0"/>
          </a:p>
        </p:txBody>
      </p:sp>
      <p:sp>
        <p:nvSpPr>
          <p:cNvPr id="11" name="Text 9"/>
          <p:cNvSpPr/>
          <p:nvPr/>
        </p:nvSpPr>
        <p:spPr>
          <a:xfrm>
            <a:off x="3941537" y="1234440"/>
            <a:ext cx="609731" cy="32004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F1</a:t>
            </a:r>
            <a:endParaRPr lang="en-US" sz="1020" dirty="0"/>
          </a:p>
        </p:txBody>
      </p:sp>
      <p:sp>
        <p:nvSpPr>
          <p:cNvPr id="12" name="Text 10"/>
          <p:cNvSpPr/>
          <p:nvPr/>
        </p:nvSpPr>
        <p:spPr>
          <a:xfrm>
            <a:off x="4551268" y="1234440"/>
            <a:ext cx="797341" cy="32004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ROC-AUC</a:t>
            </a:r>
            <a:endParaRPr lang="en-US" sz="1020" dirty="0"/>
          </a:p>
        </p:txBody>
      </p:sp>
      <p:sp>
        <p:nvSpPr>
          <p:cNvPr id="13" name="Text 11"/>
          <p:cNvSpPr/>
          <p:nvPr/>
        </p:nvSpPr>
        <p:spPr>
          <a:xfrm>
            <a:off x="5348609" y="1234440"/>
            <a:ext cx="750439" cy="32004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20" b="1" dirty="0">
                <a:solidFill>
                  <a:srgbClr val="FFFFFF"/>
                </a:solidFill>
              </a:rPr>
              <a:t>PR-AUC</a:t>
            </a:r>
            <a:endParaRPr lang="en-US" sz="1020" dirty="0"/>
          </a:p>
        </p:txBody>
      </p:sp>
      <p:sp>
        <p:nvSpPr>
          <p:cNvPr id="14" name="Text 12"/>
          <p:cNvSpPr/>
          <p:nvPr/>
        </p:nvSpPr>
        <p:spPr>
          <a:xfrm>
            <a:off x="658368" y="1554480"/>
            <a:ext cx="1782292"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Logistic Regression</a:t>
            </a:r>
            <a:endParaRPr lang="en-US" sz="1020" dirty="0"/>
          </a:p>
        </p:txBody>
      </p:sp>
      <p:sp>
        <p:nvSpPr>
          <p:cNvPr id="15" name="Text 13"/>
          <p:cNvSpPr/>
          <p:nvPr/>
        </p:nvSpPr>
        <p:spPr>
          <a:xfrm>
            <a:off x="2440660" y="1554480"/>
            <a:ext cx="797341"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0.478</a:t>
            </a:r>
            <a:endParaRPr lang="en-US" sz="1020" dirty="0"/>
          </a:p>
        </p:txBody>
      </p:sp>
      <p:sp>
        <p:nvSpPr>
          <p:cNvPr id="16" name="Text 14"/>
          <p:cNvSpPr/>
          <p:nvPr/>
        </p:nvSpPr>
        <p:spPr>
          <a:xfrm>
            <a:off x="3238001" y="1554480"/>
            <a:ext cx="703536"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0.862</a:t>
            </a:r>
            <a:endParaRPr lang="en-US" sz="1020" dirty="0"/>
          </a:p>
        </p:txBody>
      </p:sp>
      <p:sp>
        <p:nvSpPr>
          <p:cNvPr id="17" name="Text 15"/>
          <p:cNvSpPr/>
          <p:nvPr/>
        </p:nvSpPr>
        <p:spPr>
          <a:xfrm>
            <a:off x="3941537" y="1554480"/>
            <a:ext cx="609731"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0.615</a:t>
            </a:r>
            <a:endParaRPr lang="en-US" sz="1020" dirty="0"/>
          </a:p>
        </p:txBody>
      </p:sp>
      <p:sp>
        <p:nvSpPr>
          <p:cNvPr id="18" name="Text 16"/>
          <p:cNvSpPr/>
          <p:nvPr/>
        </p:nvSpPr>
        <p:spPr>
          <a:xfrm>
            <a:off x="4551268" y="1554480"/>
            <a:ext cx="797341"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0.953</a:t>
            </a:r>
            <a:endParaRPr lang="en-US" sz="1020" dirty="0"/>
          </a:p>
        </p:txBody>
      </p:sp>
      <p:sp>
        <p:nvSpPr>
          <p:cNvPr id="19" name="Text 17"/>
          <p:cNvSpPr/>
          <p:nvPr/>
        </p:nvSpPr>
        <p:spPr>
          <a:xfrm>
            <a:off x="5348609" y="1554480"/>
            <a:ext cx="750439"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0.742</a:t>
            </a:r>
            <a:endParaRPr lang="en-US" sz="1020" dirty="0"/>
          </a:p>
        </p:txBody>
      </p:sp>
      <p:sp>
        <p:nvSpPr>
          <p:cNvPr id="20" name="Text 18"/>
          <p:cNvSpPr/>
          <p:nvPr/>
        </p:nvSpPr>
        <p:spPr>
          <a:xfrm>
            <a:off x="658368" y="1874520"/>
            <a:ext cx="1782292"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Random Forest</a:t>
            </a:r>
            <a:endParaRPr lang="en-US" sz="1020" dirty="0"/>
          </a:p>
        </p:txBody>
      </p:sp>
      <p:sp>
        <p:nvSpPr>
          <p:cNvPr id="21" name="Text 19"/>
          <p:cNvSpPr/>
          <p:nvPr/>
        </p:nvSpPr>
        <p:spPr>
          <a:xfrm>
            <a:off x="2440660" y="1874520"/>
            <a:ext cx="797341"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0.558</a:t>
            </a:r>
            <a:endParaRPr lang="en-US" sz="1020" dirty="0"/>
          </a:p>
        </p:txBody>
      </p:sp>
      <p:sp>
        <p:nvSpPr>
          <p:cNvPr id="22" name="Text 20"/>
          <p:cNvSpPr/>
          <p:nvPr/>
        </p:nvSpPr>
        <p:spPr>
          <a:xfrm>
            <a:off x="3238001" y="1874520"/>
            <a:ext cx="703536"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0.724</a:t>
            </a:r>
            <a:endParaRPr lang="en-US" sz="1020" dirty="0"/>
          </a:p>
        </p:txBody>
      </p:sp>
      <p:sp>
        <p:nvSpPr>
          <p:cNvPr id="23" name="Text 21"/>
          <p:cNvSpPr/>
          <p:nvPr/>
        </p:nvSpPr>
        <p:spPr>
          <a:xfrm>
            <a:off x="3941537" y="1874520"/>
            <a:ext cx="609731"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0.630</a:t>
            </a:r>
            <a:endParaRPr lang="en-US" sz="1020" dirty="0"/>
          </a:p>
        </p:txBody>
      </p:sp>
      <p:sp>
        <p:nvSpPr>
          <p:cNvPr id="24" name="Text 22"/>
          <p:cNvSpPr/>
          <p:nvPr/>
        </p:nvSpPr>
        <p:spPr>
          <a:xfrm>
            <a:off x="4551268" y="1874520"/>
            <a:ext cx="797341"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0.950</a:t>
            </a:r>
            <a:endParaRPr lang="en-US" sz="1020" dirty="0"/>
          </a:p>
        </p:txBody>
      </p:sp>
      <p:sp>
        <p:nvSpPr>
          <p:cNvPr id="25" name="Text 23"/>
          <p:cNvSpPr/>
          <p:nvPr/>
        </p:nvSpPr>
        <p:spPr>
          <a:xfrm>
            <a:off x="5348609" y="1874520"/>
            <a:ext cx="750439"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0.679</a:t>
            </a:r>
            <a:endParaRPr lang="en-US" sz="1020" dirty="0"/>
          </a:p>
        </p:txBody>
      </p:sp>
      <p:sp>
        <p:nvSpPr>
          <p:cNvPr id="26" name="Text 24"/>
          <p:cNvSpPr/>
          <p:nvPr/>
        </p:nvSpPr>
        <p:spPr>
          <a:xfrm>
            <a:off x="658368" y="2194560"/>
            <a:ext cx="1782292"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XGBoost</a:t>
            </a:r>
            <a:endParaRPr lang="en-US" sz="1020" dirty="0"/>
          </a:p>
        </p:txBody>
      </p:sp>
      <p:sp>
        <p:nvSpPr>
          <p:cNvPr id="27" name="Text 25"/>
          <p:cNvSpPr/>
          <p:nvPr/>
        </p:nvSpPr>
        <p:spPr>
          <a:xfrm>
            <a:off x="2440660" y="2194560"/>
            <a:ext cx="797341"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0.639</a:t>
            </a:r>
            <a:endParaRPr lang="en-US" sz="1020" dirty="0"/>
          </a:p>
        </p:txBody>
      </p:sp>
      <p:sp>
        <p:nvSpPr>
          <p:cNvPr id="28" name="Text 26"/>
          <p:cNvSpPr/>
          <p:nvPr/>
        </p:nvSpPr>
        <p:spPr>
          <a:xfrm>
            <a:off x="3238001" y="2194560"/>
            <a:ext cx="703536"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0.697</a:t>
            </a:r>
            <a:endParaRPr lang="en-US" sz="1020" dirty="0"/>
          </a:p>
        </p:txBody>
      </p:sp>
      <p:sp>
        <p:nvSpPr>
          <p:cNvPr id="29" name="Text 27"/>
          <p:cNvSpPr/>
          <p:nvPr/>
        </p:nvSpPr>
        <p:spPr>
          <a:xfrm>
            <a:off x="3941537" y="2194560"/>
            <a:ext cx="609731"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0.667</a:t>
            </a:r>
            <a:endParaRPr lang="en-US" sz="1020" dirty="0"/>
          </a:p>
        </p:txBody>
      </p:sp>
      <p:sp>
        <p:nvSpPr>
          <p:cNvPr id="30" name="Text 28"/>
          <p:cNvSpPr/>
          <p:nvPr/>
        </p:nvSpPr>
        <p:spPr>
          <a:xfrm>
            <a:off x="4551268" y="2194560"/>
            <a:ext cx="797341"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0.947</a:t>
            </a:r>
            <a:endParaRPr lang="en-US" sz="1020" dirty="0"/>
          </a:p>
        </p:txBody>
      </p:sp>
      <p:sp>
        <p:nvSpPr>
          <p:cNvPr id="31" name="Text 29"/>
          <p:cNvSpPr/>
          <p:nvPr/>
        </p:nvSpPr>
        <p:spPr>
          <a:xfrm>
            <a:off x="5348609" y="2194560"/>
            <a:ext cx="750439" cy="32004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0.723</a:t>
            </a:r>
            <a:endParaRPr lang="en-US" sz="1020" dirty="0"/>
          </a:p>
        </p:txBody>
      </p:sp>
      <p:sp>
        <p:nvSpPr>
          <p:cNvPr id="32" name="Text 30"/>
          <p:cNvSpPr/>
          <p:nvPr/>
        </p:nvSpPr>
        <p:spPr>
          <a:xfrm>
            <a:off x="658368" y="2514600"/>
            <a:ext cx="1782292"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Neural Network</a:t>
            </a:r>
            <a:endParaRPr lang="en-US" sz="1020" dirty="0"/>
          </a:p>
        </p:txBody>
      </p:sp>
      <p:sp>
        <p:nvSpPr>
          <p:cNvPr id="33" name="Text 31"/>
          <p:cNvSpPr/>
          <p:nvPr/>
        </p:nvSpPr>
        <p:spPr>
          <a:xfrm>
            <a:off x="2440660" y="2514600"/>
            <a:ext cx="797341"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0.614</a:t>
            </a:r>
            <a:endParaRPr lang="en-US" sz="1020" dirty="0"/>
          </a:p>
        </p:txBody>
      </p:sp>
      <p:sp>
        <p:nvSpPr>
          <p:cNvPr id="34" name="Text 32"/>
          <p:cNvSpPr/>
          <p:nvPr/>
        </p:nvSpPr>
        <p:spPr>
          <a:xfrm>
            <a:off x="3238001" y="2514600"/>
            <a:ext cx="703536"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0.671</a:t>
            </a:r>
            <a:endParaRPr lang="en-US" sz="1020" dirty="0"/>
          </a:p>
        </p:txBody>
      </p:sp>
      <p:sp>
        <p:nvSpPr>
          <p:cNvPr id="35" name="Text 33"/>
          <p:cNvSpPr/>
          <p:nvPr/>
        </p:nvSpPr>
        <p:spPr>
          <a:xfrm>
            <a:off x="3941537" y="2514600"/>
            <a:ext cx="609731"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0.642</a:t>
            </a:r>
            <a:endParaRPr lang="en-US" sz="1020" dirty="0"/>
          </a:p>
        </p:txBody>
      </p:sp>
      <p:sp>
        <p:nvSpPr>
          <p:cNvPr id="36" name="Text 34"/>
          <p:cNvSpPr/>
          <p:nvPr/>
        </p:nvSpPr>
        <p:spPr>
          <a:xfrm>
            <a:off x="4551268" y="2514600"/>
            <a:ext cx="797341"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0.930</a:t>
            </a:r>
            <a:endParaRPr lang="en-US" sz="1020" dirty="0"/>
          </a:p>
        </p:txBody>
      </p:sp>
      <p:sp>
        <p:nvSpPr>
          <p:cNvPr id="37" name="Text 35"/>
          <p:cNvSpPr/>
          <p:nvPr/>
        </p:nvSpPr>
        <p:spPr>
          <a:xfrm>
            <a:off x="5348609" y="2514600"/>
            <a:ext cx="750439" cy="32004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20" dirty="0">
                <a:solidFill>
                  <a:srgbClr val="15191F"/>
                </a:solidFill>
              </a:rPr>
              <a:t>0.689</a:t>
            </a:r>
            <a:endParaRPr lang="en-US" sz="1020" dirty="0"/>
          </a:p>
        </p:txBody>
      </p:sp>
      <p:pic>
        <p:nvPicPr>
          <p:cNvPr id="38" name="Image 0" descr="/mnt/data/stat790_assets/images/graph12_supervised_roc_pr_curves.png"/>
          <p:cNvPicPr>
            <a:picLocks noChangeAspect="1"/>
          </p:cNvPicPr>
          <p:nvPr/>
        </p:nvPicPr>
        <p:blipFill>
          <a:blip r:embed="rId3"/>
          <a:stretch>
            <a:fillRect/>
          </a:stretch>
        </p:blipFill>
        <p:spPr>
          <a:xfrm>
            <a:off x="6379138" y="1417320"/>
            <a:ext cx="4843924" cy="2029968"/>
          </a:xfrm>
          <a:prstGeom prst="rect">
            <a:avLst/>
          </a:prstGeom>
        </p:spPr>
      </p:pic>
      <p:pic>
        <p:nvPicPr>
          <p:cNvPr id="39" name="Image 1" descr="/mnt/data/stat790_assets/images/graph13_supervised_confusion_matrices.png"/>
          <p:cNvPicPr>
            <a:picLocks noChangeAspect="1"/>
          </p:cNvPicPr>
          <p:nvPr/>
        </p:nvPicPr>
        <p:blipFill>
          <a:blip r:embed="rId4"/>
          <a:stretch>
            <a:fillRect/>
          </a:stretch>
        </p:blipFill>
        <p:spPr>
          <a:xfrm>
            <a:off x="885825" y="3474720"/>
            <a:ext cx="10389870" cy="2057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46304"/>
            <a:ext cx="1920240" cy="201168"/>
          </a:xfrm>
          <a:prstGeom prst="rect">
            <a:avLst/>
          </a:prstGeom>
          <a:noFill/>
          <a:ln/>
        </p:spPr>
        <p:txBody>
          <a:bodyPr wrap="square" lIns="0" tIns="0" rIns="0" bIns="0" rtlCol="0" anchor="ctr"/>
          <a:lstStyle/>
          <a:p>
            <a:pPr marL="0" indent="0">
              <a:buNone/>
            </a:pPr>
            <a:r>
              <a:rPr lang="en-US" sz="850" b="1" dirty="0">
                <a:solidFill>
                  <a:srgbClr val="3B217A"/>
                </a:solidFill>
                <a:latin typeface="Aptos" pitchFamily="34" charset="0"/>
                <a:ea typeface="Aptos" pitchFamily="34" charset="-122"/>
                <a:cs typeface="Aptos" pitchFamily="34" charset="-120"/>
              </a:rPr>
              <a:t>HUNTER COLLEGE</a:t>
            </a:r>
            <a:endParaRPr lang="en-US" sz="850" dirty="0"/>
          </a:p>
        </p:txBody>
      </p:sp>
      <p:sp>
        <p:nvSpPr>
          <p:cNvPr id="3" name="Text 1"/>
          <p:cNvSpPr/>
          <p:nvPr/>
        </p:nvSpPr>
        <p:spPr>
          <a:xfrm>
            <a:off x="3840480" y="6565392"/>
            <a:ext cx="4572000" cy="164592"/>
          </a:xfrm>
          <a:prstGeom prst="rect">
            <a:avLst/>
          </a:prstGeom>
          <a:noFill/>
          <a:ln/>
        </p:spPr>
        <p:txBody>
          <a:bodyPr wrap="square" lIns="0" tIns="0" rIns="0" bIns="0" rtlCol="0" anchor="ctr"/>
          <a:lstStyle/>
          <a:p>
            <a:pPr marL="0" indent="0" algn="ctr">
              <a:buNone/>
            </a:pPr>
            <a:r>
              <a:rPr lang="en-US" sz="850" dirty="0">
                <a:solidFill>
                  <a:srgbClr val="5D6673"/>
                </a:solidFill>
                <a:latin typeface="Aptos" pitchFamily="34" charset="0"/>
                <a:ea typeface="Aptos" pitchFamily="34" charset="-122"/>
                <a:cs typeface="Aptos" pitchFamily="34" charset="-120"/>
              </a:rPr>
              <a:t>STAT 790  |  Francesco Pecora</a:t>
            </a:r>
            <a:endParaRPr lang="en-US" sz="850" dirty="0"/>
          </a:p>
        </p:txBody>
      </p:sp>
      <p:sp>
        <p:nvSpPr>
          <p:cNvPr id="4" name="Text 2"/>
          <p:cNvSpPr/>
          <p:nvPr/>
        </p:nvSpPr>
        <p:spPr>
          <a:xfrm>
            <a:off x="11631168" y="6547104"/>
            <a:ext cx="228600" cy="182880"/>
          </a:xfrm>
          <a:prstGeom prst="rect">
            <a:avLst/>
          </a:prstGeom>
          <a:noFill/>
          <a:ln/>
        </p:spPr>
        <p:txBody>
          <a:bodyPr wrap="square" lIns="0" tIns="0" rIns="0" bIns="0" rtlCol="0" anchor="ctr"/>
          <a:lstStyle/>
          <a:p>
            <a:pPr marL="0" indent="0" algn="r">
              <a:buNone/>
            </a:pPr>
            <a:r>
              <a:rPr lang="en-US" sz="850" dirty="0">
                <a:solidFill>
                  <a:srgbClr val="5D6673"/>
                </a:solidFill>
              </a:rPr>
              <a:t>15</a:t>
            </a:r>
            <a:endParaRPr lang="en-US" sz="850" dirty="0"/>
          </a:p>
        </p:txBody>
      </p:sp>
      <p:sp>
        <p:nvSpPr>
          <p:cNvPr id="5" name="Shape 3"/>
          <p:cNvSpPr/>
          <p:nvPr/>
        </p:nvSpPr>
        <p:spPr>
          <a:xfrm>
            <a:off x="329184" y="6419088"/>
            <a:ext cx="11521440" cy="18288"/>
          </a:xfrm>
          <a:prstGeom prst="rect">
            <a:avLst/>
          </a:prstGeom>
          <a:solidFill>
            <a:srgbClr val="3B217A"/>
          </a:solidFill>
          <a:ln w="12700">
            <a:solidFill>
              <a:srgbClr val="3B217A">
                <a:alpha val="0"/>
              </a:srgbClr>
            </a:solidFill>
            <a:prstDash val="solid"/>
          </a:ln>
        </p:spPr>
        <p:txBody>
          <a:bodyPr/>
          <a:lstStyle/>
          <a:p>
            <a:endParaRPr lang="en-US"/>
          </a:p>
        </p:txBody>
      </p:sp>
      <p:sp>
        <p:nvSpPr>
          <p:cNvPr id="6" name="Text 4"/>
          <p:cNvSpPr/>
          <p:nvPr/>
        </p:nvSpPr>
        <p:spPr>
          <a:xfrm>
            <a:off x="502920" y="530352"/>
            <a:ext cx="11201400" cy="402336"/>
          </a:xfrm>
          <a:prstGeom prst="rect">
            <a:avLst/>
          </a:prstGeom>
          <a:noFill/>
          <a:ln/>
        </p:spPr>
        <p:txBody>
          <a:bodyPr wrap="square" lIns="254" tIns="254" rIns="254" bIns="254" rtlCol="0" anchor="ctr">
            <a:normAutofit/>
          </a:bodyPr>
          <a:lstStyle/>
          <a:p>
            <a:pPr marL="0" indent="0">
              <a:buNone/>
            </a:pPr>
            <a:r>
              <a:rPr lang="en-US" sz="2600" b="1" dirty="0">
                <a:solidFill>
                  <a:srgbClr val="15191F"/>
                </a:solidFill>
                <a:latin typeface="Aptos Display" pitchFamily="34" charset="0"/>
                <a:ea typeface="Aptos Display" pitchFamily="34" charset="-122"/>
                <a:cs typeface="Aptos Display" pitchFamily="34" charset="-120"/>
              </a:rPr>
              <a:t>Supervised tradeoff: Logistic Regression vs. XGBoost</a:t>
            </a:r>
            <a:endParaRPr lang="en-US" sz="2600" dirty="0"/>
          </a:p>
        </p:txBody>
      </p:sp>
      <p:sp>
        <p:nvSpPr>
          <p:cNvPr id="7" name="Text 5"/>
          <p:cNvSpPr/>
          <p:nvPr/>
        </p:nvSpPr>
        <p:spPr>
          <a:xfrm>
            <a:off x="530352" y="1005840"/>
            <a:ext cx="10881360" cy="182880"/>
          </a:xfrm>
          <a:prstGeom prst="rect">
            <a:avLst/>
          </a:prstGeom>
          <a:noFill/>
          <a:ln/>
        </p:spPr>
        <p:txBody>
          <a:bodyPr wrap="square" lIns="254" tIns="254" rIns="254" bIns="254" rtlCol="0" anchor="ctr">
            <a:normAutofit lnSpcReduction="10000"/>
          </a:bodyPr>
          <a:lstStyle/>
          <a:p>
            <a:pPr marL="0" indent="0">
              <a:buNone/>
            </a:pPr>
            <a:r>
              <a:rPr lang="en-US" sz="1220" dirty="0">
                <a:solidFill>
                  <a:srgbClr val="5D6673"/>
                </a:solidFill>
                <a:latin typeface="Aptos" pitchFamily="34" charset="0"/>
                <a:ea typeface="Aptos" pitchFamily="34" charset="-122"/>
                <a:cs typeface="Aptos" pitchFamily="34" charset="-120"/>
              </a:rPr>
              <a:t>Compare the same numbers side by side: both models are useful under different constraints.</a:t>
            </a:r>
            <a:endParaRPr lang="en-US" sz="1220" dirty="0"/>
          </a:p>
        </p:txBody>
      </p:sp>
      <p:sp>
        <p:nvSpPr>
          <p:cNvPr id="8" name="Text 6"/>
          <p:cNvSpPr/>
          <p:nvPr/>
        </p:nvSpPr>
        <p:spPr>
          <a:xfrm>
            <a:off x="868680" y="1234440"/>
            <a:ext cx="3383280" cy="45212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50" b="1" dirty="0">
                <a:solidFill>
                  <a:srgbClr val="FFFFFF"/>
                </a:solidFill>
              </a:rPr>
              <a:t>Metric / condition</a:t>
            </a:r>
            <a:endParaRPr lang="en-US" sz="1050" dirty="0"/>
          </a:p>
        </p:txBody>
      </p:sp>
      <p:sp>
        <p:nvSpPr>
          <p:cNvPr id="9" name="Text 7"/>
          <p:cNvSpPr/>
          <p:nvPr/>
        </p:nvSpPr>
        <p:spPr>
          <a:xfrm>
            <a:off x="4251960" y="1234440"/>
            <a:ext cx="3017520" cy="45212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50" b="1" dirty="0">
                <a:solidFill>
                  <a:srgbClr val="FFFFFF"/>
                </a:solidFill>
              </a:rPr>
              <a:t>Logistic Regression</a:t>
            </a:r>
            <a:endParaRPr lang="en-US" sz="1050" dirty="0"/>
          </a:p>
        </p:txBody>
      </p:sp>
      <p:sp>
        <p:nvSpPr>
          <p:cNvPr id="10" name="Text 8"/>
          <p:cNvSpPr/>
          <p:nvPr/>
        </p:nvSpPr>
        <p:spPr>
          <a:xfrm>
            <a:off x="7269480" y="1234440"/>
            <a:ext cx="4023360" cy="452120"/>
          </a:xfrm>
          <a:prstGeom prst="rect">
            <a:avLst/>
          </a:prstGeom>
          <a:solidFill>
            <a:srgbClr val="3B217A"/>
          </a:solidFill>
          <a:ln>
            <a:solidFill>
              <a:srgbClr val="D7DCE2"/>
            </a:solidFill>
          </a:ln>
        </p:spPr>
        <p:txBody>
          <a:bodyPr wrap="square" lIns="508" tIns="508" rIns="508" bIns="508" rtlCol="0" anchor="ctr">
            <a:normAutofit/>
          </a:bodyPr>
          <a:lstStyle/>
          <a:p>
            <a:pPr marL="0" indent="0" algn="ctr">
              <a:buNone/>
            </a:pPr>
            <a:r>
              <a:rPr lang="en-US" sz="1050" b="1" dirty="0">
                <a:solidFill>
                  <a:srgbClr val="FFFFFF"/>
                </a:solidFill>
              </a:rPr>
              <a:t>XGBoost</a:t>
            </a:r>
            <a:endParaRPr lang="en-US" sz="1050" dirty="0"/>
          </a:p>
        </p:txBody>
      </p:sp>
      <p:sp>
        <p:nvSpPr>
          <p:cNvPr id="11" name="Text 9"/>
          <p:cNvSpPr/>
          <p:nvPr/>
        </p:nvSpPr>
        <p:spPr>
          <a:xfrm>
            <a:off x="868680" y="1686560"/>
            <a:ext cx="338328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True positives</a:t>
            </a:r>
            <a:endParaRPr lang="en-US" sz="1050" dirty="0"/>
          </a:p>
        </p:txBody>
      </p:sp>
      <p:sp>
        <p:nvSpPr>
          <p:cNvPr id="12" name="Text 10"/>
          <p:cNvSpPr/>
          <p:nvPr/>
        </p:nvSpPr>
        <p:spPr>
          <a:xfrm>
            <a:off x="4251960" y="1686560"/>
            <a:ext cx="301752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131</a:t>
            </a:r>
            <a:endParaRPr lang="en-US" sz="1050" dirty="0"/>
          </a:p>
        </p:txBody>
      </p:sp>
      <p:sp>
        <p:nvSpPr>
          <p:cNvPr id="13" name="Text 11"/>
          <p:cNvSpPr/>
          <p:nvPr/>
        </p:nvSpPr>
        <p:spPr>
          <a:xfrm>
            <a:off x="7269480" y="1686560"/>
            <a:ext cx="402336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106</a:t>
            </a:r>
            <a:endParaRPr lang="en-US" sz="1050" dirty="0"/>
          </a:p>
        </p:txBody>
      </p:sp>
      <p:sp>
        <p:nvSpPr>
          <p:cNvPr id="14" name="Text 12"/>
          <p:cNvSpPr/>
          <p:nvPr/>
        </p:nvSpPr>
        <p:spPr>
          <a:xfrm>
            <a:off x="868680" y="2138680"/>
            <a:ext cx="338328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False positives</a:t>
            </a:r>
            <a:endParaRPr lang="en-US" sz="1050" dirty="0"/>
          </a:p>
        </p:txBody>
      </p:sp>
      <p:sp>
        <p:nvSpPr>
          <p:cNvPr id="15" name="Text 13"/>
          <p:cNvSpPr/>
          <p:nvPr/>
        </p:nvSpPr>
        <p:spPr>
          <a:xfrm>
            <a:off x="4251960" y="2138680"/>
            <a:ext cx="301752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143</a:t>
            </a:r>
            <a:endParaRPr lang="en-US" sz="1050" dirty="0"/>
          </a:p>
        </p:txBody>
      </p:sp>
      <p:sp>
        <p:nvSpPr>
          <p:cNvPr id="16" name="Text 14"/>
          <p:cNvSpPr/>
          <p:nvPr/>
        </p:nvSpPr>
        <p:spPr>
          <a:xfrm>
            <a:off x="7269480" y="2138680"/>
            <a:ext cx="402336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60</a:t>
            </a:r>
            <a:endParaRPr lang="en-US" sz="1050" dirty="0"/>
          </a:p>
        </p:txBody>
      </p:sp>
      <p:sp>
        <p:nvSpPr>
          <p:cNvPr id="17" name="Text 15"/>
          <p:cNvSpPr/>
          <p:nvPr/>
        </p:nvSpPr>
        <p:spPr>
          <a:xfrm>
            <a:off x="868680" y="2590800"/>
            <a:ext cx="338328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Flagged total (TP + FP)</a:t>
            </a:r>
            <a:endParaRPr lang="en-US" sz="1050" dirty="0"/>
          </a:p>
        </p:txBody>
      </p:sp>
      <p:sp>
        <p:nvSpPr>
          <p:cNvPr id="18" name="Text 16"/>
          <p:cNvSpPr/>
          <p:nvPr/>
        </p:nvSpPr>
        <p:spPr>
          <a:xfrm>
            <a:off x="4251960" y="2590800"/>
            <a:ext cx="301752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274</a:t>
            </a:r>
            <a:endParaRPr lang="en-US" sz="1050" dirty="0"/>
          </a:p>
        </p:txBody>
      </p:sp>
      <p:sp>
        <p:nvSpPr>
          <p:cNvPr id="19" name="Text 17"/>
          <p:cNvSpPr/>
          <p:nvPr/>
        </p:nvSpPr>
        <p:spPr>
          <a:xfrm>
            <a:off x="7269480" y="2590800"/>
            <a:ext cx="402336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166</a:t>
            </a:r>
            <a:endParaRPr lang="en-US" sz="1050" dirty="0"/>
          </a:p>
        </p:txBody>
      </p:sp>
      <p:sp>
        <p:nvSpPr>
          <p:cNvPr id="20" name="Text 18"/>
          <p:cNvSpPr/>
          <p:nvPr/>
        </p:nvSpPr>
        <p:spPr>
          <a:xfrm>
            <a:off x="868680" y="3042920"/>
            <a:ext cx="338328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Precision</a:t>
            </a:r>
            <a:endParaRPr lang="en-US" sz="1050" dirty="0"/>
          </a:p>
        </p:txBody>
      </p:sp>
      <p:sp>
        <p:nvSpPr>
          <p:cNvPr id="21" name="Text 19"/>
          <p:cNvSpPr/>
          <p:nvPr/>
        </p:nvSpPr>
        <p:spPr>
          <a:xfrm>
            <a:off x="4251960" y="3042920"/>
            <a:ext cx="301752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0.478</a:t>
            </a:r>
            <a:endParaRPr lang="en-US" sz="1050" dirty="0"/>
          </a:p>
        </p:txBody>
      </p:sp>
      <p:sp>
        <p:nvSpPr>
          <p:cNvPr id="22" name="Text 20"/>
          <p:cNvSpPr/>
          <p:nvPr/>
        </p:nvSpPr>
        <p:spPr>
          <a:xfrm>
            <a:off x="7269480" y="3042920"/>
            <a:ext cx="402336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0.639</a:t>
            </a:r>
            <a:endParaRPr lang="en-US" sz="1050" dirty="0"/>
          </a:p>
        </p:txBody>
      </p:sp>
      <p:sp>
        <p:nvSpPr>
          <p:cNvPr id="23" name="Text 21"/>
          <p:cNvSpPr/>
          <p:nvPr/>
        </p:nvSpPr>
        <p:spPr>
          <a:xfrm>
            <a:off x="868680" y="3495040"/>
            <a:ext cx="338328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Recall</a:t>
            </a:r>
            <a:endParaRPr lang="en-US" sz="1050" dirty="0"/>
          </a:p>
        </p:txBody>
      </p:sp>
      <p:sp>
        <p:nvSpPr>
          <p:cNvPr id="24" name="Text 22"/>
          <p:cNvSpPr/>
          <p:nvPr/>
        </p:nvSpPr>
        <p:spPr>
          <a:xfrm>
            <a:off x="4251960" y="3495040"/>
            <a:ext cx="301752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0.862</a:t>
            </a:r>
            <a:endParaRPr lang="en-US" sz="1050" dirty="0"/>
          </a:p>
        </p:txBody>
      </p:sp>
      <p:sp>
        <p:nvSpPr>
          <p:cNvPr id="25" name="Text 23"/>
          <p:cNvSpPr/>
          <p:nvPr/>
        </p:nvSpPr>
        <p:spPr>
          <a:xfrm>
            <a:off x="7269480" y="3495040"/>
            <a:ext cx="402336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0.697</a:t>
            </a:r>
            <a:endParaRPr lang="en-US" sz="1050" dirty="0"/>
          </a:p>
        </p:txBody>
      </p:sp>
      <p:sp>
        <p:nvSpPr>
          <p:cNvPr id="26" name="Text 24"/>
          <p:cNvSpPr/>
          <p:nvPr/>
        </p:nvSpPr>
        <p:spPr>
          <a:xfrm>
            <a:off x="868680" y="3947160"/>
            <a:ext cx="338328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F1</a:t>
            </a:r>
            <a:endParaRPr lang="en-US" sz="1050" dirty="0"/>
          </a:p>
        </p:txBody>
      </p:sp>
      <p:sp>
        <p:nvSpPr>
          <p:cNvPr id="27" name="Text 25"/>
          <p:cNvSpPr/>
          <p:nvPr/>
        </p:nvSpPr>
        <p:spPr>
          <a:xfrm>
            <a:off x="4251960" y="3947160"/>
            <a:ext cx="301752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0.615</a:t>
            </a:r>
            <a:endParaRPr lang="en-US" sz="1050" dirty="0"/>
          </a:p>
        </p:txBody>
      </p:sp>
      <p:sp>
        <p:nvSpPr>
          <p:cNvPr id="28" name="Text 26"/>
          <p:cNvSpPr/>
          <p:nvPr/>
        </p:nvSpPr>
        <p:spPr>
          <a:xfrm>
            <a:off x="7269480" y="3947160"/>
            <a:ext cx="402336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0.667</a:t>
            </a:r>
            <a:endParaRPr lang="en-US" sz="1050" dirty="0"/>
          </a:p>
        </p:txBody>
      </p:sp>
      <p:sp>
        <p:nvSpPr>
          <p:cNvPr id="29" name="Text 27"/>
          <p:cNvSpPr/>
          <p:nvPr/>
        </p:nvSpPr>
        <p:spPr>
          <a:xfrm>
            <a:off x="868680" y="4399280"/>
            <a:ext cx="338328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Recoverable test-set reimbursement</a:t>
            </a:r>
            <a:endParaRPr lang="en-US" sz="1050" dirty="0"/>
          </a:p>
        </p:txBody>
      </p:sp>
      <p:sp>
        <p:nvSpPr>
          <p:cNvPr id="30" name="Text 28"/>
          <p:cNvSpPr/>
          <p:nvPr/>
        </p:nvSpPr>
        <p:spPr>
          <a:xfrm>
            <a:off x="4251960" y="4399280"/>
            <a:ext cx="301752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$101.9M</a:t>
            </a:r>
            <a:endParaRPr lang="en-US" sz="1050" dirty="0"/>
          </a:p>
        </p:txBody>
      </p:sp>
      <p:sp>
        <p:nvSpPr>
          <p:cNvPr id="31" name="Text 29"/>
          <p:cNvSpPr/>
          <p:nvPr/>
        </p:nvSpPr>
        <p:spPr>
          <a:xfrm>
            <a:off x="7269480" y="4399280"/>
            <a:ext cx="4023360" cy="452120"/>
          </a:xfrm>
          <a:prstGeom prst="rect">
            <a:avLst/>
          </a:prstGeom>
          <a:solidFill>
            <a:srgbClr val="F2F4F7"/>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$96.0M</a:t>
            </a:r>
            <a:endParaRPr lang="en-US" sz="1050" dirty="0"/>
          </a:p>
        </p:txBody>
      </p:sp>
      <p:sp>
        <p:nvSpPr>
          <p:cNvPr id="32" name="Text 30"/>
          <p:cNvSpPr/>
          <p:nvPr/>
        </p:nvSpPr>
        <p:spPr>
          <a:xfrm>
            <a:off x="868680" y="4851400"/>
            <a:ext cx="338328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Best condition</a:t>
            </a:r>
            <a:endParaRPr lang="en-US" sz="1050" dirty="0"/>
          </a:p>
        </p:txBody>
      </p:sp>
      <p:sp>
        <p:nvSpPr>
          <p:cNvPr id="33" name="Text 31"/>
          <p:cNvSpPr/>
          <p:nvPr/>
        </p:nvSpPr>
        <p:spPr>
          <a:xfrm>
            <a:off x="4251960" y="4851400"/>
            <a:ext cx="301752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Missed fraud is costly; broad surveillance</a:t>
            </a:r>
            <a:endParaRPr lang="en-US" sz="1050" dirty="0"/>
          </a:p>
        </p:txBody>
      </p:sp>
      <p:sp>
        <p:nvSpPr>
          <p:cNvPr id="34" name="Text 32"/>
          <p:cNvSpPr/>
          <p:nvPr/>
        </p:nvSpPr>
        <p:spPr>
          <a:xfrm>
            <a:off x="7269480" y="4851400"/>
            <a:ext cx="4023360" cy="452120"/>
          </a:xfrm>
          <a:prstGeom prst="rect">
            <a:avLst/>
          </a:prstGeom>
          <a:solidFill>
            <a:srgbClr val="FFFFFF"/>
          </a:solidFill>
          <a:ln>
            <a:solidFill>
              <a:srgbClr val="D7DCE2"/>
            </a:solidFill>
          </a:ln>
        </p:spPr>
        <p:txBody>
          <a:bodyPr wrap="square" lIns="508" tIns="508" rIns="508" bIns="508" rtlCol="0" anchor="ctr">
            <a:normAutofit/>
          </a:bodyPr>
          <a:lstStyle/>
          <a:p>
            <a:pPr marL="0" indent="0" algn="ctr">
              <a:buNone/>
            </a:pPr>
            <a:r>
              <a:rPr lang="en-US" sz="1050" dirty="0">
                <a:solidFill>
                  <a:srgbClr val="15191F"/>
                </a:solidFill>
              </a:rPr>
              <a:t>Investigator capacity is limited; false positives are costly</a:t>
            </a:r>
            <a:endParaRPr lang="en-US" sz="1050" dirty="0"/>
          </a:p>
        </p:txBody>
      </p:sp>
      <p:sp>
        <p:nvSpPr>
          <p:cNvPr id="35" name="Text 33"/>
          <p:cNvSpPr/>
          <p:nvPr/>
        </p:nvSpPr>
        <p:spPr>
          <a:xfrm>
            <a:off x="1051560" y="5532120"/>
            <a:ext cx="10012680" cy="502920"/>
          </a:xfrm>
          <a:prstGeom prst="rect">
            <a:avLst/>
          </a:prstGeom>
          <a:solidFill>
            <a:srgbClr val="FFF5DC"/>
          </a:solidFill>
          <a:ln>
            <a:solidFill>
              <a:srgbClr val="FFF5DC"/>
            </a:solidFill>
          </a:ln>
        </p:spPr>
        <p:txBody>
          <a:bodyPr wrap="square" lIns="1270" tIns="1270" rIns="1270" bIns="1270" rtlCol="0" anchor="ctr">
            <a:normAutofit/>
          </a:bodyPr>
          <a:lstStyle/>
          <a:p>
            <a:pPr marL="0" indent="0" algn="ctr">
              <a:buNone/>
            </a:pPr>
            <a:r>
              <a:rPr lang="en-US" sz="1700" b="1" dirty="0">
                <a:solidFill>
                  <a:srgbClr val="15191F"/>
                </a:solidFill>
              </a:rPr>
              <a:t>Translation: Logistic Regression catches more fraud; XGBoost wastes fewer investigations.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Head-to-head: labels are worth about 0.12–0.14 AUC points</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But unsupervised models still solve an important first-stage problem.</a:t>
            </a:r>
            <a:endParaRPr lang="en-US" sz="1020" dirty="0"/>
          </a:p>
        </p:txBody>
      </p:sp>
      <p:pic>
        <p:nvPicPr>
          <p:cNvPr id="5" name="Image 0" descr="/mnt/data/STAT790_GitHub_README_Current_Bundle/images/graph17_supervised_vs_unsupervised_auc.png"/>
          <p:cNvPicPr>
            <a:picLocks noChangeAspect="1"/>
          </p:cNvPicPr>
          <p:nvPr/>
        </p:nvPicPr>
        <p:blipFill>
          <a:blip r:embed="rId3"/>
          <a:stretch>
            <a:fillRect/>
          </a:stretch>
        </p:blipFill>
        <p:spPr>
          <a:xfrm>
            <a:off x="889691" y="1097280"/>
            <a:ext cx="5170058" cy="2971800"/>
          </a:xfrm>
          <a:prstGeom prst="rect">
            <a:avLst/>
          </a:prstGeom>
        </p:spPr>
      </p:pic>
      <p:sp>
        <p:nvSpPr>
          <p:cNvPr id="6" name="Shape 3"/>
          <p:cNvSpPr/>
          <p:nvPr/>
        </p:nvSpPr>
        <p:spPr>
          <a:xfrm>
            <a:off x="7543800" y="2423160"/>
            <a:ext cx="502920" cy="0"/>
          </a:xfrm>
          <a:prstGeom prst="line">
            <a:avLst/>
          </a:prstGeom>
          <a:noFill/>
          <a:ln w="25400">
            <a:solidFill>
              <a:srgbClr val="CAD2DC"/>
            </a:solidFill>
            <a:prstDash val="solid"/>
            <a:tailEnd type="triangle"/>
          </a:ln>
        </p:spPr>
        <p:txBody>
          <a:bodyPr/>
          <a:lstStyle/>
          <a:p>
            <a:endParaRPr/>
          </a:p>
        </p:txBody>
      </p:sp>
      <p:sp>
        <p:nvSpPr>
          <p:cNvPr id="7" name="Shape 4"/>
          <p:cNvSpPr/>
          <p:nvPr/>
        </p:nvSpPr>
        <p:spPr>
          <a:xfrm>
            <a:off x="8869680" y="2423160"/>
            <a:ext cx="502920" cy="0"/>
          </a:xfrm>
          <a:prstGeom prst="line">
            <a:avLst/>
          </a:prstGeom>
          <a:noFill/>
          <a:ln w="25400">
            <a:solidFill>
              <a:srgbClr val="CAD2DC"/>
            </a:solidFill>
            <a:prstDash val="solid"/>
            <a:tailEnd type="triangle"/>
          </a:ln>
        </p:spPr>
        <p:txBody>
          <a:bodyPr/>
          <a:lstStyle/>
          <a:p>
            <a:endParaRPr/>
          </a:p>
        </p:txBody>
      </p:sp>
      <p:sp>
        <p:nvSpPr>
          <p:cNvPr id="8" name="Shape 5"/>
          <p:cNvSpPr/>
          <p:nvPr/>
        </p:nvSpPr>
        <p:spPr>
          <a:xfrm>
            <a:off x="10195560" y="2423160"/>
            <a:ext cx="502920" cy="0"/>
          </a:xfrm>
          <a:prstGeom prst="line">
            <a:avLst/>
          </a:prstGeom>
          <a:noFill/>
          <a:ln w="25400">
            <a:solidFill>
              <a:srgbClr val="CAD2DC"/>
            </a:solidFill>
            <a:prstDash val="solid"/>
            <a:tailEnd type="triangle"/>
          </a:ln>
        </p:spPr>
        <p:txBody>
          <a:bodyPr/>
          <a:lstStyle/>
          <a:p>
            <a:endParaRPr/>
          </a:p>
        </p:txBody>
      </p:sp>
      <p:sp>
        <p:nvSpPr>
          <p:cNvPr id="9" name="Shape 6"/>
          <p:cNvSpPr/>
          <p:nvPr/>
        </p:nvSpPr>
        <p:spPr>
          <a:xfrm>
            <a:off x="6537960" y="1783080"/>
            <a:ext cx="777240" cy="777240"/>
          </a:xfrm>
          <a:prstGeom prst="ellipse">
            <a:avLst/>
          </a:prstGeom>
          <a:solidFill>
            <a:srgbClr val="1565C0"/>
          </a:solidFill>
          <a:ln w="12700">
            <a:solidFill>
              <a:srgbClr val="FFFFFF"/>
            </a:solidFill>
            <a:prstDash val="solid"/>
          </a:ln>
        </p:spPr>
        <p:txBody>
          <a:bodyPr/>
          <a:lstStyle/>
          <a:p>
            <a:endParaRPr/>
          </a:p>
        </p:txBody>
      </p:sp>
      <p:sp>
        <p:nvSpPr>
          <p:cNvPr id="10" name="Text 7"/>
          <p:cNvSpPr/>
          <p:nvPr/>
        </p:nvSpPr>
        <p:spPr>
          <a:xfrm>
            <a:off x="6537960" y="1984248"/>
            <a:ext cx="777240" cy="256032"/>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1" name="Text 8"/>
          <p:cNvSpPr/>
          <p:nvPr/>
        </p:nvSpPr>
        <p:spPr>
          <a:xfrm>
            <a:off x="6309360" y="2743200"/>
            <a:ext cx="1234440" cy="237744"/>
          </a:xfrm>
          <a:prstGeom prst="rect">
            <a:avLst/>
          </a:prstGeom>
          <a:noFill/>
          <a:ln/>
        </p:spPr>
        <p:txBody>
          <a:bodyPr wrap="square" lIns="0" tIns="0" rIns="0" bIns="0" rtlCol="0" anchor="ctr">
            <a:normAutofit/>
          </a:bodyPr>
          <a:lstStyle/>
          <a:p>
            <a:pPr marL="0" indent="0" algn="ctr">
              <a:buNone/>
            </a:pPr>
            <a:r>
              <a:rPr lang="en-US" sz="1100" b="1" dirty="0">
                <a:solidFill>
                  <a:srgbClr val="182230"/>
                </a:solidFill>
              </a:rPr>
              <a:t>Cold start</a:t>
            </a:r>
            <a:endParaRPr lang="en-US" sz="1100" dirty="0"/>
          </a:p>
        </p:txBody>
      </p:sp>
      <p:sp>
        <p:nvSpPr>
          <p:cNvPr id="12" name="Text 9"/>
          <p:cNvSpPr/>
          <p:nvPr/>
        </p:nvSpPr>
        <p:spPr>
          <a:xfrm>
            <a:off x="6309360" y="3035808"/>
            <a:ext cx="1234440" cy="411480"/>
          </a:xfrm>
          <a:prstGeom prst="rect">
            <a:avLst/>
          </a:prstGeom>
          <a:noFill/>
          <a:ln/>
        </p:spPr>
        <p:txBody>
          <a:bodyPr wrap="square" lIns="0" tIns="0" rIns="0" bIns="0" rtlCol="0" anchor="ctr">
            <a:normAutofit/>
          </a:bodyPr>
          <a:lstStyle/>
          <a:p>
            <a:pPr marL="0" indent="0" algn="ctr">
              <a:buNone/>
            </a:pPr>
            <a:r>
              <a:rPr lang="en-US" sz="940" dirty="0">
                <a:solidFill>
                  <a:srgbClr val="5B6678"/>
                </a:solidFill>
              </a:rPr>
              <a:t>Unsupervised</a:t>
            </a:r>
            <a:endParaRPr lang="en-US" sz="940" dirty="0"/>
          </a:p>
          <a:p>
            <a:pPr marL="0" indent="0" algn="ctr">
              <a:buNone/>
            </a:pPr>
            <a:r>
              <a:rPr lang="en-US" sz="940" dirty="0">
                <a:solidFill>
                  <a:srgbClr val="5B6678"/>
                </a:solidFill>
              </a:rPr>
              <a:t>ranking</a:t>
            </a:r>
            <a:endParaRPr lang="en-US" sz="940" dirty="0"/>
          </a:p>
        </p:txBody>
      </p:sp>
      <p:sp>
        <p:nvSpPr>
          <p:cNvPr id="13" name="Shape 10"/>
          <p:cNvSpPr/>
          <p:nvPr/>
        </p:nvSpPr>
        <p:spPr>
          <a:xfrm>
            <a:off x="7863840" y="1783080"/>
            <a:ext cx="777240" cy="777240"/>
          </a:xfrm>
          <a:prstGeom prst="ellipse">
            <a:avLst/>
          </a:prstGeom>
          <a:solidFill>
            <a:srgbClr val="592C82"/>
          </a:solidFill>
          <a:ln w="12700">
            <a:solidFill>
              <a:srgbClr val="FFFFFF"/>
            </a:solidFill>
            <a:prstDash val="solid"/>
          </a:ln>
        </p:spPr>
        <p:txBody>
          <a:bodyPr/>
          <a:lstStyle/>
          <a:p>
            <a:endParaRPr/>
          </a:p>
        </p:txBody>
      </p:sp>
      <p:sp>
        <p:nvSpPr>
          <p:cNvPr id="14" name="Text 11"/>
          <p:cNvSpPr/>
          <p:nvPr/>
        </p:nvSpPr>
        <p:spPr>
          <a:xfrm>
            <a:off x="7863840" y="1984248"/>
            <a:ext cx="777240" cy="256032"/>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5" name="Text 12"/>
          <p:cNvSpPr/>
          <p:nvPr/>
        </p:nvSpPr>
        <p:spPr>
          <a:xfrm>
            <a:off x="7635240" y="2743200"/>
            <a:ext cx="1234440" cy="237744"/>
          </a:xfrm>
          <a:prstGeom prst="rect">
            <a:avLst/>
          </a:prstGeom>
          <a:noFill/>
          <a:ln/>
        </p:spPr>
        <p:txBody>
          <a:bodyPr wrap="square" lIns="0" tIns="0" rIns="0" bIns="0" rtlCol="0" anchor="ctr">
            <a:normAutofit/>
          </a:bodyPr>
          <a:lstStyle/>
          <a:p>
            <a:pPr marL="0" indent="0" algn="ctr">
              <a:buNone/>
            </a:pPr>
            <a:r>
              <a:rPr lang="en-US" sz="1100" b="1" dirty="0">
                <a:solidFill>
                  <a:srgbClr val="182230"/>
                </a:solidFill>
              </a:rPr>
              <a:t>Review</a:t>
            </a:r>
            <a:endParaRPr lang="en-US" sz="1100" dirty="0"/>
          </a:p>
        </p:txBody>
      </p:sp>
      <p:sp>
        <p:nvSpPr>
          <p:cNvPr id="16" name="Text 13"/>
          <p:cNvSpPr/>
          <p:nvPr/>
        </p:nvSpPr>
        <p:spPr>
          <a:xfrm>
            <a:off x="7635240" y="3035808"/>
            <a:ext cx="1234440" cy="411480"/>
          </a:xfrm>
          <a:prstGeom prst="rect">
            <a:avLst/>
          </a:prstGeom>
          <a:noFill/>
          <a:ln/>
        </p:spPr>
        <p:txBody>
          <a:bodyPr wrap="square" lIns="0" tIns="0" rIns="0" bIns="0" rtlCol="0" anchor="ctr">
            <a:normAutofit/>
          </a:bodyPr>
          <a:lstStyle/>
          <a:p>
            <a:pPr marL="0" indent="0" algn="ctr">
              <a:buNone/>
            </a:pPr>
            <a:r>
              <a:rPr lang="en-US" sz="940" dirty="0">
                <a:solidFill>
                  <a:srgbClr val="5B6678"/>
                </a:solidFill>
              </a:rPr>
              <a:t>Human</a:t>
            </a:r>
            <a:endParaRPr lang="en-US" sz="940" dirty="0"/>
          </a:p>
          <a:p>
            <a:pPr marL="0" indent="0" algn="ctr">
              <a:buNone/>
            </a:pPr>
            <a:r>
              <a:rPr lang="en-US" sz="940" dirty="0">
                <a:solidFill>
                  <a:srgbClr val="5B6678"/>
                </a:solidFill>
              </a:rPr>
              <a:t>investigation</a:t>
            </a:r>
            <a:endParaRPr lang="en-US" sz="940" dirty="0"/>
          </a:p>
        </p:txBody>
      </p:sp>
      <p:sp>
        <p:nvSpPr>
          <p:cNvPr id="17" name="Shape 14"/>
          <p:cNvSpPr/>
          <p:nvPr/>
        </p:nvSpPr>
        <p:spPr>
          <a:xfrm>
            <a:off x="9189720" y="1783080"/>
            <a:ext cx="777240" cy="777240"/>
          </a:xfrm>
          <a:prstGeom prst="ellipse">
            <a:avLst/>
          </a:prstGeom>
          <a:solidFill>
            <a:srgbClr val="C7A252"/>
          </a:solidFill>
          <a:ln w="12700">
            <a:solidFill>
              <a:srgbClr val="FFFFFF"/>
            </a:solidFill>
            <a:prstDash val="solid"/>
          </a:ln>
        </p:spPr>
        <p:txBody>
          <a:bodyPr/>
          <a:lstStyle/>
          <a:p>
            <a:endParaRPr/>
          </a:p>
        </p:txBody>
      </p:sp>
      <p:sp>
        <p:nvSpPr>
          <p:cNvPr id="18" name="Text 15"/>
          <p:cNvSpPr/>
          <p:nvPr/>
        </p:nvSpPr>
        <p:spPr>
          <a:xfrm>
            <a:off x="9189720" y="1984248"/>
            <a:ext cx="777240" cy="256032"/>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9" name="Text 16"/>
          <p:cNvSpPr/>
          <p:nvPr/>
        </p:nvSpPr>
        <p:spPr>
          <a:xfrm>
            <a:off x="8961120" y="2743200"/>
            <a:ext cx="1234440" cy="237744"/>
          </a:xfrm>
          <a:prstGeom prst="rect">
            <a:avLst/>
          </a:prstGeom>
          <a:noFill/>
          <a:ln/>
        </p:spPr>
        <p:txBody>
          <a:bodyPr wrap="square" lIns="0" tIns="0" rIns="0" bIns="0" rtlCol="0" anchor="ctr">
            <a:normAutofit/>
          </a:bodyPr>
          <a:lstStyle/>
          <a:p>
            <a:pPr marL="0" indent="0" algn="ctr">
              <a:buNone/>
            </a:pPr>
            <a:r>
              <a:rPr lang="en-US" sz="1100" b="1" dirty="0">
                <a:solidFill>
                  <a:srgbClr val="182230"/>
                </a:solidFill>
              </a:rPr>
              <a:t>Labels</a:t>
            </a:r>
            <a:endParaRPr lang="en-US" sz="1100" dirty="0"/>
          </a:p>
        </p:txBody>
      </p:sp>
      <p:sp>
        <p:nvSpPr>
          <p:cNvPr id="20" name="Text 17"/>
          <p:cNvSpPr/>
          <p:nvPr/>
        </p:nvSpPr>
        <p:spPr>
          <a:xfrm>
            <a:off x="8961120" y="3035808"/>
            <a:ext cx="1234440" cy="411480"/>
          </a:xfrm>
          <a:prstGeom prst="rect">
            <a:avLst/>
          </a:prstGeom>
          <a:noFill/>
          <a:ln/>
        </p:spPr>
        <p:txBody>
          <a:bodyPr wrap="square" lIns="0" tIns="0" rIns="0" bIns="0" rtlCol="0" anchor="ctr">
            <a:normAutofit/>
          </a:bodyPr>
          <a:lstStyle/>
          <a:p>
            <a:pPr marL="0" indent="0" algn="ctr">
              <a:buNone/>
            </a:pPr>
            <a:r>
              <a:rPr lang="en-US" sz="940" dirty="0">
                <a:solidFill>
                  <a:srgbClr val="5B6678"/>
                </a:solidFill>
              </a:rPr>
              <a:t>Confirmed</a:t>
            </a:r>
            <a:endParaRPr lang="en-US" sz="940" dirty="0"/>
          </a:p>
          <a:p>
            <a:pPr marL="0" indent="0" algn="ctr">
              <a:buNone/>
            </a:pPr>
            <a:r>
              <a:rPr lang="en-US" sz="940" dirty="0">
                <a:solidFill>
                  <a:srgbClr val="5B6678"/>
                </a:solidFill>
              </a:rPr>
              <a:t>outcomes</a:t>
            </a:r>
            <a:endParaRPr lang="en-US" sz="940" dirty="0"/>
          </a:p>
        </p:txBody>
      </p:sp>
      <p:sp>
        <p:nvSpPr>
          <p:cNvPr id="21" name="Shape 18"/>
          <p:cNvSpPr/>
          <p:nvPr/>
        </p:nvSpPr>
        <p:spPr>
          <a:xfrm>
            <a:off x="10515600" y="1783080"/>
            <a:ext cx="777240" cy="777240"/>
          </a:xfrm>
          <a:prstGeom prst="ellipse">
            <a:avLst/>
          </a:prstGeom>
          <a:solidFill>
            <a:srgbClr val="2E7D32"/>
          </a:solidFill>
          <a:ln w="12700">
            <a:solidFill>
              <a:srgbClr val="FFFFFF"/>
            </a:solidFill>
            <a:prstDash val="solid"/>
          </a:ln>
        </p:spPr>
        <p:txBody>
          <a:bodyPr/>
          <a:lstStyle/>
          <a:p>
            <a:endParaRPr/>
          </a:p>
        </p:txBody>
      </p:sp>
      <p:sp>
        <p:nvSpPr>
          <p:cNvPr id="22" name="Text 19"/>
          <p:cNvSpPr/>
          <p:nvPr/>
        </p:nvSpPr>
        <p:spPr>
          <a:xfrm>
            <a:off x="10515600" y="1984248"/>
            <a:ext cx="777240" cy="256032"/>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3" name="Text 20"/>
          <p:cNvSpPr/>
          <p:nvPr/>
        </p:nvSpPr>
        <p:spPr>
          <a:xfrm>
            <a:off x="10287000" y="2743200"/>
            <a:ext cx="1234440" cy="237744"/>
          </a:xfrm>
          <a:prstGeom prst="rect">
            <a:avLst/>
          </a:prstGeom>
          <a:noFill/>
          <a:ln/>
        </p:spPr>
        <p:txBody>
          <a:bodyPr wrap="square" lIns="0" tIns="0" rIns="0" bIns="0" rtlCol="0" anchor="ctr">
            <a:normAutofit/>
          </a:bodyPr>
          <a:lstStyle/>
          <a:p>
            <a:pPr marL="0" indent="0" algn="ctr">
              <a:buNone/>
            </a:pPr>
            <a:r>
              <a:rPr lang="en-US" sz="1100" b="1" dirty="0">
                <a:solidFill>
                  <a:srgbClr val="182230"/>
                </a:solidFill>
              </a:rPr>
              <a:t>Steady state</a:t>
            </a:r>
            <a:endParaRPr lang="en-US" sz="1100" dirty="0"/>
          </a:p>
        </p:txBody>
      </p:sp>
      <p:sp>
        <p:nvSpPr>
          <p:cNvPr id="24" name="Text 21"/>
          <p:cNvSpPr/>
          <p:nvPr/>
        </p:nvSpPr>
        <p:spPr>
          <a:xfrm>
            <a:off x="10287000" y="3035808"/>
            <a:ext cx="1234440" cy="411480"/>
          </a:xfrm>
          <a:prstGeom prst="rect">
            <a:avLst/>
          </a:prstGeom>
          <a:noFill/>
          <a:ln/>
        </p:spPr>
        <p:txBody>
          <a:bodyPr wrap="square" lIns="0" tIns="0" rIns="0" bIns="0" rtlCol="0" anchor="ctr">
            <a:normAutofit/>
          </a:bodyPr>
          <a:lstStyle/>
          <a:p>
            <a:pPr marL="0" indent="0" algn="ctr">
              <a:buNone/>
            </a:pPr>
            <a:r>
              <a:rPr lang="en-US" sz="940" dirty="0">
                <a:solidFill>
                  <a:srgbClr val="5B6678"/>
                </a:solidFill>
              </a:rPr>
              <a:t>Supervised</a:t>
            </a:r>
            <a:endParaRPr lang="en-US" sz="940" dirty="0"/>
          </a:p>
          <a:p>
            <a:pPr marL="0" indent="0" algn="ctr">
              <a:buNone/>
            </a:pPr>
            <a:r>
              <a:rPr lang="en-US" sz="940" dirty="0">
                <a:solidFill>
                  <a:srgbClr val="5B6678"/>
                </a:solidFill>
              </a:rPr>
              <a:t>models</a:t>
            </a:r>
            <a:endParaRPr lang="en-US" sz="940" dirty="0"/>
          </a:p>
        </p:txBody>
      </p:sp>
      <p:sp>
        <p:nvSpPr>
          <p:cNvPr id="25" name="Shape 22"/>
          <p:cNvSpPr/>
          <p:nvPr/>
        </p:nvSpPr>
        <p:spPr>
          <a:xfrm>
            <a:off x="6537960" y="4069080"/>
            <a:ext cx="4983480" cy="868680"/>
          </a:xfrm>
          <a:prstGeom prst="roundRect">
            <a:avLst>
              <a:gd name="adj" fmla="val 12632"/>
            </a:avLst>
          </a:prstGeom>
          <a:solidFill>
            <a:srgbClr val="FFFFFF"/>
          </a:solidFill>
          <a:ln w="16510">
            <a:solidFill>
              <a:srgbClr val="592C82"/>
            </a:solidFill>
            <a:prstDash val="solid"/>
          </a:ln>
        </p:spPr>
        <p:txBody>
          <a:bodyPr/>
          <a:lstStyle/>
          <a:p>
            <a:endParaRPr/>
          </a:p>
        </p:txBody>
      </p:sp>
      <p:sp>
        <p:nvSpPr>
          <p:cNvPr id="26" name="Text 23"/>
          <p:cNvSpPr/>
          <p:nvPr/>
        </p:nvSpPr>
        <p:spPr>
          <a:xfrm>
            <a:off x="6647688" y="4178808"/>
            <a:ext cx="4764024" cy="649224"/>
          </a:xfrm>
          <a:prstGeom prst="rect">
            <a:avLst/>
          </a:prstGeom>
          <a:noFill/>
          <a:ln/>
        </p:spPr>
        <p:txBody>
          <a:bodyPr wrap="square" lIns="381" tIns="381" rIns="381" bIns="381" rtlCol="0" anchor="ctr">
            <a:normAutofit lnSpcReduction="10000"/>
          </a:bodyPr>
          <a:lstStyle/>
          <a:p>
            <a:pPr marL="0" indent="0">
              <a:buNone/>
            </a:pPr>
            <a:r>
              <a:rPr lang="en-US" sz="1500" b="1" dirty="0">
                <a:solidFill>
                  <a:srgbClr val="592C82"/>
                </a:solidFill>
              </a:rPr>
              <a:t>Deployment thesis: unsupervised first, supervised after labels accumulate — keep both running in parallel.</a:t>
            </a:r>
            <a:endParaRPr lang="en-US" sz="1500" dirty="0"/>
          </a:p>
        </p:txBody>
      </p:sp>
      <p:sp>
        <p:nvSpPr>
          <p:cNvPr id="27" name="Shape 24"/>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28" name="Text 25"/>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29" name="Text 26"/>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13</a:t>
            </a:r>
            <a:endParaRPr lang="en-US" sz="850" dirty="0"/>
          </a:p>
        </p:txBody>
      </p:sp>
      <p:sp>
        <p:nvSpPr>
          <p:cNvPr id="30" name="Shape 27"/>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Financial impact: accuracy matters more than investigation cost</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Recovery scale dwarfs false-positive cost in this dataset.</a:t>
            </a:r>
            <a:endParaRPr lang="en-US" sz="1020" dirty="0"/>
          </a:p>
        </p:txBody>
      </p:sp>
      <p:sp>
        <p:nvSpPr>
          <p:cNvPr id="5" name="Shape 3"/>
          <p:cNvSpPr/>
          <p:nvPr/>
        </p:nvSpPr>
        <p:spPr>
          <a:xfrm>
            <a:off x="777240" y="1143000"/>
            <a:ext cx="9144000" cy="0"/>
          </a:xfrm>
          <a:prstGeom prst="line">
            <a:avLst/>
          </a:prstGeom>
          <a:noFill/>
          <a:ln w="6350">
            <a:solidFill>
              <a:srgbClr val="9AA5B1"/>
            </a:solidFill>
            <a:prstDash val="solid"/>
          </a:ln>
        </p:spPr>
        <p:txBody>
          <a:bodyPr/>
          <a:lstStyle/>
          <a:p>
            <a:endParaRPr/>
          </a:p>
        </p:txBody>
      </p:sp>
      <p:sp>
        <p:nvSpPr>
          <p:cNvPr id="6" name="Shape 4"/>
          <p:cNvSpPr/>
          <p:nvPr/>
        </p:nvSpPr>
        <p:spPr>
          <a:xfrm>
            <a:off x="777240" y="1453896"/>
            <a:ext cx="9144000" cy="0"/>
          </a:xfrm>
          <a:prstGeom prst="line">
            <a:avLst/>
          </a:prstGeom>
          <a:noFill/>
          <a:ln w="15240">
            <a:solidFill>
              <a:srgbClr val="592C82"/>
            </a:solidFill>
            <a:prstDash val="solid"/>
          </a:ln>
        </p:spPr>
        <p:txBody>
          <a:bodyPr/>
          <a:lstStyle/>
          <a:p>
            <a:endParaRPr/>
          </a:p>
        </p:txBody>
      </p:sp>
      <p:sp>
        <p:nvSpPr>
          <p:cNvPr id="7" name="Shape 5"/>
          <p:cNvSpPr/>
          <p:nvPr/>
        </p:nvSpPr>
        <p:spPr>
          <a:xfrm>
            <a:off x="777240" y="1764792"/>
            <a:ext cx="9144000" cy="0"/>
          </a:xfrm>
          <a:prstGeom prst="line">
            <a:avLst/>
          </a:prstGeom>
          <a:noFill/>
          <a:ln w="6350">
            <a:solidFill>
              <a:srgbClr val="9AA5B1"/>
            </a:solidFill>
            <a:prstDash val="solid"/>
          </a:ln>
        </p:spPr>
        <p:txBody>
          <a:bodyPr/>
          <a:lstStyle/>
          <a:p>
            <a:endParaRPr/>
          </a:p>
        </p:txBody>
      </p:sp>
      <p:sp>
        <p:nvSpPr>
          <p:cNvPr id="8" name="Shape 6"/>
          <p:cNvSpPr/>
          <p:nvPr/>
        </p:nvSpPr>
        <p:spPr>
          <a:xfrm>
            <a:off x="777240" y="2075688"/>
            <a:ext cx="9144000" cy="0"/>
          </a:xfrm>
          <a:prstGeom prst="line">
            <a:avLst/>
          </a:prstGeom>
          <a:noFill/>
          <a:ln w="6350">
            <a:solidFill>
              <a:srgbClr val="9AA5B1"/>
            </a:solidFill>
            <a:prstDash val="solid"/>
          </a:ln>
        </p:spPr>
        <p:txBody>
          <a:bodyPr/>
          <a:lstStyle/>
          <a:p>
            <a:endParaRPr/>
          </a:p>
        </p:txBody>
      </p:sp>
      <p:sp>
        <p:nvSpPr>
          <p:cNvPr id="9" name="Shape 7"/>
          <p:cNvSpPr/>
          <p:nvPr/>
        </p:nvSpPr>
        <p:spPr>
          <a:xfrm>
            <a:off x="777240" y="2386584"/>
            <a:ext cx="9144000" cy="0"/>
          </a:xfrm>
          <a:prstGeom prst="line">
            <a:avLst/>
          </a:prstGeom>
          <a:noFill/>
          <a:ln w="6350">
            <a:solidFill>
              <a:srgbClr val="9AA5B1"/>
            </a:solidFill>
            <a:prstDash val="solid"/>
          </a:ln>
        </p:spPr>
        <p:txBody>
          <a:bodyPr/>
          <a:lstStyle/>
          <a:p>
            <a:endParaRPr/>
          </a:p>
        </p:txBody>
      </p:sp>
      <p:sp>
        <p:nvSpPr>
          <p:cNvPr id="10" name="Shape 8"/>
          <p:cNvSpPr/>
          <p:nvPr/>
        </p:nvSpPr>
        <p:spPr>
          <a:xfrm>
            <a:off x="777240" y="1143000"/>
            <a:ext cx="0" cy="1243584"/>
          </a:xfrm>
          <a:prstGeom prst="line">
            <a:avLst/>
          </a:prstGeom>
          <a:noFill/>
          <a:ln w="6350">
            <a:solidFill>
              <a:srgbClr val="9AA5B1"/>
            </a:solidFill>
            <a:prstDash val="solid"/>
          </a:ln>
        </p:spPr>
        <p:txBody>
          <a:bodyPr/>
          <a:lstStyle/>
          <a:p>
            <a:endParaRPr/>
          </a:p>
        </p:txBody>
      </p:sp>
      <p:sp>
        <p:nvSpPr>
          <p:cNvPr id="11" name="Shape 9"/>
          <p:cNvSpPr/>
          <p:nvPr/>
        </p:nvSpPr>
        <p:spPr>
          <a:xfrm>
            <a:off x="2331720" y="1143000"/>
            <a:ext cx="0" cy="1243584"/>
          </a:xfrm>
          <a:prstGeom prst="line">
            <a:avLst/>
          </a:prstGeom>
          <a:noFill/>
          <a:ln w="6350">
            <a:solidFill>
              <a:srgbClr val="9AA5B1"/>
            </a:solidFill>
            <a:prstDash val="solid"/>
          </a:ln>
        </p:spPr>
        <p:txBody>
          <a:bodyPr/>
          <a:lstStyle/>
          <a:p>
            <a:endParaRPr/>
          </a:p>
        </p:txBody>
      </p:sp>
      <p:sp>
        <p:nvSpPr>
          <p:cNvPr id="12" name="Shape 10"/>
          <p:cNvSpPr/>
          <p:nvPr/>
        </p:nvSpPr>
        <p:spPr>
          <a:xfrm>
            <a:off x="4892040" y="1143000"/>
            <a:ext cx="0" cy="1243584"/>
          </a:xfrm>
          <a:prstGeom prst="line">
            <a:avLst/>
          </a:prstGeom>
          <a:noFill/>
          <a:ln w="6350">
            <a:solidFill>
              <a:srgbClr val="9AA5B1"/>
            </a:solidFill>
            <a:prstDash val="solid"/>
          </a:ln>
        </p:spPr>
        <p:txBody>
          <a:bodyPr/>
          <a:lstStyle/>
          <a:p>
            <a:endParaRPr/>
          </a:p>
        </p:txBody>
      </p:sp>
      <p:sp>
        <p:nvSpPr>
          <p:cNvPr id="13" name="Shape 11"/>
          <p:cNvSpPr/>
          <p:nvPr/>
        </p:nvSpPr>
        <p:spPr>
          <a:xfrm>
            <a:off x="5532120" y="1143000"/>
            <a:ext cx="0" cy="1243584"/>
          </a:xfrm>
          <a:prstGeom prst="line">
            <a:avLst/>
          </a:prstGeom>
          <a:noFill/>
          <a:ln w="6350">
            <a:solidFill>
              <a:srgbClr val="9AA5B1"/>
            </a:solidFill>
            <a:prstDash val="solid"/>
          </a:ln>
        </p:spPr>
        <p:txBody>
          <a:bodyPr/>
          <a:lstStyle/>
          <a:p>
            <a:endParaRPr/>
          </a:p>
        </p:txBody>
      </p:sp>
      <p:sp>
        <p:nvSpPr>
          <p:cNvPr id="14" name="Shape 12"/>
          <p:cNvSpPr/>
          <p:nvPr/>
        </p:nvSpPr>
        <p:spPr>
          <a:xfrm>
            <a:off x="6172200" y="1143000"/>
            <a:ext cx="0" cy="1243584"/>
          </a:xfrm>
          <a:prstGeom prst="line">
            <a:avLst/>
          </a:prstGeom>
          <a:noFill/>
          <a:ln w="6350">
            <a:solidFill>
              <a:srgbClr val="9AA5B1"/>
            </a:solidFill>
            <a:prstDash val="solid"/>
          </a:ln>
        </p:spPr>
        <p:txBody>
          <a:bodyPr/>
          <a:lstStyle/>
          <a:p>
            <a:endParaRPr/>
          </a:p>
        </p:txBody>
      </p:sp>
      <p:sp>
        <p:nvSpPr>
          <p:cNvPr id="15" name="Shape 13"/>
          <p:cNvSpPr/>
          <p:nvPr/>
        </p:nvSpPr>
        <p:spPr>
          <a:xfrm>
            <a:off x="8092440" y="1143000"/>
            <a:ext cx="0" cy="1243584"/>
          </a:xfrm>
          <a:prstGeom prst="line">
            <a:avLst/>
          </a:prstGeom>
          <a:noFill/>
          <a:ln w="6350">
            <a:solidFill>
              <a:srgbClr val="9AA5B1"/>
            </a:solidFill>
            <a:prstDash val="solid"/>
          </a:ln>
        </p:spPr>
        <p:txBody>
          <a:bodyPr/>
          <a:lstStyle/>
          <a:p>
            <a:endParaRPr/>
          </a:p>
        </p:txBody>
      </p:sp>
      <p:sp>
        <p:nvSpPr>
          <p:cNvPr id="16" name="Shape 14"/>
          <p:cNvSpPr/>
          <p:nvPr/>
        </p:nvSpPr>
        <p:spPr>
          <a:xfrm>
            <a:off x="9921240" y="1143000"/>
            <a:ext cx="0" cy="1243584"/>
          </a:xfrm>
          <a:prstGeom prst="line">
            <a:avLst/>
          </a:prstGeom>
          <a:noFill/>
          <a:ln w="6350">
            <a:solidFill>
              <a:srgbClr val="9AA5B1"/>
            </a:solidFill>
            <a:prstDash val="solid"/>
          </a:ln>
        </p:spPr>
        <p:txBody>
          <a:bodyPr/>
          <a:lstStyle/>
          <a:p>
            <a:endParaRPr/>
          </a:p>
        </p:txBody>
      </p:sp>
      <p:sp>
        <p:nvSpPr>
          <p:cNvPr id="17" name="Text 15"/>
          <p:cNvSpPr/>
          <p:nvPr/>
        </p:nvSpPr>
        <p:spPr>
          <a:xfrm>
            <a:off x="832104" y="1197864"/>
            <a:ext cx="1444752" cy="237744"/>
          </a:xfrm>
          <a:prstGeom prst="rect">
            <a:avLst/>
          </a:prstGeom>
          <a:noFill/>
          <a:ln/>
        </p:spPr>
        <p:txBody>
          <a:bodyPr wrap="square" lIns="0" tIns="0" rIns="0" bIns="0" rtlCol="0" anchor="ctr">
            <a:normAutofit/>
          </a:bodyPr>
          <a:lstStyle/>
          <a:p>
            <a:pPr marL="0" indent="0">
              <a:buNone/>
            </a:pPr>
            <a:r>
              <a:rPr lang="en-US" sz="1080" b="1" dirty="0">
                <a:solidFill>
                  <a:srgbClr val="592C82"/>
                </a:solidFill>
              </a:rPr>
              <a:t>Family</a:t>
            </a:r>
            <a:endParaRPr lang="en-US" sz="1080" dirty="0"/>
          </a:p>
        </p:txBody>
      </p:sp>
      <p:sp>
        <p:nvSpPr>
          <p:cNvPr id="18" name="Text 16"/>
          <p:cNvSpPr/>
          <p:nvPr/>
        </p:nvSpPr>
        <p:spPr>
          <a:xfrm>
            <a:off x="2386584" y="1197864"/>
            <a:ext cx="2450592" cy="237744"/>
          </a:xfrm>
          <a:prstGeom prst="rect">
            <a:avLst/>
          </a:prstGeom>
          <a:noFill/>
          <a:ln/>
        </p:spPr>
        <p:txBody>
          <a:bodyPr wrap="square" lIns="0" tIns="0" rIns="0" bIns="0" rtlCol="0" anchor="ctr">
            <a:normAutofit/>
          </a:bodyPr>
          <a:lstStyle/>
          <a:p>
            <a:pPr marL="0" indent="0">
              <a:buNone/>
            </a:pPr>
            <a:r>
              <a:rPr lang="en-US" sz="1080" b="1" dirty="0">
                <a:solidFill>
                  <a:srgbClr val="592C82"/>
                </a:solidFill>
              </a:rPr>
              <a:t>Best model</a:t>
            </a:r>
            <a:endParaRPr lang="en-US" sz="1080" dirty="0"/>
          </a:p>
        </p:txBody>
      </p:sp>
      <p:sp>
        <p:nvSpPr>
          <p:cNvPr id="19" name="Text 17"/>
          <p:cNvSpPr/>
          <p:nvPr/>
        </p:nvSpPr>
        <p:spPr>
          <a:xfrm>
            <a:off x="4946904" y="1197864"/>
            <a:ext cx="530352" cy="237744"/>
          </a:xfrm>
          <a:prstGeom prst="rect">
            <a:avLst/>
          </a:prstGeom>
          <a:noFill/>
          <a:ln/>
        </p:spPr>
        <p:txBody>
          <a:bodyPr wrap="square" lIns="0" tIns="0" rIns="0" bIns="0" rtlCol="0" anchor="ctr">
            <a:normAutofit/>
          </a:bodyPr>
          <a:lstStyle/>
          <a:p>
            <a:pPr marL="0" indent="0">
              <a:buNone/>
            </a:pPr>
            <a:r>
              <a:rPr lang="en-US" sz="1080" b="1" dirty="0">
                <a:solidFill>
                  <a:srgbClr val="592C82"/>
                </a:solidFill>
              </a:rPr>
              <a:t>TP</a:t>
            </a:r>
            <a:endParaRPr lang="en-US" sz="1080" dirty="0"/>
          </a:p>
        </p:txBody>
      </p:sp>
      <p:sp>
        <p:nvSpPr>
          <p:cNvPr id="20" name="Text 18"/>
          <p:cNvSpPr/>
          <p:nvPr/>
        </p:nvSpPr>
        <p:spPr>
          <a:xfrm>
            <a:off x="5586984" y="1197864"/>
            <a:ext cx="530352" cy="237744"/>
          </a:xfrm>
          <a:prstGeom prst="rect">
            <a:avLst/>
          </a:prstGeom>
          <a:noFill/>
          <a:ln/>
        </p:spPr>
        <p:txBody>
          <a:bodyPr wrap="square" lIns="0" tIns="0" rIns="0" bIns="0" rtlCol="0" anchor="ctr">
            <a:normAutofit/>
          </a:bodyPr>
          <a:lstStyle/>
          <a:p>
            <a:pPr marL="0" indent="0">
              <a:buNone/>
            </a:pPr>
            <a:r>
              <a:rPr lang="en-US" sz="1080" b="1" dirty="0">
                <a:solidFill>
                  <a:srgbClr val="592C82"/>
                </a:solidFill>
              </a:rPr>
              <a:t>FP</a:t>
            </a:r>
            <a:endParaRPr lang="en-US" sz="1080" dirty="0"/>
          </a:p>
        </p:txBody>
      </p:sp>
      <p:sp>
        <p:nvSpPr>
          <p:cNvPr id="21" name="Text 19"/>
          <p:cNvSpPr/>
          <p:nvPr/>
        </p:nvSpPr>
        <p:spPr>
          <a:xfrm>
            <a:off x="6227064" y="1197864"/>
            <a:ext cx="1810512" cy="237744"/>
          </a:xfrm>
          <a:prstGeom prst="rect">
            <a:avLst/>
          </a:prstGeom>
          <a:noFill/>
          <a:ln/>
        </p:spPr>
        <p:txBody>
          <a:bodyPr wrap="square" lIns="0" tIns="0" rIns="0" bIns="0" rtlCol="0" anchor="ctr">
            <a:normAutofit/>
          </a:bodyPr>
          <a:lstStyle/>
          <a:p>
            <a:pPr marL="0" indent="0">
              <a:buNone/>
            </a:pPr>
            <a:r>
              <a:rPr lang="en-US" sz="1080" b="1" dirty="0">
                <a:solidFill>
                  <a:srgbClr val="592C82"/>
                </a:solidFill>
              </a:rPr>
              <a:t>Recoverable test</a:t>
            </a:r>
            <a:endParaRPr lang="en-US" sz="1080" dirty="0"/>
          </a:p>
        </p:txBody>
      </p:sp>
      <p:sp>
        <p:nvSpPr>
          <p:cNvPr id="22" name="Text 20"/>
          <p:cNvSpPr/>
          <p:nvPr/>
        </p:nvSpPr>
        <p:spPr>
          <a:xfrm>
            <a:off x="8147304" y="1197864"/>
            <a:ext cx="1719072" cy="237744"/>
          </a:xfrm>
          <a:prstGeom prst="rect">
            <a:avLst/>
          </a:prstGeom>
          <a:noFill/>
          <a:ln/>
        </p:spPr>
        <p:txBody>
          <a:bodyPr wrap="square" lIns="0" tIns="0" rIns="0" bIns="0" rtlCol="0" anchor="ctr">
            <a:normAutofit/>
          </a:bodyPr>
          <a:lstStyle/>
          <a:p>
            <a:pPr marL="0" indent="0">
              <a:buNone/>
            </a:pPr>
            <a:r>
              <a:rPr lang="en-US" sz="1080" b="1" dirty="0">
                <a:solidFill>
                  <a:srgbClr val="592C82"/>
                </a:solidFill>
              </a:rPr>
              <a:t>Scaled recovery</a:t>
            </a:r>
            <a:endParaRPr lang="en-US" sz="1080" dirty="0"/>
          </a:p>
        </p:txBody>
      </p:sp>
      <p:sp>
        <p:nvSpPr>
          <p:cNvPr id="23" name="Text 21"/>
          <p:cNvSpPr/>
          <p:nvPr/>
        </p:nvSpPr>
        <p:spPr>
          <a:xfrm>
            <a:off x="832104" y="1508760"/>
            <a:ext cx="14447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Unsupervised</a:t>
            </a:r>
            <a:endParaRPr lang="en-US" sz="1080" dirty="0"/>
          </a:p>
        </p:txBody>
      </p:sp>
      <p:sp>
        <p:nvSpPr>
          <p:cNvPr id="24" name="Text 22"/>
          <p:cNvSpPr/>
          <p:nvPr/>
        </p:nvSpPr>
        <p:spPr>
          <a:xfrm>
            <a:off x="2386584" y="1508760"/>
            <a:ext cx="245059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Autoencoder</a:t>
            </a:r>
            <a:endParaRPr lang="en-US" sz="1080" dirty="0"/>
          </a:p>
        </p:txBody>
      </p:sp>
      <p:sp>
        <p:nvSpPr>
          <p:cNvPr id="25" name="Text 23"/>
          <p:cNvSpPr/>
          <p:nvPr/>
        </p:nvSpPr>
        <p:spPr>
          <a:xfrm>
            <a:off x="4946904" y="1508760"/>
            <a:ext cx="5303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51</a:t>
            </a:r>
            <a:endParaRPr lang="en-US" sz="1080" dirty="0"/>
          </a:p>
        </p:txBody>
      </p:sp>
      <p:sp>
        <p:nvSpPr>
          <p:cNvPr id="26" name="Text 24"/>
          <p:cNvSpPr/>
          <p:nvPr/>
        </p:nvSpPr>
        <p:spPr>
          <a:xfrm>
            <a:off x="5586984" y="1508760"/>
            <a:ext cx="5303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112</a:t>
            </a:r>
            <a:endParaRPr lang="en-US" sz="1080" dirty="0"/>
          </a:p>
        </p:txBody>
      </p:sp>
      <p:sp>
        <p:nvSpPr>
          <p:cNvPr id="27" name="Text 25"/>
          <p:cNvSpPr/>
          <p:nvPr/>
        </p:nvSpPr>
        <p:spPr>
          <a:xfrm>
            <a:off x="6227064" y="1508760"/>
            <a:ext cx="181051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$68.8M</a:t>
            </a:r>
            <a:endParaRPr lang="en-US" sz="1080" dirty="0"/>
          </a:p>
        </p:txBody>
      </p:sp>
      <p:sp>
        <p:nvSpPr>
          <p:cNvPr id="28" name="Text 26"/>
          <p:cNvSpPr/>
          <p:nvPr/>
        </p:nvSpPr>
        <p:spPr>
          <a:xfrm>
            <a:off x="8147304" y="1508760"/>
            <a:ext cx="171907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~$229M</a:t>
            </a:r>
            <a:endParaRPr lang="en-US" sz="1080" dirty="0"/>
          </a:p>
        </p:txBody>
      </p:sp>
      <p:sp>
        <p:nvSpPr>
          <p:cNvPr id="29" name="Text 27"/>
          <p:cNvSpPr/>
          <p:nvPr/>
        </p:nvSpPr>
        <p:spPr>
          <a:xfrm>
            <a:off x="832104" y="1819656"/>
            <a:ext cx="14447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Supervised</a:t>
            </a:r>
            <a:endParaRPr lang="en-US" sz="1080" dirty="0"/>
          </a:p>
        </p:txBody>
      </p:sp>
      <p:sp>
        <p:nvSpPr>
          <p:cNvPr id="30" name="Text 28"/>
          <p:cNvSpPr/>
          <p:nvPr/>
        </p:nvSpPr>
        <p:spPr>
          <a:xfrm>
            <a:off x="2386584" y="1819656"/>
            <a:ext cx="245059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Logistic Regression</a:t>
            </a:r>
            <a:endParaRPr lang="en-US" sz="1080" dirty="0"/>
          </a:p>
        </p:txBody>
      </p:sp>
      <p:sp>
        <p:nvSpPr>
          <p:cNvPr id="31" name="Text 29"/>
          <p:cNvSpPr/>
          <p:nvPr/>
        </p:nvSpPr>
        <p:spPr>
          <a:xfrm>
            <a:off x="4946904" y="1819656"/>
            <a:ext cx="5303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131</a:t>
            </a:r>
            <a:endParaRPr lang="en-US" sz="1080" dirty="0"/>
          </a:p>
        </p:txBody>
      </p:sp>
      <p:sp>
        <p:nvSpPr>
          <p:cNvPr id="32" name="Text 30"/>
          <p:cNvSpPr/>
          <p:nvPr/>
        </p:nvSpPr>
        <p:spPr>
          <a:xfrm>
            <a:off x="5586984" y="1819656"/>
            <a:ext cx="5303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143</a:t>
            </a:r>
            <a:endParaRPr lang="en-US" sz="1080" dirty="0"/>
          </a:p>
        </p:txBody>
      </p:sp>
      <p:sp>
        <p:nvSpPr>
          <p:cNvPr id="33" name="Text 31"/>
          <p:cNvSpPr/>
          <p:nvPr/>
        </p:nvSpPr>
        <p:spPr>
          <a:xfrm>
            <a:off x="6227064" y="1819656"/>
            <a:ext cx="181051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$101.9M</a:t>
            </a:r>
            <a:endParaRPr lang="en-US" sz="1080" dirty="0"/>
          </a:p>
        </p:txBody>
      </p:sp>
      <p:sp>
        <p:nvSpPr>
          <p:cNvPr id="34" name="Text 32"/>
          <p:cNvSpPr/>
          <p:nvPr/>
        </p:nvSpPr>
        <p:spPr>
          <a:xfrm>
            <a:off x="8147304" y="1819656"/>
            <a:ext cx="171907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~$340M</a:t>
            </a:r>
            <a:endParaRPr lang="en-US" sz="1080" dirty="0"/>
          </a:p>
        </p:txBody>
      </p:sp>
      <p:sp>
        <p:nvSpPr>
          <p:cNvPr id="35" name="Text 33"/>
          <p:cNvSpPr/>
          <p:nvPr/>
        </p:nvSpPr>
        <p:spPr>
          <a:xfrm>
            <a:off x="832104" y="2130552"/>
            <a:ext cx="14447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Supervised</a:t>
            </a:r>
            <a:endParaRPr lang="en-US" sz="1080" dirty="0"/>
          </a:p>
        </p:txBody>
      </p:sp>
      <p:sp>
        <p:nvSpPr>
          <p:cNvPr id="36" name="Text 34"/>
          <p:cNvSpPr/>
          <p:nvPr/>
        </p:nvSpPr>
        <p:spPr>
          <a:xfrm>
            <a:off x="2386584" y="2130552"/>
            <a:ext cx="245059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XGBoost</a:t>
            </a:r>
            <a:endParaRPr lang="en-US" sz="1080" dirty="0"/>
          </a:p>
        </p:txBody>
      </p:sp>
      <p:sp>
        <p:nvSpPr>
          <p:cNvPr id="37" name="Text 35"/>
          <p:cNvSpPr/>
          <p:nvPr/>
        </p:nvSpPr>
        <p:spPr>
          <a:xfrm>
            <a:off x="4946904" y="2130552"/>
            <a:ext cx="5303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106</a:t>
            </a:r>
            <a:endParaRPr lang="en-US" sz="1080" dirty="0"/>
          </a:p>
        </p:txBody>
      </p:sp>
      <p:sp>
        <p:nvSpPr>
          <p:cNvPr id="38" name="Text 36"/>
          <p:cNvSpPr/>
          <p:nvPr/>
        </p:nvSpPr>
        <p:spPr>
          <a:xfrm>
            <a:off x="5586984" y="2130552"/>
            <a:ext cx="53035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60</a:t>
            </a:r>
            <a:endParaRPr lang="en-US" sz="1080" dirty="0"/>
          </a:p>
        </p:txBody>
      </p:sp>
      <p:sp>
        <p:nvSpPr>
          <p:cNvPr id="39" name="Text 37"/>
          <p:cNvSpPr/>
          <p:nvPr/>
        </p:nvSpPr>
        <p:spPr>
          <a:xfrm>
            <a:off x="6227064" y="2130552"/>
            <a:ext cx="181051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$96.0M</a:t>
            </a:r>
            <a:endParaRPr lang="en-US" sz="1080" dirty="0"/>
          </a:p>
        </p:txBody>
      </p:sp>
      <p:sp>
        <p:nvSpPr>
          <p:cNvPr id="40" name="Text 38"/>
          <p:cNvSpPr/>
          <p:nvPr/>
        </p:nvSpPr>
        <p:spPr>
          <a:xfrm>
            <a:off x="8147304" y="2130552"/>
            <a:ext cx="1719072" cy="237744"/>
          </a:xfrm>
          <a:prstGeom prst="rect">
            <a:avLst/>
          </a:prstGeom>
          <a:noFill/>
          <a:ln/>
        </p:spPr>
        <p:txBody>
          <a:bodyPr wrap="square" lIns="0" tIns="0" rIns="0" bIns="0" rtlCol="0" anchor="ctr">
            <a:normAutofit/>
          </a:bodyPr>
          <a:lstStyle/>
          <a:p>
            <a:pPr marL="0" indent="0">
              <a:buNone/>
            </a:pPr>
            <a:r>
              <a:rPr lang="en-US" sz="1080" dirty="0">
                <a:solidFill>
                  <a:srgbClr val="182230"/>
                </a:solidFill>
              </a:rPr>
              <a:t>~$320M</a:t>
            </a:r>
            <a:endParaRPr lang="en-US" sz="1080" dirty="0"/>
          </a:p>
        </p:txBody>
      </p:sp>
      <p:sp>
        <p:nvSpPr>
          <p:cNvPr id="41" name="Shape 39"/>
          <p:cNvSpPr/>
          <p:nvPr/>
        </p:nvSpPr>
        <p:spPr>
          <a:xfrm>
            <a:off x="960120" y="2971800"/>
            <a:ext cx="10287000" cy="0"/>
          </a:xfrm>
          <a:prstGeom prst="line">
            <a:avLst/>
          </a:prstGeom>
          <a:noFill/>
          <a:ln w="12700">
            <a:solidFill>
              <a:srgbClr val="CAD2DC"/>
            </a:solidFill>
            <a:prstDash val="solid"/>
          </a:ln>
        </p:spPr>
        <p:txBody>
          <a:bodyPr/>
          <a:lstStyle/>
          <a:p>
            <a:endParaRPr/>
          </a:p>
        </p:txBody>
      </p:sp>
      <p:sp>
        <p:nvSpPr>
          <p:cNvPr id="42" name="Text 40"/>
          <p:cNvSpPr/>
          <p:nvPr/>
        </p:nvSpPr>
        <p:spPr>
          <a:xfrm>
            <a:off x="868680" y="3246120"/>
            <a:ext cx="1828800" cy="292608"/>
          </a:xfrm>
          <a:prstGeom prst="rect">
            <a:avLst/>
          </a:prstGeom>
          <a:noFill/>
          <a:ln/>
        </p:spPr>
        <p:txBody>
          <a:bodyPr wrap="square" lIns="0" tIns="0" rIns="0" bIns="0" rtlCol="0" anchor="ctr"/>
          <a:lstStyle/>
          <a:p>
            <a:pPr marL="0" indent="0">
              <a:buNone/>
            </a:pPr>
            <a:r>
              <a:rPr lang="en-US" sz="1800" b="1" dirty="0">
                <a:solidFill>
                  <a:srgbClr val="592C82"/>
                </a:solidFill>
              </a:rPr>
              <a:t>Decision rules</a:t>
            </a:r>
            <a:endParaRPr lang="en-US" sz="1800" dirty="0"/>
          </a:p>
        </p:txBody>
      </p:sp>
      <p:sp>
        <p:nvSpPr>
          <p:cNvPr id="43" name="Text 41"/>
          <p:cNvSpPr/>
          <p:nvPr/>
        </p:nvSpPr>
        <p:spPr>
          <a:xfrm>
            <a:off x="1005840" y="3794760"/>
            <a:ext cx="2560320" cy="256032"/>
          </a:xfrm>
          <a:prstGeom prst="rect">
            <a:avLst/>
          </a:prstGeom>
          <a:noFill/>
          <a:ln/>
        </p:spPr>
        <p:txBody>
          <a:bodyPr wrap="square" lIns="0" tIns="0" rIns="0" bIns="0" rtlCol="0" anchor="ctr"/>
          <a:lstStyle/>
          <a:p>
            <a:pPr marL="0" indent="0">
              <a:buNone/>
            </a:pPr>
            <a:r>
              <a:rPr lang="en-US" sz="1250" b="1" dirty="0">
                <a:solidFill>
                  <a:srgbClr val="182230"/>
                </a:solidFill>
              </a:rPr>
              <a:t>No labels yet</a:t>
            </a:r>
            <a:endParaRPr lang="en-US" sz="1250" dirty="0"/>
          </a:p>
        </p:txBody>
      </p:sp>
      <p:sp>
        <p:nvSpPr>
          <p:cNvPr id="44" name="Text 42"/>
          <p:cNvSpPr/>
          <p:nvPr/>
        </p:nvSpPr>
        <p:spPr>
          <a:xfrm>
            <a:off x="3657600" y="3794760"/>
            <a:ext cx="2743200" cy="256032"/>
          </a:xfrm>
          <a:prstGeom prst="rect">
            <a:avLst/>
          </a:prstGeom>
          <a:noFill/>
          <a:ln/>
        </p:spPr>
        <p:txBody>
          <a:bodyPr wrap="square" lIns="0" tIns="0" rIns="0" bIns="0" rtlCol="0" anchor="ctr"/>
          <a:lstStyle/>
          <a:p>
            <a:pPr marL="0" indent="0">
              <a:buNone/>
            </a:pPr>
            <a:r>
              <a:rPr lang="en-US" sz="1250" b="1" dirty="0">
                <a:solidFill>
                  <a:srgbClr val="1565C0"/>
                </a:solidFill>
              </a:rPr>
              <a:t>Autoencoder or Isolation Forest</a:t>
            </a:r>
            <a:endParaRPr lang="en-US" sz="1250" dirty="0"/>
          </a:p>
        </p:txBody>
      </p:sp>
      <p:sp>
        <p:nvSpPr>
          <p:cNvPr id="45" name="Text 43"/>
          <p:cNvSpPr/>
          <p:nvPr/>
        </p:nvSpPr>
        <p:spPr>
          <a:xfrm>
            <a:off x="6583680" y="3794760"/>
            <a:ext cx="4389120" cy="256032"/>
          </a:xfrm>
          <a:prstGeom prst="rect">
            <a:avLst/>
          </a:prstGeom>
          <a:noFill/>
          <a:ln/>
        </p:spPr>
        <p:txBody>
          <a:bodyPr wrap="square" lIns="0" tIns="0" rIns="0" bIns="0" rtlCol="0" anchor="ctr">
            <a:normAutofit/>
          </a:bodyPr>
          <a:lstStyle/>
          <a:p>
            <a:pPr marL="0" indent="0">
              <a:buNone/>
            </a:pPr>
            <a:r>
              <a:rPr lang="en-US" sz="1200" dirty="0">
                <a:solidFill>
                  <a:srgbClr val="5B6678"/>
                </a:solidFill>
              </a:rPr>
              <a:t>Creates the first queue.</a:t>
            </a:r>
            <a:endParaRPr lang="en-US" sz="1200" dirty="0"/>
          </a:p>
        </p:txBody>
      </p:sp>
      <p:sp>
        <p:nvSpPr>
          <p:cNvPr id="46" name="Text 44"/>
          <p:cNvSpPr/>
          <p:nvPr/>
        </p:nvSpPr>
        <p:spPr>
          <a:xfrm>
            <a:off x="1005840" y="4297680"/>
            <a:ext cx="2560320" cy="256032"/>
          </a:xfrm>
          <a:prstGeom prst="rect">
            <a:avLst/>
          </a:prstGeom>
          <a:noFill/>
          <a:ln/>
        </p:spPr>
        <p:txBody>
          <a:bodyPr wrap="square" lIns="0" tIns="0" rIns="0" bIns="0" rtlCol="0" anchor="ctr"/>
          <a:lstStyle/>
          <a:p>
            <a:pPr marL="0" indent="0">
              <a:buNone/>
            </a:pPr>
            <a:r>
              <a:rPr lang="en-US" sz="1250" b="1" dirty="0">
                <a:solidFill>
                  <a:srgbClr val="182230"/>
                </a:solidFill>
              </a:rPr>
              <a:t>High cost of missed fraud</a:t>
            </a:r>
            <a:endParaRPr lang="en-US" sz="1250" dirty="0"/>
          </a:p>
        </p:txBody>
      </p:sp>
      <p:sp>
        <p:nvSpPr>
          <p:cNvPr id="47" name="Text 45"/>
          <p:cNvSpPr/>
          <p:nvPr/>
        </p:nvSpPr>
        <p:spPr>
          <a:xfrm>
            <a:off x="3657600" y="4297680"/>
            <a:ext cx="2743200" cy="256032"/>
          </a:xfrm>
          <a:prstGeom prst="rect">
            <a:avLst/>
          </a:prstGeom>
          <a:noFill/>
          <a:ln/>
        </p:spPr>
        <p:txBody>
          <a:bodyPr wrap="square" lIns="0" tIns="0" rIns="0" bIns="0" rtlCol="0" anchor="ctr"/>
          <a:lstStyle/>
          <a:p>
            <a:pPr marL="0" indent="0">
              <a:buNone/>
            </a:pPr>
            <a:r>
              <a:rPr lang="en-US" sz="1250" b="1" dirty="0">
                <a:solidFill>
                  <a:srgbClr val="2E7D32"/>
                </a:solidFill>
              </a:rPr>
              <a:t>Logistic Regression</a:t>
            </a:r>
            <a:endParaRPr lang="en-US" sz="1250" dirty="0"/>
          </a:p>
        </p:txBody>
      </p:sp>
      <p:sp>
        <p:nvSpPr>
          <p:cNvPr id="48" name="Text 46"/>
          <p:cNvSpPr/>
          <p:nvPr/>
        </p:nvSpPr>
        <p:spPr>
          <a:xfrm>
            <a:off x="6583680" y="4297680"/>
            <a:ext cx="4389120" cy="256032"/>
          </a:xfrm>
          <a:prstGeom prst="rect">
            <a:avLst/>
          </a:prstGeom>
          <a:noFill/>
          <a:ln/>
        </p:spPr>
        <p:txBody>
          <a:bodyPr wrap="square" lIns="0" tIns="0" rIns="0" bIns="0" rtlCol="0" anchor="ctr">
            <a:normAutofit/>
          </a:bodyPr>
          <a:lstStyle/>
          <a:p>
            <a:pPr marL="0" indent="0">
              <a:buNone/>
            </a:pPr>
            <a:r>
              <a:rPr lang="en-US" sz="1200" dirty="0">
                <a:solidFill>
                  <a:srgbClr val="5B6678"/>
                </a:solidFill>
              </a:rPr>
              <a:t>Maximizes recall and total recovery.</a:t>
            </a:r>
            <a:endParaRPr lang="en-US" sz="1200" dirty="0"/>
          </a:p>
        </p:txBody>
      </p:sp>
      <p:sp>
        <p:nvSpPr>
          <p:cNvPr id="49" name="Text 47"/>
          <p:cNvSpPr/>
          <p:nvPr/>
        </p:nvSpPr>
        <p:spPr>
          <a:xfrm>
            <a:off x="1005840" y="4800600"/>
            <a:ext cx="2560320" cy="256032"/>
          </a:xfrm>
          <a:prstGeom prst="rect">
            <a:avLst/>
          </a:prstGeom>
          <a:noFill/>
          <a:ln/>
        </p:spPr>
        <p:txBody>
          <a:bodyPr wrap="square" lIns="0" tIns="0" rIns="0" bIns="0" rtlCol="0" anchor="ctr"/>
          <a:lstStyle/>
          <a:p>
            <a:pPr marL="0" indent="0">
              <a:buNone/>
            </a:pPr>
            <a:r>
              <a:rPr lang="en-US" sz="1250" b="1" dirty="0">
                <a:solidFill>
                  <a:srgbClr val="182230"/>
                </a:solidFill>
              </a:rPr>
              <a:t>Limited investigation capacity</a:t>
            </a:r>
            <a:endParaRPr lang="en-US" sz="1250" dirty="0"/>
          </a:p>
        </p:txBody>
      </p:sp>
      <p:sp>
        <p:nvSpPr>
          <p:cNvPr id="50" name="Text 48"/>
          <p:cNvSpPr/>
          <p:nvPr/>
        </p:nvSpPr>
        <p:spPr>
          <a:xfrm>
            <a:off x="3657600" y="4800600"/>
            <a:ext cx="2743200" cy="256032"/>
          </a:xfrm>
          <a:prstGeom prst="rect">
            <a:avLst/>
          </a:prstGeom>
          <a:noFill/>
          <a:ln/>
        </p:spPr>
        <p:txBody>
          <a:bodyPr wrap="square" lIns="0" tIns="0" rIns="0" bIns="0" rtlCol="0" anchor="ctr"/>
          <a:lstStyle/>
          <a:p>
            <a:pPr marL="0" indent="0">
              <a:buNone/>
            </a:pPr>
            <a:r>
              <a:rPr lang="en-US" sz="1250" b="1" dirty="0">
                <a:solidFill>
                  <a:srgbClr val="EF6C00"/>
                </a:solidFill>
              </a:rPr>
              <a:t>XGBoost</a:t>
            </a:r>
            <a:endParaRPr lang="en-US" sz="1250" dirty="0"/>
          </a:p>
        </p:txBody>
      </p:sp>
      <p:sp>
        <p:nvSpPr>
          <p:cNvPr id="51" name="Text 49"/>
          <p:cNvSpPr/>
          <p:nvPr/>
        </p:nvSpPr>
        <p:spPr>
          <a:xfrm>
            <a:off x="6583680" y="4800600"/>
            <a:ext cx="4389120" cy="256032"/>
          </a:xfrm>
          <a:prstGeom prst="rect">
            <a:avLst/>
          </a:prstGeom>
          <a:noFill/>
          <a:ln/>
        </p:spPr>
        <p:txBody>
          <a:bodyPr wrap="square" lIns="0" tIns="0" rIns="0" bIns="0" rtlCol="0" anchor="ctr">
            <a:normAutofit/>
          </a:bodyPr>
          <a:lstStyle/>
          <a:p>
            <a:pPr marL="0" indent="0">
              <a:buNone/>
            </a:pPr>
            <a:r>
              <a:rPr lang="en-US" sz="1200" dirty="0">
                <a:solidFill>
                  <a:srgbClr val="5B6678"/>
                </a:solidFill>
              </a:rPr>
              <a:t>Higher precision and fewer false positives.</a:t>
            </a:r>
            <a:endParaRPr lang="en-US" sz="1200" dirty="0"/>
          </a:p>
        </p:txBody>
      </p:sp>
      <p:sp>
        <p:nvSpPr>
          <p:cNvPr id="52" name="Text 50"/>
          <p:cNvSpPr/>
          <p:nvPr/>
        </p:nvSpPr>
        <p:spPr>
          <a:xfrm>
            <a:off x="1005840" y="5303520"/>
            <a:ext cx="2560320" cy="256032"/>
          </a:xfrm>
          <a:prstGeom prst="rect">
            <a:avLst/>
          </a:prstGeom>
          <a:noFill/>
          <a:ln/>
        </p:spPr>
        <p:txBody>
          <a:bodyPr wrap="square" lIns="0" tIns="0" rIns="0" bIns="0" rtlCol="0" anchor="ctr"/>
          <a:lstStyle/>
          <a:p>
            <a:pPr marL="0" indent="0">
              <a:buNone/>
            </a:pPr>
            <a:r>
              <a:rPr lang="en-US" sz="1250" b="1" dirty="0">
                <a:solidFill>
                  <a:srgbClr val="182230"/>
                </a:solidFill>
              </a:rPr>
              <a:t>Novel fraud patterns</a:t>
            </a:r>
            <a:endParaRPr lang="en-US" sz="1250" dirty="0"/>
          </a:p>
        </p:txBody>
      </p:sp>
      <p:sp>
        <p:nvSpPr>
          <p:cNvPr id="53" name="Text 51"/>
          <p:cNvSpPr/>
          <p:nvPr/>
        </p:nvSpPr>
        <p:spPr>
          <a:xfrm>
            <a:off x="3657600" y="5303520"/>
            <a:ext cx="2743200" cy="256032"/>
          </a:xfrm>
          <a:prstGeom prst="rect">
            <a:avLst/>
          </a:prstGeom>
          <a:noFill/>
          <a:ln/>
        </p:spPr>
        <p:txBody>
          <a:bodyPr wrap="square" lIns="0" tIns="0" rIns="0" bIns="0" rtlCol="0" anchor="ctr"/>
          <a:lstStyle/>
          <a:p>
            <a:pPr marL="0" indent="0">
              <a:buNone/>
            </a:pPr>
            <a:r>
              <a:rPr lang="en-US" sz="1250" b="1" dirty="0">
                <a:solidFill>
                  <a:srgbClr val="592C82"/>
                </a:solidFill>
              </a:rPr>
              <a:t>Keep unsupervised running</a:t>
            </a:r>
            <a:endParaRPr lang="en-US" sz="1250" dirty="0"/>
          </a:p>
        </p:txBody>
      </p:sp>
      <p:sp>
        <p:nvSpPr>
          <p:cNvPr id="54" name="Text 52"/>
          <p:cNvSpPr/>
          <p:nvPr/>
        </p:nvSpPr>
        <p:spPr>
          <a:xfrm>
            <a:off x="6583680" y="5303520"/>
            <a:ext cx="4389120" cy="256032"/>
          </a:xfrm>
          <a:prstGeom prst="rect">
            <a:avLst/>
          </a:prstGeom>
          <a:noFill/>
          <a:ln/>
        </p:spPr>
        <p:txBody>
          <a:bodyPr wrap="square" lIns="0" tIns="0" rIns="0" bIns="0" rtlCol="0" anchor="ctr">
            <a:normAutofit/>
          </a:bodyPr>
          <a:lstStyle/>
          <a:p>
            <a:pPr marL="0" indent="0">
              <a:buNone/>
            </a:pPr>
            <a:r>
              <a:rPr lang="en-US" sz="1200" dirty="0">
                <a:solidFill>
                  <a:srgbClr val="5B6678"/>
                </a:solidFill>
              </a:rPr>
              <a:t>Flags behavior outside labeled history.</a:t>
            </a:r>
            <a:endParaRPr lang="en-US" sz="1200" dirty="0"/>
          </a:p>
        </p:txBody>
      </p:sp>
      <p:sp>
        <p:nvSpPr>
          <p:cNvPr id="55" name="Shape 53"/>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56" name="Text 54"/>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57" name="Text 55"/>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14</a:t>
            </a:r>
            <a:endParaRPr lang="en-US" sz="850" dirty="0"/>
          </a:p>
        </p:txBody>
      </p:sp>
      <p:sp>
        <p:nvSpPr>
          <p:cNvPr id="58" name="Shape 56"/>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2D0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32004" cy="6858000"/>
          </a:xfrm>
          <a:prstGeom prst="rect">
            <a:avLst/>
          </a:prstGeom>
          <a:solidFill>
            <a:srgbClr val="F5C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56032" y="146304"/>
            <a:ext cx="1645920" cy="182880"/>
          </a:xfrm>
          <a:prstGeom prst="rect">
            <a:avLst/>
          </a:prstGeom>
          <a:noFill/>
          <a:ln>
            <a:noFill/>
          </a:ln>
        </p:spPr>
        <p:txBody>
          <a:bodyPr wrap="none" lIns="45720" rIns="45720" anchor="t">
            <a:spAutoFit/>
          </a:bodyPr>
          <a:lstStyle/>
          <a:p>
            <a:pPr algn="l"/>
            <a:r>
              <a:rPr sz="700" b="1">
                <a:solidFill>
                  <a:srgbClr val="2D0F71"/>
                </a:solidFill>
                <a:latin typeface="Aptos"/>
              </a:rPr>
              <a:t>HUNTER COLLEGE</a:t>
            </a:r>
          </a:p>
        </p:txBody>
      </p:sp>
      <p:sp>
        <p:nvSpPr>
          <p:cNvPr id="5" name="TextBox 4"/>
          <p:cNvSpPr txBox="1"/>
          <p:nvPr/>
        </p:nvSpPr>
        <p:spPr>
          <a:xfrm>
            <a:off x="5120640" y="6556248"/>
            <a:ext cx="2194560" cy="146304"/>
          </a:xfrm>
          <a:prstGeom prst="rect">
            <a:avLst/>
          </a:prstGeom>
          <a:noFill/>
          <a:ln>
            <a:noFill/>
          </a:ln>
        </p:spPr>
        <p:txBody>
          <a:bodyPr wrap="none" lIns="45720" rIns="45720" anchor="t">
            <a:spAutoFit/>
          </a:bodyPr>
          <a:lstStyle/>
          <a:p>
            <a:pPr algn="ctr"/>
            <a:r>
              <a:rPr sz="550" b="0">
                <a:solidFill>
                  <a:srgbClr val="4B4B55"/>
                </a:solidFill>
                <a:latin typeface="Aptos"/>
              </a:rPr>
              <a:t>STAT 790  |  Francesco Pecora</a:t>
            </a:r>
          </a:p>
        </p:txBody>
      </p:sp>
      <p:sp>
        <p:nvSpPr>
          <p:cNvPr id="6" name="TextBox 5"/>
          <p:cNvSpPr txBox="1"/>
          <p:nvPr/>
        </p:nvSpPr>
        <p:spPr>
          <a:xfrm>
            <a:off x="11567160" y="146304"/>
            <a:ext cx="320040" cy="182880"/>
          </a:xfrm>
          <a:prstGeom prst="rect">
            <a:avLst/>
          </a:prstGeom>
          <a:noFill/>
          <a:ln>
            <a:noFill/>
          </a:ln>
        </p:spPr>
        <p:txBody>
          <a:bodyPr wrap="none" lIns="45720" rIns="45720" anchor="t">
            <a:spAutoFit/>
          </a:bodyPr>
          <a:lstStyle/>
          <a:p>
            <a:pPr algn="r"/>
            <a:r>
              <a:rPr sz="800" b="0">
                <a:solidFill>
                  <a:srgbClr val="4B4B55"/>
                </a:solidFill>
                <a:latin typeface="Aptos"/>
              </a:rPr>
              <a:t>18</a:t>
            </a:r>
          </a:p>
        </p:txBody>
      </p:sp>
      <p:sp>
        <p:nvSpPr>
          <p:cNvPr id="7" name="Rectangle 6"/>
          <p:cNvSpPr/>
          <p:nvPr/>
        </p:nvSpPr>
        <p:spPr>
          <a:xfrm>
            <a:off x="320040" y="6473952"/>
            <a:ext cx="11475720" cy="13716"/>
          </a:xfrm>
          <a:prstGeom prst="rect">
            <a:avLst/>
          </a:prstGeom>
          <a:solidFill>
            <a:srgbClr val="2D0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411480"/>
            <a:ext cx="8961120" cy="347472"/>
          </a:xfrm>
          <a:prstGeom prst="rect">
            <a:avLst/>
          </a:prstGeom>
          <a:noFill/>
          <a:ln>
            <a:noFill/>
          </a:ln>
        </p:spPr>
        <p:txBody>
          <a:bodyPr wrap="none" lIns="45720" rIns="45720" anchor="t">
            <a:spAutoFit/>
          </a:bodyPr>
          <a:lstStyle/>
          <a:p>
            <a:pPr algn="l"/>
            <a:r>
              <a:rPr sz="2700" b="1">
                <a:solidFill>
                  <a:srgbClr val="1C1C20"/>
                </a:solidFill>
                <a:latin typeface="Aptos"/>
              </a:rPr>
              <a:t>Limitations: what needs to be improved next</a:t>
            </a:r>
          </a:p>
        </p:txBody>
      </p:sp>
      <p:sp>
        <p:nvSpPr>
          <p:cNvPr id="9" name="TextBox 8"/>
          <p:cNvSpPr txBox="1"/>
          <p:nvPr/>
        </p:nvSpPr>
        <p:spPr>
          <a:xfrm>
            <a:off x="329184" y="841248"/>
            <a:ext cx="10789920" cy="292608"/>
          </a:xfrm>
          <a:prstGeom prst="rect">
            <a:avLst/>
          </a:prstGeom>
          <a:noFill/>
          <a:ln>
            <a:noFill/>
          </a:ln>
        </p:spPr>
        <p:txBody>
          <a:bodyPr wrap="none" lIns="45720" rIns="45720" anchor="t">
            <a:spAutoFit/>
          </a:bodyPr>
          <a:lstStyle/>
          <a:p>
            <a:pPr algn="l"/>
            <a:r>
              <a:rPr sz="1220" b="0" dirty="0">
                <a:solidFill>
                  <a:srgbClr val="4B4B55"/>
                </a:solidFill>
                <a:latin typeface="Aptos"/>
              </a:rPr>
              <a:t>These do not invalidate the result; they define what data and validation would make the system production-ready.</a:t>
            </a:r>
          </a:p>
        </p:txBody>
      </p:sp>
      <p:graphicFrame>
        <p:nvGraphicFramePr>
          <p:cNvPr id="12" name="Table 11"/>
          <p:cNvGraphicFramePr>
            <a:graphicFrameLocks noGrp="1"/>
          </p:cNvGraphicFramePr>
          <p:nvPr/>
        </p:nvGraphicFramePr>
        <p:xfrm>
          <a:off x="502920" y="1542288"/>
          <a:ext cx="11064240" cy="3977639"/>
        </p:xfrm>
        <a:graphic>
          <a:graphicData uri="http://schemas.openxmlformats.org/drawingml/2006/table">
            <a:tbl>
              <a:tblPr firstRow="1" bandRow="1">
                <a:tableStyleId>{5C22544A-7EE6-4342-B048-85BDC9FD1C3A}</a:tableStyleId>
              </a:tblPr>
              <a:tblGrid>
                <a:gridCol w="27889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68234">
                <a:tc>
                  <a:txBody>
                    <a:bodyPr/>
                    <a:lstStyle/>
                    <a:p>
                      <a:pPr algn="ctr"/>
                      <a:r>
                        <a:rPr sz="1070" b="1" dirty="0">
                          <a:solidFill>
                            <a:srgbClr val="FFFFFF"/>
                          </a:solidFill>
                          <a:latin typeface="Aptos"/>
                        </a:rPr>
                        <a:t>Limitation in this project</a:t>
                      </a:r>
                    </a:p>
                  </a:txBody>
                  <a:tcPr>
                    <a:solidFill>
                      <a:srgbClr val="2D0F71"/>
                    </a:solidFill>
                  </a:tcPr>
                </a:tc>
                <a:tc>
                  <a:txBody>
                    <a:bodyPr/>
                    <a:lstStyle/>
                    <a:p>
                      <a:pPr algn="ctr"/>
                      <a:r>
                        <a:rPr sz="1070" b="1">
                          <a:solidFill>
                            <a:srgbClr val="FFFFFF"/>
                          </a:solidFill>
                          <a:latin typeface="Aptos"/>
                        </a:rPr>
                        <a:t>Why it matters</a:t>
                      </a:r>
                    </a:p>
                  </a:txBody>
                  <a:tcPr>
                    <a:solidFill>
                      <a:srgbClr val="2D0F71"/>
                    </a:solidFill>
                  </a:tcPr>
                </a:tc>
                <a:tc>
                  <a:txBody>
                    <a:bodyPr/>
                    <a:lstStyle/>
                    <a:p>
                      <a:pPr algn="ctr"/>
                      <a:r>
                        <a:rPr sz="1070" b="1">
                          <a:solidFill>
                            <a:srgbClr val="FFFFFF"/>
                          </a:solidFill>
                          <a:latin typeface="Aptos"/>
                        </a:rPr>
                        <a:t>How I would address it</a:t>
                      </a:r>
                    </a:p>
                  </a:txBody>
                  <a:tcPr>
                    <a:solidFill>
                      <a:srgbClr val="2D0F71"/>
                    </a:solidFill>
                  </a:tcPr>
                </a:tc>
                <a:extLst>
                  <a:ext uri="{0D108BD9-81ED-4DB2-BD59-A6C34878D82A}">
                    <a16:rowId xmlns:a16="http://schemas.microsoft.com/office/drawing/2014/main" val="10000"/>
                  </a:ext>
                </a:extLst>
              </a:tr>
              <a:tr h="568234">
                <a:tc>
                  <a:txBody>
                    <a:bodyPr/>
                    <a:lstStyle/>
                    <a:p>
                      <a:pPr algn="l"/>
                      <a:r>
                        <a:rPr sz="940" b="1">
                          <a:solidFill>
                            <a:srgbClr val="1C1C20"/>
                          </a:solidFill>
                          <a:latin typeface="Aptos"/>
                        </a:rPr>
                        <a:t>PotentialFraud is not conviction</a:t>
                      </a:r>
                    </a:p>
                  </a:txBody>
                  <a:tcPr>
                    <a:solidFill>
                      <a:srgbClr val="FFFFFF"/>
                    </a:solidFill>
                  </a:tcPr>
                </a:tc>
                <a:tc>
                  <a:txBody>
                    <a:bodyPr/>
                    <a:lstStyle/>
                    <a:p>
                      <a:pPr algn="l"/>
                      <a:r>
                        <a:rPr sz="940" b="0">
                          <a:solidFill>
                            <a:srgbClr val="1C1C20"/>
                          </a:solidFill>
                          <a:latin typeface="Aptos"/>
                        </a:rPr>
                        <a:t>The label is a screening flag, not final proof of fraud.</a:t>
                      </a:r>
                    </a:p>
                  </a:txBody>
                  <a:tcPr>
                    <a:solidFill>
                      <a:srgbClr val="FFFFFF"/>
                    </a:solidFill>
                  </a:tcPr>
                </a:tc>
                <a:tc>
                  <a:txBody>
                    <a:bodyPr/>
                    <a:lstStyle/>
                    <a:p>
                      <a:pPr algn="l"/>
                      <a:r>
                        <a:rPr sz="940" b="0">
                          <a:solidFill>
                            <a:srgbClr val="1C1C20"/>
                          </a:solidFill>
                          <a:latin typeface="Aptos"/>
                        </a:rPr>
                        <a:t>Validate on adjudicated investigation outcomes and recovery records.</a:t>
                      </a:r>
                    </a:p>
                  </a:txBody>
                  <a:tcPr>
                    <a:solidFill>
                      <a:srgbClr val="FFFFFF"/>
                    </a:solidFill>
                  </a:tcPr>
                </a:tc>
                <a:extLst>
                  <a:ext uri="{0D108BD9-81ED-4DB2-BD59-A6C34878D82A}">
                    <a16:rowId xmlns:a16="http://schemas.microsoft.com/office/drawing/2014/main" val="10001"/>
                  </a:ext>
                </a:extLst>
              </a:tr>
              <a:tr h="568234">
                <a:tc>
                  <a:txBody>
                    <a:bodyPr/>
                    <a:lstStyle/>
                    <a:p>
                      <a:pPr algn="l"/>
                      <a:r>
                        <a:rPr sz="940" b="1" dirty="0">
                          <a:solidFill>
                            <a:srgbClr val="1C1C20"/>
                          </a:solidFill>
                          <a:latin typeface="Aptos"/>
                        </a:rPr>
                        <a:t>One historical payer/year</a:t>
                      </a:r>
                    </a:p>
                  </a:txBody>
                  <a:tcPr>
                    <a:solidFill>
                      <a:srgbClr val="F5F6F8"/>
                    </a:solidFill>
                  </a:tcPr>
                </a:tc>
                <a:tc>
                  <a:txBody>
                    <a:bodyPr/>
                    <a:lstStyle/>
                    <a:p>
                      <a:pPr algn="l"/>
                      <a:r>
                        <a:rPr sz="940" b="0">
                          <a:solidFill>
                            <a:srgbClr val="1C1C20"/>
                          </a:solidFill>
                          <a:latin typeface="Aptos"/>
                        </a:rPr>
                        <a:t>Performance may change across time, regions, and policy rules.</a:t>
                      </a:r>
                    </a:p>
                  </a:txBody>
                  <a:tcPr>
                    <a:solidFill>
                      <a:srgbClr val="F5F6F8"/>
                    </a:solidFill>
                  </a:tcPr>
                </a:tc>
                <a:tc>
                  <a:txBody>
                    <a:bodyPr/>
                    <a:lstStyle/>
                    <a:p>
                      <a:pPr algn="l"/>
                      <a:r>
                        <a:rPr sz="940" b="0">
                          <a:solidFill>
                            <a:srgbClr val="1C1C20"/>
                          </a:solidFill>
                          <a:latin typeface="Aptos"/>
                        </a:rPr>
                        <a:t>Use newer years, other payer data, and out-of-time validation.</a:t>
                      </a:r>
                    </a:p>
                  </a:txBody>
                  <a:tcPr>
                    <a:solidFill>
                      <a:srgbClr val="F5F6F8"/>
                    </a:solidFill>
                  </a:tcPr>
                </a:tc>
                <a:extLst>
                  <a:ext uri="{0D108BD9-81ED-4DB2-BD59-A6C34878D82A}">
                    <a16:rowId xmlns:a16="http://schemas.microsoft.com/office/drawing/2014/main" val="10002"/>
                  </a:ext>
                </a:extLst>
              </a:tr>
              <a:tr h="568234">
                <a:tc>
                  <a:txBody>
                    <a:bodyPr/>
                    <a:lstStyle/>
                    <a:p>
                      <a:pPr algn="l"/>
                      <a:r>
                        <a:rPr sz="940" b="1">
                          <a:solidFill>
                            <a:srgbClr val="1C1C20"/>
                          </a:solidFill>
                          <a:latin typeface="Aptos"/>
                        </a:rPr>
                        <a:t>Provider aggregation loses detail</a:t>
                      </a:r>
                    </a:p>
                  </a:txBody>
                  <a:tcPr>
                    <a:solidFill>
                      <a:srgbClr val="FFFFFF"/>
                    </a:solidFill>
                  </a:tcPr>
                </a:tc>
                <a:tc>
                  <a:txBody>
                    <a:bodyPr/>
                    <a:lstStyle/>
                    <a:p>
                      <a:pPr algn="l"/>
                      <a:r>
                        <a:rPr sz="940" b="0" dirty="0">
                          <a:solidFill>
                            <a:srgbClr val="1C1C20"/>
                          </a:solidFill>
                          <a:latin typeface="Aptos"/>
                        </a:rPr>
                        <a:t>The model flags providers but does not identify the exact suspicious claims.</a:t>
                      </a:r>
                    </a:p>
                  </a:txBody>
                  <a:tcPr>
                    <a:solidFill>
                      <a:srgbClr val="FFFFFF"/>
                    </a:solidFill>
                  </a:tcPr>
                </a:tc>
                <a:tc>
                  <a:txBody>
                    <a:bodyPr/>
                    <a:lstStyle/>
                    <a:p>
                      <a:pPr algn="l"/>
                      <a:r>
                        <a:rPr sz="940" b="0">
                          <a:solidFill>
                            <a:srgbClr val="1C1C20"/>
                          </a:solidFill>
                          <a:latin typeface="Aptos"/>
                        </a:rPr>
                        <a:t>Add claim-level drill-down, examples, and explainability artifacts.</a:t>
                      </a:r>
                    </a:p>
                  </a:txBody>
                  <a:tcPr>
                    <a:solidFill>
                      <a:srgbClr val="FFFFFF"/>
                    </a:solidFill>
                  </a:tcPr>
                </a:tc>
                <a:extLst>
                  <a:ext uri="{0D108BD9-81ED-4DB2-BD59-A6C34878D82A}">
                    <a16:rowId xmlns:a16="http://schemas.microsoft.com/office/drawing/2014/main" val="10003"/>
                  </a:ext>
                </a:extLst>
              </a:tr>
              <a:tr h="568234">
                <a:tc>
                  <a:txBody>
                    <a:bodyPr/>
                    <a:lstStyle/>
                    <a:p>
                      <a:pPr algn="l"/>
                      <a:r>
                        <a:rPr sz="940" b="1">
                          <a:solidFill>
                            <a:srgbClr val="1C1C20"/>
                          </a:solidFill>
                          <a:latin typeface="Aptos"/>
                        </a:rPr>
                        <a:t>SMOTE cannot create new schemes</a:t>
                      </a:r>
                    </a:p>
                  </a:txBody>
                  <a:tcPr>
                    <a:solidFill>
                      <a:srgbClr val="F5F6F8"/>
                    </a:solidFill>
                  </a:tcPr>
                </a:tc>
                <a:tc>
                  <a:txBody>
                    <a:bodyPr/>
                    <a:lstStyle/>
                    <a:p>
                      <a:pPr algn="l"/>
                      <a:r>
                        <a:rPr sz="940" b="0">
                          <a:solidFill>
                            <a:srgbClr val="1C1C20"/>
                          </a:solidFill>
                          <a:latin typeface="Aptos"/>
                        </a:rPr>
                        <a:t>Supervised models learn from known fraud patterns only.</a:t>
                      </a:r>
                    </a:p>
                  </a:txBody>
                  <a:tcPr>
                    <a:solidFill>
                      <a:srgbClr val="F5F6F8"/>
                    </a:solidFill>
                  </a:tcPr>
                </a:tc>
                <a:tc>
                  <a:txBody>
                    <a:bodyPr/>
                    <a:lstStyle/>
                    <a:p>
                      <a:pPr algn="l"/>
                      <a:r>
                        <a:rPr sz="940" b="0" dirty="0">
                          <a:solidFill>
                            <a:srgbClr val="1C1C20"/>
                          </a:solidFill>
                          <a:latin typeface="Aptos"/>
                        </a:rPr>
                        <a:t>Keep unsupervised monitoring in parallel for novel behavior.</a:t>
                      </a:r>
                    </a:p>
                  </a:txBody>
                  <a:tcPr>
                    <a:solidFill>
                      <a:srgbClr val="F5F6F8"/>
                    </a:solidFill>
                  </a:tcPr>
                </a:tc>
                <a:extLst>
                  <a:ext uri="{0D108BD9-81ED-4DB2-BD59-A6C34878D82A}">
                    <a16:rowId xmlns:a16="http://schemas.microsoft.com/office/drawing/2014/main" val="10004"/>
                  </a:ext>
                </a:extLst>
              </a:tr>
              <a:tr h="568234">
                <a:tc>
                  <a:txBody>
                    <a:bodyPr/>
                    <a:lstStyle/>
                    <a:p>
                      <a:pPr algn="l"/>
                      <a:r>
                        <a:rPr sz="940" b="1">
                          <a:solidFill>
                            <a:srgbClr val="1C1C20"/>
                          </a:solidFill>
                          <a:latin typeface="Aptos"/>
                        </a:rPr>
                        <a:t>ROI is simplified</a:t>
                      </a:r>
                    </a:p>
                  </a:txBody>
                  <a:tcPr>
                    <a:solidFill>
                      <a:srgbClr val="FFFFFF"/>
                    </a:solidFill>
                  </a:tcPr>
                </a:tc>
                <a:tc>
                  <a:txBody>
                    <a:bodyPr/>
                    <a:lstStyle/>
                    <a:p>
                      <a:pPr algn="l"/>
                      <a:r>
                        <a:rPr sz="940" b="0">
                          <a:solidFill>
                            <a:srgbClr val="1C1C20"/>
                          </a:solidFill>
                          <a:latin typeface="Aptos"/>
                        </a:rPr>
                        <a:t>Recovery rate, staffing limits, and provider friction are not fully modeled.</a:t>
                      </a:r>
                    </a:p>
                  </a:txBody>
                  <a:tcPr>
                    <a:solidFill>
                      <a:srgbClr val="FFFFFF"/>
                    </a:solidFill>
                  </a:tcPr>
                </a:tc>
                <a:tc>
                  <a:txBody>
                    <a:bodyPr/>
                    <a:lstStyle/>
                    <a:p>
                      <a:pPr algn="l"/>
                      <a:r>
                        <a:rPr sz="940" b="0">
                          <a:solidFill>
                            <a:srgbClr val="1C1C20"/>
                          </a:solidFill>
                          <a:latin typeface="Aptos"/>
                        </a:rPr>
                        <a:t>Use actual collection rates, capacity constraints, and compliance costs.</a:t>
                      </a:r>
                    </a:p>
                  </a:txBody>
                  <a:tcPr>
                    <a:solidFill>
                      <a:srgbClr val="FFFFFF"/>
                    </a:solidFill>
                  </a:tcPr>
                </a:tc>
                <a:extLst>
                  <a:ext uri="{0D108BD9-81ED-4DB2-BD59-A6C34878D82A}">
                    <a16:rowId xmlns:a16="http://schemas.microsoft.com/office/drawing/2014/main" val="10005"/>
                  </a:ext>
                </a:extLst>
              </a:tr>
              <a:tr h="568235">
                <a:tc>
                  <a:txBody>
                    <a:bodyPr/>
                    <a:lstStyle/>
                    <a:p>
                      <a:pPr algn="l"/>
                      <a:r>
                        <a:rPr sz="940" b="1">
                          <a:solidFill>
                            <a:srgbClr val="1C1C20"/>
                          </a:solidFill>
                          <a:latin typeface="Aptos"/>
                        </a:rPr>
                        <a:t>Codes are compressed heavily</a:t>
                      </a:r>
                    </a:p>
                  </a:txBody>
                  <a:tcPr>
                    <a:solidFill>
                      <a:srgbClr val="F5F6F8"/>
                    </a:solidFill>
                  </a:tcPr>
                </a:tc>
                <a:tc>
                  <a:txBody>
                    <a:bodyPr/>
                    <a:lstStyle/>
                    <a:p>
                      <a:pPr algn="l"/>
                      <a:r>
                        <a:rPr sz="940" b="0" dirty="0">
                          <a:solidFill>
                            <a:srgbClr val="1C1C20"/>
                          </a:solidFill>
                          <a:latin typeface="Aptos"/>
                        </a:rPr>
                        <a:t>Diagnosis/procedure sequences may contain richer signal than summary features.</a:t>
                      </a:r>
                    </a:p>
                  </a:txBody>
                  <a:tcPr>
                    <a:solidFill>
                      <a:srgbClr val="F5F6F8"/>
                    </a:solidFill>
                  </a:tcPr>
                </a:tc>
                <a:tc>
                  <a:txBody>
                    <a:bodyPr/>
                    <a:lstStyle/>
                    <a:p>
                      <a:pPr algn="l"/>
                      <a:r>
                        <a:rPr sz="940" b="0" dirty="0">
                          <a:solidFill>
                            <a:srgbClr val="1C1C20"/>
                          </a:solidFill>
                          <a:latin typeface="Aptos"/>
                        </a:rPr>
                        <a:t>Test code embeddings, clinical groupers, and sequence-based features.</a:t>
                      </a:r>
                    </a:p>
                  </a:txBody>
                  <a:tcPr>
                    <a:solidFill>
                      <a:srgbClr val="F5F6F8"/>
                    </a:solidFill>
                  </a:tcPr>
                </a:tc>
                <a:extLst>
                  <a:ext uri="{0D108BD9-81ED-4DB2-BD59-A6C34878D82A}">
                    <a16:rowId xmlns:a16="http://schemas.microsoft.com/office/drawing/2014/main" val="10006"/>
                  </a:ext>
                </a:extLst>
              </a:tr>
            </a:tbl>
          </a:graphicData>
        </a:graphic>
      </p:graphicFrame>
      <p:sp>
        <p:nvSpPr>
          <p:cNvPr id="13" name="Rounded Rectangle 12"/>
          <p:cNvSpPr/>
          <p:nvPr/>
        </p:nvSpPr>
        <p:spPr>
          <a:xfrm>
            <a:off x="841248" y="5875020"/>
            <a:ext cx="10149840" cy="338328"/>
          </a:xfrm>
          <a:prstGeom prst="roundRect">
            <a:avLst/>
          </a:prstGeom>
          <a:solidFill>
            <a:srgbClr val="EEE9F8"/>
          </a:solidFill>
          <a:ln>
            <a:solidFill>
              <a:srgbClr val="C5B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5957316"/>
            <a:ext cx="9921240" cy="155448"/>
          </a:xfrm>
          <a:prstGeom prst="rect">
            <a:avLst/>
          </a:prstGeom>
          <a:noFill/>
          <a:ln>
            <a:noFill/>
          </a:ln>
        </p:spPr>
        <p:txBody>
          <a:bodyPr wrap="none" lIns="45720" rIns="45720" anchor="t">
            <a:spAutoFit/>
          </a:bodyPr>
          <a:lstStyle/>
          <a:p>
            <a:pPr algn="l"/>
            <a:r>
              <a:rPr sz="1050" b="1" dirty="0">
                <a:solidFill>
                  <a:srgbClr val="2D0F71"/>
                </a:solidFill>
                <a:latin typeface="Aptos"/>
              </a:rPr>
              <a:t>Better next step: validate on confirmed outcomes + richer claim-level explanations while keeping the unsupervised model for new fraud patterns.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11155680" cy="347472"/>
          </a:xfrm>
          <a:prstGeom prst="rect">
            <a:avLst/>
          </a:prstGeom>
          <a:noFill/>
          <a:ln/>
        </p:spPr>
        <p:txBody>
          <a:bodyPr wrap="square" lIns="254" tIns="254" rIns="254" bIns="254" rtlCol="0" anchor="ctr">
            <a:normAutofit lnSpcReduction="10000"/>
          </a:bodyPr>
          <a:lstStyle/>
          <a:p>
            <a:pPr marL="0" indent="0">
              <a:buNone/>
            </a:pPr>
            <a:r>
              <a:rPr lang="en-US" sz="2500" b="1" dirty="0">
                <a:solidFill>
                  <a:srgbClr val="182230"/>
                </a:solidFill>
                <a:latin typeface="Arial" pitchFamily="34" charset="0"/>
                <a:ea typeface="Arial" pitchFamily="34" charset="-122"/>
                <a:cs typeface="Arial" pitchFamily="34" charset="-120"/>
              </a:rPr>
              <a:t>Conclusion: a staged fraud-detection lifecycle</a:t>
            </a:r>
            <a:endParaRPr lang="en-US" sz="2500" dirty="0"/>
          </a:p>
        </p:txBody>
      </p:sp>
      <p:sp>
        <p:nvSpPr>
          <p:cNvPr id="3" name="Shape 1"/>
          <p:cNvSpPr/>
          <p:nvPr/>
        </p:nvSpPr>
        <p:spPr>
          <a:xfrm>
            <a:off x="502920" y="749808"/>
            <a:ext cx="1097280" cy="0"/>
          </a:xfrm>
          <a:prstGeom prst="line">
            <a:avLst/>
          </a:prstGeom>
          <a:noFill/>
          <a:ln w="38100">
            <a:solidFill>
              <a:srgbClr val="592C82"/>
            </a:solidFill>
            <a:prstDash val="solid"/>
          </a:ln>
        </p:spPr>
        <p:txBody>
          <a:bodyPr/>
          <a:lstStyle/>
          <a:p>
            <a:endParaRPr/>
          </a:p>
        </p:txBody>
      </p:sp>
      <p:sp>
        <p:nvSpPr>
          <p:cNvPr id="4" name="Text 2"/>
          <p:cNvSpPr/>
          <p:nvPr/>
        </p:nvSpPr>
        <p:spPr>
          <a:xfrm>
            <a:off x="1737360" y="813816"/>
            <a:ext cx="9875520" cy="228600"/>
          </a:xfrm>
          <a:prstGeom prst="rect">
            <a:avLst/>
          </a:prstGeom>
          <a:noFill/>
          <a:ln/>
        </p:spPr>
        <p:txBody>
          <a:bodyPr wrap="square" lIns="0" tIns="0" rIns="0" bIns="0" rtlCol="0" anchor="ctr"/>
          <a:lstStyle/>
          <a:p>
            <a:pPr marL="0" indent="0">
              <a:buNone/>
            </a:pPr>
            <a:r>
              <a:rPr lang="en-US" sz="1020" i="1" dirty="0">
                <a:solidFill>
                  <a:srgbClr val="5B6678"/>
                </a:solidFill>
              </a:rPr>
              <a:t>The right model changes as organizational knowledge accumulates.</a:t>
            </a:r>
            <a:endParaRPr lang="en-US" sz="1020" dirty="0"/>
          </a:p>
        </p:txBody>
      </p:sp>
      <p:sp>
        <p:nvSpPr>
          <p:cNvPr id="5" name="Shape 3"/>
          <p:cNvSpPr/>
          <p:nvPr/>
        </p:nvSpPr>
        <p:spPr>
          <a:xfrm>
            <a:off x="822960" y="1143000"/>
            <a:ext cx="502920" cy="502920"/>
          </a:xfrm>
          <a:prstGeom prst="ellipse">
            <a:avLst/>
          </a:prstGeom>
          <a:solidFill>
            <a:srgbClr val="592C82"/>
          </a:solidFill>
          <a:ln w="12700">
            <a:solidFill>
              <a:srgbClr val="FFFFFF"/>
            </a:solidFill>
            <a:prstDash val="solid"/>
          </a:ln>
        </p:spPr>
        <p:txBody>
          <a:bodyPr/>
          <a:lstStyle/>
          <a:p>
            <a:endParaRPr/>
          </a:p>
        </p:txBody>
      </p:sp>
      <p:sp>
        <p:nvSpPr>
          <p:cNvPr id="6" name="Text 4"/>
          <p:cNvSpPr/>
          <p:nvPr/>
        </p:nvSpPr>
        <p:spPr>
          <a:xfrm>
            <a:off x="822960" y="1261872"/>
            <a:ext cx="502920" cy="20116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508760" y="1097280"/>
            <a:ext cx="4846320" cy="274320"/>
          </a:xfrm>
          <a:prstGeom prst="rect">
            <a:avLst/>
          </a:prstGeom>
          <a:noFill/>
          <a:ln/>
        </p:spPr>
        <p:txBody>
          <a:bodyPr wrap="square" lIns="0" tIns="0" rIns="0" bIns="0" rtlCol="0" anchor="ctr"/>
          <a:lstStyle/>
          <a:p>
            <a:pPr marL="0" indent="0">
              <a:buNone/>
            </a:pPr>
            <a:r>
              <a:rPr lang="en-US" sz="1700" b="1" dirty="0">
                <a:solidFill>
                  <a:srgbClr val="182230"/>
                </a:solidFill>
              </a:rPr>
              <a:t>The data is mixed and imbalanced</a:t>
            </a:r>
            <a:endParaRPr lang="en-US" sz="1700" dirty="0"/>
          </a:p>
        </p:txBody>
      </p:sp>
      <p:sp>
        <p:nvSpPr>
          <p:cNvPr id="8" name="Text 6"/>
          <p:cNvSpPr/>
          <p:nvPr/>
        </p:nvSpPr>
        <p:spPr>
          <a:xfrm>
            <a:off x="1508760" y="1444752"/>
            <a:ext cx="9784080" cy="310896"/>
          </a:xfrm>
          <a:prstGeom prst="rect">
            <a:avLst/>
          </a:prstGeom>
          <a:noFill/>
          <a:ln/>
        </p:spPr>
        <p:txBody>
          <a:bodyPr wrap="square" lIns="0" tIns="0" rIns="0" bIns="0" rtlCol="0" anchor="ctr">
            <a:normAutofit/>
          </a:bodyPr>
          <a:lstStyle/>
          <a:p>
            <a:pPr marL="0" indent="0">
              <a:buNone/>
            </a:pPr>
            <a:r>
              <a:rPr lang="en-US" sz="1300" dirty="0">
                <a:solidFill>
                  <a:srgbClr val="5B6678"/>
                </a:solidFill>
              </a:rPr>
              <a:t>Provider-level aggregation converts messy claims into usable behavioral features.</a:t>
            </a:r>
            <a:endParaRPr lang="en-US" sz="1300" dirty="0"/>
          </a:p>
        </p:txBody>
      </p:sp>
      <p:sp>
        <p:nvSpPr>
          <p:cNvPr id="9" name="Shape 7"/>
          <p:cNvSpPr/>
          <p:nvPr/>
        </p:nvSpPr>
        <p:spPr>
          <a:xfrm>
            <a:off x="822960" y="2194560"/>
            <a:ext cx="502920" cy="502920"/>
          </a:xfrm>
          <a:prstGeom prst="ellipse">
            <a:avLst/>
          </a:prstGeom>
          <a:solidFill>
            <a:srgbClr val="1565C0"/>
          </a:solidFill>
          <a:ln w="12700">
            <a:solidFill>
              <a:srgbClr val="FFFFFF"/>
            </a:solidFill>
            <a:prstDash val="solid"/>
          </a:ln>
        </p:spPr>
        <p:txBody>
          <a:bodyPr/>
          <a:lstStyle/>
          <a:p>
            <a:endParaRPr/>
          </a:p>
        </p:txBody>
      </p:sp>
      <p:sp>
        <p:nvSpPr>
          <p:cNvPr id="10" name="Text 8"/>
          <p:cNvSpPr/>
          <p:nvPr/>
        </p:nvSpPr>
        <p:spPr>
          <a:xfrm>
            <a:off x="822960" y="2313432"/>
            <a:ext cx="502920" cy="20116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1" name="Text 9"/>
          <p:cNvSpPr/>
          <p:nvPr/>
        </p:nvSpPr>
        <p:spPr>
          <a:xfrm>
            <a:off x="1508760" y="2148840"/>
            <a:ext cx="4846320" cy="274320"/>
          </a:xfrm>
          <a:prstGeom prst="rect">
            <a:avLst/>
          </a:prstGeom>
          <a:noFill/>
          <a:ln/>
        </p:spPr>
        <p:txBody>
          <a:bodyPr wrap="square" lIns="0" tIns="0" rIns="0" bIns="0" rtlCol="0" anchor="ctr"/>
          <a:lstStyle/>
          <a:p>
            <a:pPr marL="0" indent="0">
              <a:buNone/>
            </a:pPr>
            <a:r>
              <a:rPr lang="en-US" sz="1700" b="1" dirty="0">
                <a:solidFill>
                  <a:srgbClr val="182230"/>
                </a:solidFill>
              </a:rPr>
              <a:t>Unsupervised is valuable before labels</a:t>
            </a:r>
            <a:endParaRPr lang="en-US" sz="1700" dirty="0"/>
          </a:p>
        </p:txBody>
      </p:sp>
      <p:sp>
        <p:nvSpPr>
          <p:cNvPr id="12" name="Text 10"/>
          <p:cNvSpPr/>
          <p:nvPr/>
        </p:nvSpPr>
        <p:spPr>
          <a:xfrm>
            <a:off x="1508760" y="2496312"/>
            <a:ext cx="9784080" cy="310896"/>
          </a:xfrm>
          <a:prstGeom prst="rect">
            <a:avLst/>
          </a:prstGeom>
          <a:noFill/>
          <a:ln/>
        </p:spPr>
        <p:txBody>
          <a:bodyPr wrap="square" lIns="0" tIns="0" rIns="0" bIns="0" rtlCol="0" anchor="ctr">
            <a:normAutofit/>
          </a:bodyPr>
          <a:lstStyle/>
          <a:p>
            <a:pPr marL="0" indent="0">
              <a:buNone/>
            </a:pPr>
            <a:r>
              <a:rPr lang="en-US" sz="1300" dirty="0">
                <a:solidFill>
                  <a:srgbClr val="5B6678"/>
                </a:solidFill>
              </a:rPr>
              <a:t>Autoencoder is the best cold-start model; Isolation Forest is a strong simpler alternative.</a:t>
            </a:r>
            <a:endParaRPr lang="en-US" sz="1300" dirty="0"/>
          </a:p>
        </p:txBody>
      </p:sp>
      <p:sp>
        <p:nvSpPr>
          <p:cNvPr id="13" name="Shape 11"/>
          <p:cNvSpPr/>
          <p:nvPr/>
        </p:nvSpPr>
        <p:spPr>
          <a:xfrm>
            <a:off x="822960" y="3246120"/>
            <a:ext cx="502920" cy="502920"/>
          </a:xfrm>
          <a:prstGeom prst="ellipse">
            <a:avLst/>
          </a:prstGeom>
          <a:solidFill>
            <a:srgbClr val="2E7D32"/>
          </a:solidFill>
          <a:ln w="12700">
            <a:solidFill>
              <a:srgbClr val="FFFFFF"/>
            </a:solidFill>
            <a:prstDash val="solid"/>
          </a:ln>
        </p:spPr>
        <p:txBody>
          <a:bodyPr/>
          <a:lstStyle/>
          <a:p>
            <a:endParaRPr/>
          </a:p>
        </p:txBody>
      </p:sp>
      <p:sp>
        <p:nvSpPr>
          <p:cNvPr id="14" name="Text 12"/>
          <p:cNvSpPr/>
          <p:nvPr/>
        </p:nvSpPr>
        <p:spPr>
          <a:xfrm>
            <a:off x="822960" y="3364992"/>
            <a:ext cx="502920" cy="20116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5" name="Text 13"/>
          <p:cNvSpPr/>
          <p:nvPr/>
        </p:nvSpPr>
        <p:spPr>
          <a:xfrm>
            <a:off x="1508760" y="3200400"/>
            <a:ext cx="4846320" cy="274320"/>
          </a:xfrm>
          <a:prstGeom prst="rect">
            <a:avLst/>
          </a:prstGeom>
          <a:noFill/>
          <a:ln/>
        </p:spPr>
        <p:txBody>
          <a:bodyPr wrap="square" lIns="0" tIns="0" rIns="0" bIns="0" rtlCol="0" anchor="ctr"/>
          <a:lstStyle/>
          <a:p>
            <a:pPr marL="0" indent="0">
              <a:buNone/>
            </a:pPr>
            <a:r>
              <a:rPr lang="en-US" sz="1700" b="1" dirty="0">
                <a:solidFill>
                  <a:srgbClr val="182230"/>
                </a:solidFill>
              </a:rPr>
              <a:t>Supervised models dominate once labels exist</a:t>
            </a:r>
            <a:endParaRPr lang="en-US" sz="1700" dirty="0"/>
          </a:p>
        </p:txBody>
      </p:sp>
      <p:sp>
        <p:nvSpPr>
          <p:cNvPr id="16" name="Text 14"/>
          <p:cNvSpPr/>
          <p:nvPr/>
        </p:nvSpPr>
        <p:spPr>
          <a:xfrm>
            <a:off x="1508760" y="3547872"/>
            <a:ext cx="9784080" cy="310896"/>
          </a:xfrm>
          <a:prstGeom prst="rect">
            <a:avLst/>
          </a:prstGeom>
          <a:noFill/>
          <a:ln/>
        </p:spPr>
        <p:txBody>
          <a:bodyPr wrap="square" lIns="0" tIns="0" rIns="0" bIns="0" rtlCol="0" anchor="ctr">
            <a:normAutofit/>
          </a:bodyPr>
          <a:lstStyle/>
          <a:p>
            <a:pPr marL="0" indent="0">
              <a:buNone/>
            </a:pPr>
            <a:r>
              <a:rPr lang="en-US" sz="1300" dirty="0">
                <a:solidFill>
                  <a:srgbClr val="5B6678"/>
                </a:solidFill>
              </a:rPr>
              <a:t>Logistic Regression maximizes recall; XGBoost improves precision and F1.</a:t>
            </a:r>
            <a:endParaRPr lang="en-US" sz="1300" dirty="0"/>
          </a:p>
        </p:txBody>
      </p:sp>
      <p:sp>
        <p:nvSpPr>
          <p:cNvPr id="17" name="Shape 15"/>
          <p:cNvSpPr/>
          <p:nvPr/>
        </p:nvSpPr>
        <p:spPr>
          <a:xfrm>
            <a:off x="822960" y="4297680"/>
            <a:ext cx="502920" cy="502920"/>
          </a:xfrm>
          <a:prstGeom prst="ellipse">
            <a:avLst/>
          </a:prstGeom>
          <a:solidFill>
            <a:srgbClr val="EF6C00"/>
          </a:solidFill>
          <a:ln w="12700">
            <a:solidFill>
              <a:srgbClr val="FFFFFF"/>
            </a:solidFill>
            <a:prstDash val="solid"/>
          </a:ln>
        </p:spPr>
        <p:txBody>
          <a:bodyPr/>
          <a:lstStyle/>
          <a:p>
            <a:endParaRPr/>
          </a:p>
        </p:txBody>
      </p:sp>
      <p:sp>
        <p:nvSpPr>
          <p:cNvPr id="18" name="Text 16"/>
          <p:cNvSpPr/>
          <p:nvPr/>
        </p:nvSpPr>
        <p:spPr>
          <a:xfrm>
            <a:off x="822960" y="4416552"/>
            <a:ext cx="502920" cy="20116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7"/>
          <p:cNvSpPr/>
          <p:nvPr/>
        </p:nvSpPr>
        <p:spPr>
          <a:xfrm>
            <a:off x="1508760" y="4251960"/>
            <a:ext cx="4846320" cy="274320"/>
          </a:xfrm>
          <a:prstGeom prst="rect">
            <a:avLst/>
          </a:prstGeom>
          <a:noFill/>
          <a:ln/>
        </p:spPr>
        <p:txBody>
          <a:bodyPr wrap="square" lIns="0" tIns="0" rIns="0" bIns="0" rtlCol="0" anchor="ctr"/>
          <a:lstStyle/>
          <a:p>
            <a:pPr marL="0" indent="0">
              <a:buNone/>
            </a:pPr>
            <a:r>
              <a:rPr lang="en-US" sz="1700" b="1" dirty="0">
                <a:solidFill>
                  <a:srgbClr val="182230"/>
                </a:solidFill>
              </a:rPr>
              <a:t>Deployment should be sequential</a:t>
            </a:r>
            <a:endParaRPr lang="en-US" sz="1700" dirty="0"/>
          </a:p>
        </p:txBody>
      </p:sp>
      <p:sp>
        <p:nvSpPr>
          <p:cNvPr id="20" name="Text 18"/>
          <p:cNvSpPr/>
          <p:nvPr/>
        </p:nvSpPr>
        <p:spPr>
          <a:xfrm>
            <a:off x="1508760" y="4599432"/>
            <a:ext cx="9784080" cy="310896"/>
          </a:xfrm>
          <a:prstGeom prst="rect">
            <a:avLst/>
          </a:prstGeom>
          <a:noFill/>
          <a:ln/>
        </p:spPr>
        <p:txBody>
          <a:bodyPr wrap="square" lIns="0" tIns="0" rIns="0" bIns="0" rtlCol="0" anchor="ctr">
            <a:normAutofit/>
          </a:bodyPr>
          <a:lstStyle/>
          <a:p>
            <a:pPr marL="0" indent="0">
              <a:buNone/>
            </a:pPr>
            <a:r>
              <a:rPr lang="en-US" sz="1300" dirty="0">
                <a:solidFill>
                  <a:srgbClr val="5B6678"/>
                </a:solidFill>
              </a:rPr>
              <a:t>Unsupervised → investigations → labels → supervised, with unsupervised monitoring still running.</a:t>
            </a:r>
            <a:endParaRPr lang="en-US" sz="1300" dirty="0"/>
          </a:p>
        </p:txBody>
      </p:sp>
      <p:sp>
        <p:nvSpPr>
          <p:cNvPr id="21" name="Shape 19"/>
          <p:cNvSpPr/>
          <p:nvPr/>
        </p:nvSpPr>
        <p:spPr>
          <a:xfrm>
            <a:off x="1005840" y="5532120"/>
            <a:ext cx="10241280" cy="594360"/>
          </a:xfrm>
          <a:prstGeom prst="roundRect">
            <a:avLst>
              <a:gd name="adj" fmla="val 18462"/>
            </a:avLst>
          </a:prstGeom>
          <a:solidFill>
            <a:srgbClr val="FFFFFF"/>
          </a:solidFill>
          <a:ln w="16510">
            <a:solidFill>
              <a:srgbClr val="592C82"/>
            </a:solidFill>
            <a:prstDash val="solid"/>
          </a:ln>
        </p:spPr>
        <p:txBody>
          <a:bodyPr/>
          <a:lstStyle/>
          <a:p>
            <a:endParaRPr/>
          </a:p>
        </p:txBody>
      </p:sp>
      <p:sp>
        <p:nvSpPr>
          <p:cNvPr id="22" name="Text 20"/>
          <p:cNvSpPr/>
          <p:nvPr/>
        </p:nvSpPr>
        <p:spPr>
          <a:xfrm>
            <a:off x="1115568" y="5641848"/>
            <a:ext cx="10021824" cy="374904"/>
          </a:xfrm>
          <a:prstGeom prst="rect">
            <a:avLst/>
          </a:prstGeom>
          <a:noFill/>
          <a:ln/>
        </p:spPr>
        <p:txBody>
          <a:bodyPr wrap="square" lIns="381" tIns="381" rIns="381" bIns="381" rtlCol="0" anchor="ctr">
            <a:normAutofit fontScale="92500" lnSpcReduction="20000"/>
          </a:bodyPr>
          <a:lstStyle/>
          <a:p>
            <a:pPr marL="0" indent="0">
              <a:buNone/>
            </a:pPr>
            <a:r>
              <a:rPr lang="en-US" sz="1500" b="1" dirty="0">
                <a:solidFill>
                  <a:srgbClr val="592C82"/>
                </a:solidFill>
              </a:rPr>
              <a:t>Final recommendation: do not pick a model in isolation — pick the model that matches the label maturity and investigation constraint.</a:t>
            </a:r>
            <a:endParaRPr lang="en-US" sz="1500" dirty="0"/>
          </a:p>
        </p:txBody>
      </p:sp>
      <p:sp>
        <p:nvSpPr>
          <p:cNvPr id="23" name="Shape 21"/>
          <p:cNvSpPr/>
          <p:nvPr/>
        </p:nvSpPr>
        <p:spPr>
          <a:xfrm>
            <a:off x="228600" y="6473952"/>
            <a:ext cx="164592" cy="164592"/>
          </a:xfrm>
          <a:prstGeom prst="rect">
            <a:avLst/>
          </a:prstGeom>
          <a:solidFill>
            <a:srgbClr val="592C82"/>
          </a:solidFill>
          <a:ln w="12700">
            <a:solidFill>
              <a:srgbClr val="592C82"/>
            </a:solidFill>
            <a:prstDash val="solid"/>
          </a:ln>
        </p:spPr>
        <p:txBody>
          <a:bodyPr/>
          <a:lstStyle/>
          <a:p>
            <a:endParaRPr/>
          </a:p>
        </p:txBody>
      </p:sp>
      <p:sp>
        <p:nvSpPr>
          <p:cNvPr id="24" name="Text 22"/>
          <p:cNvSpPr/>
          <p:nvPr/>
        </p:nvSpPr>
        <p:spPr>
          <a:xfrm>
            <a:off x="457200" y="6419088"/>
            <a:ext cx="7132320" cy="256032"/>
          </a:xfrm>
          <a:prstGeom prst="rect">
            <a:avLst/>
          </a:prstGeom>
          <a:noFill/>
          <a:ln/>
        </p:spPr>
        <p:txBody>
          <a:bodyPr wrap="square" lIns="0" tIns="0" rIns="0" bIns="0" rtlCol="0" anchor="ctr"/>
          <a:lstStyle/>
          <a:p>
            <a:pPr marL="0" indent="0">
              <a:buNone/>
            </a:pPr>
            <a:r>
              <a:rPr lang="en-US" sz="850" dirty="0">
                <a:solidFill>
                  <a:srgbClr val="5B6678"/>
                </a:solidFill>
                <a:latin typeface="Arial" pitchFamily="34" charset="0"/>
                <a:ea typeface="Arial" pitchFamily="34" charset="-122"/>
                <a:cs typeface="Arial" pitchFamily="34" charset="-120"/>
              </a:rPr>
              <a:t>Hunter College  |  STAT 790  |  Francesco Pecora</a:t>
            </a:r>
            <a:endParaRPr lang="en-US" sz="850" dirty="0"/>
          </a:p>
        </p:txBody>
      </p:sp>
      <p:sp>
        <p:nvSpPr>
          <p:cNvPr id="25" name="Text 23"/>
          <p:cNvSpPr/>
          <p:nvPr/>
        </p:nvSpPr>
        <p:spPr>
          <a:xfrm>
            <a:off x="11475720" y="6419088"/>
            <a:ext cx="365760" cy="256032"/>
          </a:xfrm>
          <a:prstGeom prst="rect">
            <a:avLst/>
          </a:prstGeom>
          <a:noFill/>
          <a:ln/>
        </p:spPr>
        <p:txBody>
          <a:bodyPr wrap="square" lIns="0" tIns="0" rIns="0" bIns="0" rtlCol="0" anchor="ctr"/>
          <a:lstStyle/>
          <a:p>
            <a:pPr marL="0" indent="0" algn="r">
              <a:buNone/>
            </a:pPr>
            <a:r>
              <a:rPr lang="en-US" sz="850" dirty="0">
                <a:solidFill>
                  <a:srgbClr val="5B6678"/>
                </a:solidFill>
                <a:latin typeface="Arial" pitchFamily="34" charset="0"/>
                <a:ea typeface="Arial" pitchFamily="34" charset="-122"/>
                <a:cs typeface="Arial" pitchFamily="34" charset="-120"/>
              </a:rPr>
              <a:t>15</a:t>
            </a:r>
            <a:endParaRPr lang="en-US" sz="850" dirty="0"/>
          </a:p>
        </p:txBody>
      </p:sp>
      <p:sp>
        <p:nvSpPr>
          <p:cNvPr id="26" name="Shape 24"/>
          <p:cNvSpPr/>
          <p:nvPr/>
        </p:nvSpPr>
        <p:spPr>
          <a:xfrm>
            <a:off x="228600" y="6327648"/>
            <a:ext cx="11750040" cy="0"/>
          </a:xfrm>
          <a:prstGeom prst="line">
            <a:avLst/>
          </a:prstGeom>
          <a:noFill/>
          <a:ln w="7620">
            <a:solidFill>
              <a:srgbClr val="CAD2DC"/>
            </a:solidFill>
            <a:prstDash val="solid"/>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3377</Words>
  <Application>Microsoft Macintosh PowerPoint</Application>
  <PresentationFormat>Widescreen</PresentationFormat>
  <Paragraphs>433</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Hunter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Anomaly Detection Methods for Medicare Provider Fraud</dc:title>
  <dc:subject>STAT 790 Final Project Presentation</dc:subject>
  <dc:creator>Francesco Pecora</dc:creator>
  <cp:lastModifiedBy>Pecora, Francesco</cp:lastModifiedBy>
  <cp:revision>2</cp:revision>
  <dcterms:created xsi:type="dcterms:W3CDTF">2026-05-12T20:28:54Z</dcterms:created>
  <dcterms:modified xsi:type="dcterms:W3CDTF">2026-05-12T22:25:23Z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2026-05-12T22:25:23Z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498ec0ef-1286-4ea8-b3a3-6e9e5324a220</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